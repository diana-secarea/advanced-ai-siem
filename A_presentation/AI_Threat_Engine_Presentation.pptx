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thesis is titled 'Architecture and Evaluation of a SIEM Integrating Unsupervised Anomaly Detection and Knowledge-Grounded Language Models'. In practice it is an AI Threat Engine that upgrades the open-source Wazuh SIEM with three AI layers: an unsupervised anomaly-detection ensemble, a retrieval-augmented LLM analyst, and an autonomous CVE-ingestion agent. Everything runs locally — no cloud APIs, no data leaves the machine. Headline numbers: F1 89.2%, attack recall 95.9%, 98.3% citation precision.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roadmap. First the problem with rule-based SIEMs. Then the three AI contributions in order: the machine-learning ensemble that scores every alert, the retrieval-augmented generation layer that explains and cites, and the agentic component that keeps the knowledge base current. Finally, evaluation and a live demo. The through-line: detection tells you WHAT is anomalous, RAG explains WHY, and the agent keeps the knowledge CURRENT — a closed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SIEM need AI? Four problems: alert fatigue — analysts drown in noise; rules only detect what they explicitly name; severity levels don't measure maliciousness; and the knowledge needed to respond is scattered across MITRE, Sigma, CVE feeds and internal documents. The engine addresses each: anomaly scoring prioritizes, unsupervised learning needs zero labels, and RAG unifies the knowledge.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is deliberately non-invasive. Wazuh keeps doing what it does; the engine tails alerts.json read-only. Each new alert is scored in about 12 milliseconds and the verdict flows to three consumers: the dashboard sorts by score, the chat injects the verdict into LLM context, and low-level NORMAL alerts gate threat-intel retrieval so the LLM never invents attack stories about routine logins.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stack: scikit-learn for both models — Isolation Forest and an MLPRegressor autoencoder. RAG runs on Qdrant with dual embeddings — dense sentence-transformers plus sparse BM25. The LLM is llama3.2 served by Ollama, fully local. PostgreSQL keeps the audit ledger. The key property: zero cloud dependencies — deployable in air-gapped environments with no per-token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strategy is fully unsupervised — this is the methodological core of the thesis. Raw alerts, including the attacks hiding among them, flow through feature extraction and scaling. The Isolation Forest trains with contamination='auto' on all 2,171 alerts with no label filter — it makes no assumption about the anomaly proportion. The autoencoder deliberately leaves about 30% attacks mixed in, then uses iterative trimming: train, discard the worst-reconstructed 25%, retrain, discard 15%, then a final fit on the cleaned set. Without trimming the autoencoder would learn to reconstruct attacks too. No labels at any stage — the literature calls this self-supervised one-class classification. Operationally: deploy on a network you've never seen and it learns that network's normal by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alert becomes a 16-dimensional vector. Content features like failed-login counts; temporal features like off-hours activity; network features — external source IP with CDN awareness; identity features like privileged account changes; and Wazuh metadata. The set was refined 14 times against attack simulations. A key lesson: I REMOVED the MITRE-tag-count feature because Wazuh attaches MITRE tags to benign events, which poisoned the feature. Feature engineering is iterative and empirical, not guesswork.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ensemble member: Isolation Forest. The intuition — anomalies are few and different, so random splits isolate them quickly; short isolation path = high anomaly score. I calibrate raw scores to 0-100 and set the threshold at the 90th percentile of clean scores. Why this algorithm? It needs no labels, it's extremely fast, and it's robust to noisy features. Its weakness — axis-parallel splits miss subtle feature correlations — is exactly what the second model compensates for. Note the 75-point score separation: attacks average 92, normal traffic 17.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member: an autoencoder — a bottleneck network 16-8-4-8-16 trained to reconstruct its own input. It only ever sees normal alerts (after iterative trimming), so it learns the compressed manifold of normality. When an attack arrives, reconstruction fails and the MSE spikes. The 4-neuron bottleneck is the point: it forces compression, so the network must learn correlations BETWEEN features — precisely what Isolation Forest's axis-parallel splits cannot capture. The two models fail differently, which is the whole argument for the ensemble.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ensemble combines both verdicts. Crucially, the TIER is decided by the two models' BINARY anomaly decisions, not their continuous scores — this preserves each model's calibrated threshold rather than inventing a new one in the combination layer. Both flag → CRITICAL; only the autoencoder → HIGH (the higher-precision model); only the forest → POSSIBLE, dampened ×0.65; neither → NORMAL. The displayed combined score is a weighted average, 0.45 × IF + 0.55 × AE. The ensemble itself is NOT trained — it's a deterministic fusion layer, which keeps it explainable. The security argument: to evade detection an attacker must simultaneously fool tree-based isolation AND a neural reconstruction manifold — and those evasion strategies are contradictory, so a simple attack cannot beat both. Note the honest caveat: on the current evaluation set the AE-only HIGH tier is empty, so the AE's value here is precision, not extra recall.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scores reach the rest of the system? Three paths. The dashboard receives every alert with its combined score and label, sorted worst-first. The chat pipeline injects the ML verdict directly into the LLM's context — the model literally reads 'Anomaly HIGH, 94 out of 100' next to each alert. And scores gate retrieval: for low-level NORMAL events we skip threat-intel entirely and instruct the LLM not to invent attack narratives. This anti-hallucination gating came from a real failure mode I observed.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on 2,171 alerts: precision 83.4%, recall 95.9%, F1 89.2%, false-positive rate 8%. The confusion matrix: 614 attacks caught, only 26 missed. Entire attack families are at 100% — brute force, web attacks, C2, reverse shells, rootkits. I'm transparent about the failure case: single failed PAM logins are only caught 45% of the time — a lone failed login is informationally identical to a typo. The fix is temporal aggregation features, which I discuss under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tells you WHAT is anomalous. RAG explains WHY and what to do about it. A bare LLM hallucinates — it will happily invent CVE numbers. RAG fixes this by retrieving verified knowledge first and forcing the model to answer from it with numbered citations. Grounding comes from two sources: the threat-intel knowledge base and the live alert stream — with ML verdicts attached. Uploaded runbooks are quoted verbatim with the document title, so institutional knowledge becomes part of every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base construction: every item — a MITRE technique, a Sigma rule, a KEV entry, a document chunk — becomes an 'episode' with a summary, tags and entities. Each episode is embedded TWICE: a 384-dimensional dense vector for semantic meaning, and a sparse BM25 vector for exact keywords. At query time both retrievers fetch 40 candidates each and Reciprocal Rank Fusion merges the rankings — normalized to [0,1]. Why hybrid? Security queries are bimodal: 'CVE-2021-44228' needs exact matching, while 'is someone stealing data' needs semantics. RRF gets both without tuning weights.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Postgres next to a vector DB? Different questions. Qdrant answers 'what is similar' — Postgres answers 'what happened and why'. Four structures: threat_intel mirrors every indexed item relationally; cve_decisions records every judgment the agent ever made including the LLM's reasoning; ingestion_log gives per-run traceability; and the pending_review view is the human-in-the-loop surface. The design principle: the vector index is disposable and re-buildable — Postgres is the permanent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is assembled in layers: a system prompt with the analyst persona, citation rules, and two anti-hallucination guards — never map routine events to attack techniques, and quote user documents verbatim. Then the retrieved intel block, numbered 1 to 5; then matched alerts WITH their ensemble verdicts; finally the user's question. Answers stream token-by-token over SSE, and each reply returns its sources so the UI shows evidence chips. Crucially, refusal is a feature — when there's no evidence, the model says so.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evaluation runs in two stages because retrieval and generation fail differently. Retrieval on 82 queries: hit rate 82.9%, MRR 0.695. Generation on 35 queries with an LLM judge: faithfulness 0.71, citation precision 98.3% — when the model cites source 3, source 3 really supports the claim. I report negative results too: cross-encoder reranking actually hurt domain retrieval so I removed it, and the over-refusal metric needed manual verification — the regex flagged 8 cases but human inspection confirmed zero true refusals. Metrics without validation lie.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agentic component: a scheduled agent that keeps the knowledge base current. Daily: fetch new CVEs from NVD and CISA-KEV, dedup against the ledger, add an environment boost — if the CVE touches software we actually run or matches our alert history — then ONE bounded LLM call scores relevance 0 to 10. Three bands: 7+ auto-indexes into RAG, 4-6 quarantines for human review, below 4 drops with logged reasoning. The design philosophy: agentic doesn't mean unbounded — fixed control flow, one LLM decision, every outcome auditable and reversible. If the LLM is down, CVEs route to review — fail-safe, not silent.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together. Four layers. Data sources: Wazuh alerts, CVE feeds, threat-intel corpora, user documents. AI core: feature extraction into the anomaly ensemble, the CVE agent, and the local LLM. Storage: Qdrant for similarity, Postgres for truth. Interfaces: the live dashboard and the RAG chat analyst. Notice the arrows meet in the middle — ML verdicts flow into RAG context, agent decisions flow into the knowledge base, and every automated action lands in the audit ledger. Detection, explanation and knowledge maintenance reinforce each other — that's the thesis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I'll switch to the running system. I'll go in order of impact. First a real attack — I trigger 14 attack families as actual commands and you watch them get detected and mapped live. Then I ask the AI analyst to explain one, and click a citation to see the exact source it quoted. Then the ML Engine page shows HOW that anomaly score was produced — the two models and the fusion. Finally the CVE agent runs and maintains its own knowledge base. If anything lags, that's local CPU inference — it catches 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95.9% recall, F1 89.2, 8% false positives, 75-point score separation, 82.9% RAG hit rate, 98.3% citation precision, 12-millisecond scoring, all 14 attack families detected. Every number is reproducible — the evaluation harness ships with the code. And the limitations are stated openly: single failed logins remain hard, generation faithfulness was judged by a same-family LLM, and the FP rate has headroom.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temporal window features for the last hard detection case; learned ensemble weights; an independent judge model for generation eval; query expansion for the weak retrieval categories; and the cloud deployment that's already designed. To conclude: this is a SIEM that detects without labels, explains with citations, and maintains its own knowledge — fully local, fully auditable, and reproducible end to end. Thank you.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data comes from two complementary sources. Source one: a daily collector, run by cron, that reads the live alerts file, filters by date, deduplicates with a fingerprint of timestamp, rule, agent and message, and merges daily snapshots — this teaches the model what THIS deployment's normal looks like. Source two: a WordPress security plugin on a live website under real attack for two weeks — brute force, SQL injection, XSS, scanning — giving genuine malicious patterns the local host rarely produces. Combined: 2,171 alerts for training, 1,534 benign and 637 attack, plus a held-out test set of 182. The union is the point: local data defines normal, external data supplies real attacks.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these two specifically? I evaluated the leading unsupervised methods against the constraints of SIEM alert scoring: linear-time scoring, a persistable model that can score new points without retraining, no distribution assumptions, and a native anomaly score. One-Class SVM fails on scalability — cubic training. Local Outlier Factor has no persistable model. Gaussian Mixture assumes Gaussian data, which security data isn't. DBSCAN produces no score at all. Only Isolation Forest and the autoencoder satisfy every constraint, and — critically — they fail in opposite ways, which is what makes them a genuine ensemble rather than two copies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feature set is earned, not guessed, I ran an ablation study — removing or adding one feature at a time and fully retraining, which takes under five seconds. Three features carry most of the discriminative power: privileged_account_change, worth 6.3 F1 points — remove it and new-user and promiscuous-mode attacks drop to zero detection; failed_count, the credential-attack signal; and rule_level, a severity prior. The instructive negative result: adding a semantically obvious feature — MITRE technique count — actually made things worse, plus 8.9% false positives, because Wazuh tags benign SSH logins with MITRE IDs, so the feature's distribution differs between training and production. Plausible is not the same as useful.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whole pipeline is validated. The attack-simulation framework — simulate_attack_for_wazuh.sh — executes 14 attack families as REAL commands on the host: trojanized-file signatures on /bin/passwd, kernel-rootkit hidden files in /tmp, PAM and SU authentication failures, listening-port changes, and MITRE-tagged events like T1548 sudo caching, T1078 valid accounts, T1110 password guessing, T1014 rootkit. Real Wazuh detects them, and the ensemble scores the authentic alerts — no synthetic feature vectors. Separately, populate_map.py injects alerts carrying real public source IPs, which the dashboard geolocates and plots on a dark Leaflet world map, so an analyst sees where attacks originate. Two validation paths, both converging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design choices worth defending. First, RAG over fine-tuning: knowledge updates in seconds not days, answers are traceable and cited, and documents stay local — decisive for confidential security data. Second, the embedding model: all-MiniLM-L6-v2, 384 dimensions, about 8 milliseconds on CPU — five times faster than mpnet while keeping over 90% of the quality; the SOTA models are impractical on CPU. Third, chunk size 512 tokens with 25% overlap won a systematic sweep on Recall@5 — 128 fragments a concept, 1024 dilutes the embedding. Fourth, RRF instead of a cross-encoder: the ms-marco reranker actually hurt domain retrieval because it doesn't know rule 5710 relates to SSH; RRF makes no learned judgment, it just trusts rank position from two independent retrievers. And k=5 maximizes hit rate within llama's 8K context before the lost-in-the-middle effect sets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10698480" cy="457200"/>
          </a:xfrm>
          <a:prstGeom prst="rect">
            <a:avLst/>
          </a:prstGeom>
          <a:noFill/>
        </p:spPr>
        <p:txBody>
          <a:bodyPr wrap="square">
            <a:spAutoFit/>
          </a:bodyPr>
          <a:lstStyle/>
          <a:p>
            <a:pPr algn="l">
              <a:lnSpc>
                <a:spcPct val="100000"/>
              </a:lnSpc>
            </a:pPr>
            <a:r>
              <a:rPr sz="1200" b="0">
                <a:solidFill>
                  <a:srgbClr val="9AA6C4"/>
                </a:solidFill>
                <a:latin typeface="Segoe UI"/>
              </a:rPr>
              <a:t>BUCHAREST UNIVERSITY OF ECONOMIC STUDIES · CYBERNETICS, STATISTICS &amp; ECONOMIC INFORMATICS</a:t>
            </a:r>
          </a:p>
        </p:txBody>
      </p:sp>
      <p:sp>
        <p:nvSpPr>
          <p:cNvPr id="5" name="TextBox 4"/>
          <p:cNvSpPr txBox="1"/>
          <p:nvPr/>
        </p:nvSpPr>
        <p:spPr>
          <a:xfrm>
            <a:off x="731520" y="1417320"/>
            <a:ext cx="10881360" cy="1554480"/>
          </a:xfrm>
          <a:prstGeom prst="rect">
            <a:avLst/>
          </a:prstGeom>
          <a:noFill/>
        </p:spPr>
        <p:txBody>
          <a:bodyPr wrap="square">
            <a:spAutoFit/>
          </a:bodyPr>
          <a:lstStyle/>
          <a:p>
            <a:pPr algn="l">
              <a:lnSpc>
                <a:spcPct val="105000"/>
              </a:lnSpc>
            </a:pPr>
            <a:r>
              <a:rPr sz="3000" b="1">
                <a:solidFill>
                  <a:srgbClr val="E8ECF8"/>
                </a:solidFill>
                <a:latin typeface="Segoe UI"/>
              </a:rPr>
              <a:t>Architecture and Evaluation of a SIEM Integrating</a:t>
            </a:r>
          </a:p>
          <a:p>
            <a:pPr algn="l">
              <a:lnSpc>
                <a:spcPct val="105000"/>
              </a:lnSpc>
            </a:pPr>
            <a:r>
              <a:rPr sz="3000" b="1">
                <a:solidFill>
                  <a:srgbClr val="22D3EE"/>
                </a:solidFill>
                <a:latin typeface="Segoe UI"/>
              </a:rPr>
              <a:t>Unsupervised Anomaly Detection and Knowledge-Grounded Language Models</a:t>
            </a:r>
          </a:p>
        </p:txBody>
      </p:sp>
      <p:sp>
        <p:nvSpPr>
          <p:cNvPr id="6" name="TextBox 5"/>
          <p:cNvSpPr txBox="1"/>
          <p:nvPr/>
        </p:nvSpPr>
        <p:spPr>
          <a:xfrm>
            <a:off x="731520" y="3291840"/>
            <a:ext cx="10698480" cy="548640"/>
          </a:xfrm>
          <a:prstGeom prst="rect">
            <a:avLst/>
          </a:prstGeom>
          <a:noFill/>
        </p:spPr>
        <p:txBody>
          <a:bodyPr wrap="square">
            <a:spAutoFit/>
          </a:bodyPr>
          <a:lstStyle/>
          <a:p>
            <a:pPr algn="l">
              <a:lnSpc>
                <a:spcPct val="100000"/>
              </a:lnSpc>
            </a:pPr>
            <a:r>
              <a:rPr sz="1600" b="0">
                <a:solidFill>
                  <a:srgbClr val="9AA6C4"/>
                </a:solidFill>
                <a:latin typeface="Segoe UI"/>
              </a:rPr>
              <a:t>An AI Threat Engine on Wazuh — anomaly ensemble · hybrid RAG · agentic CVE ingestion · fully local, fully auditable</a:t>
            </a:r>
          </a:p>
        </p:txBody>
      </p:sp>
      <p:sp>
        <p:nvSpPr>
          <p:cNvPr id="7" name="Oval 6"/>
          <p:cNvSpPr/>
          <p:nvPr/>
        </p:nvSpPr>
        <p:spPr>
          <a:xfrm>
            <a:off x="731520" y="4114800"/>
            <a:ext cx="877824" cy="384048"/>
          </a:xfrm>
          <a:prstGeom prst="ellipse">
            <a:avLst/>
          </a:prstGeom>
          <a:solidFill>
            <a:srgbClr val="141A30"/>
          </a:solidFill>
          <a:ln w="177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34D399"/>
                </a:solidFill>
              </a:rPr>
              <a:t>F1 89.2%</a:t>
            </a:r>
          </a:p>
        </p:txBody>
      </p:sp>
      <p:sp>
        <p:nvSpPr>
          <p:cNvPr id="8" name="Oval 7"/>
          <p:cNvSpPr/>
          <p:nvPr/>
        </p:nvSpPr>
        <p:spPr>
          <a:xfrm>
            <a:off x="1773936" y="4114800"/>
            <a:ext cx="1188720" cy="384048"/>
          </a:xfrm>
          <a:prstGeom prst="ellipse">
            <a:avLst/>
          </a:prstGeom>
          <a:solidFill>
            <a:srgbClr val="141A30"/>
          </a:solidFill>
          <a:ln w="1778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22D3EE"/>
                </a:solidFill>
              </a:rPr>
              <a:t>RECALL 95.9%</a:t>
            </a:r>
          </a:p>
        </p:txBody>
      </p:sp>
      <p:sp>
        <p:nvSpPr>
          <p:cNvPr id="9" name="Oval 8"/>
          <p:cNvSpPr/>
          <p:nvPr/>
        </p:nvSpPr>
        <p:spPr>
          <a:xfrm>
            <a:off x="3127248" y="4114800"/>
            <a:ext cx="1266444" cy="384048"/>
          </a:xfrm>
          <a:prstGeom prst="ellipse">
            <a:avLst/>
          </a:prstGeom>
          <a:solidFill>
            <a:srgbClr val="141A30"/>
          </a:solidFill>
          <a:ln w="1778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A78BFA"/>
                </a:solidFill>
              </a:rPr>
              <a:t>1,333 VECTORS</a:t>
            </a:r>
          </a:p>
        </p:txBody>
      </p:sp>
      <p:sp>
        <p:nvSpPr>
          <p:cNvPr id="10" name="Oval 9"/>
          <p:cNvSpPr/>
          <p:nvPr/>
        </p:nvSpPr>
        <p:spPr>
          <a:xfrm>
            <a:off x="4558284" y="4114800"/>
            <a:ext cx="1421892" cy="384048"/>
          </a:xfrm>
          <a:prstGeom prst="ellipse">
            <a:avLst/>
          </a:prstGeom>
          <a:solidFill>
            <a:srgbClr val="141A30"/>
          </a:solidFill>
          <a:ln w="1778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BBF24"/>
                </a:solidFill>
              </a:rPr>
              <a:t>CITATIONS 98.3%</a:t>
            </a:r>
          </a:p>
        </p:txBody>
      </p:sp>
      <p:sp>
        <p:nvSpPr>
          <p:cNvPr id="11" name="Oval 10"/>
          <p:cNvSpPr/>
          <p:nvPr/>
        </p:nvSpPr>
        <p:spPr>
          <a:xfrm>
            <a:off x="6144768" y="4114800"/>
            <a:ext cx="1033272" cy="384048"/>
          </a:xfrm>
          <a:prstGeom prst="ellipse">
            <a:avLst/>
          </a:prstGeom>
          <a:solidFill>
            <a:srgbClr val="141A30"/>
          </a:solidFill>
          <a:ln w="1778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00" b="1">
                <a:solidFill>
                  <a:srgbClr val="F472B6"/>
                </a:solidFill>
              </a:rPr>
              <a:t>100% LOCAL</a:t>
            </a:r>
          </a:p>
        </p:txBody>
      </p:sp>
      <p:sp>
        <p:nvSpPr>
          <p:cNvPr id="12" name="TextBox 11"/>
          <p:cNvSpPr txBox="1"/>
          <p:nvPr/>
        </p:nvSpPr>
        <p:spPr>
          <a:xfrm>
            <a:off x="731520" y="5532120"/>
            <a:ext cx="10698480" cy="822960"/>
          </a:xfrm>
          <a:prstGeom prst="rect">
            <a:avLst/>
          </a:prstGeom>
          <a:noFill/>
        </p:spPr>
        <p:txBody>
          <a:bodyPr wrap="square">
            <a:spAutoFit/>
          </a:bodyPr>
          <a:lstStyle/>
          <a:p>
            <a:pPr algn="l">
              <a:lnSpc>
                <a:spcPct val="100000"/>
              </a:lnSpc>
            </a:pPr>
            <a:r>
              <a:rPr sz="1500" b="1">
                <a:solidFill>
                  <a:srgbClr val="E8ECF8"/>
                </a:solidFill>
                <a:latin typeface="Segoe UI"/>
              </a:rPr>
              <a:t>Graduate: Secărea Diana Maria</a:t>
            </a:r>
          </a:p>
          <a:p>
            <a:pPr algn="l">
              <a:lnSpc>
                <a:spcPct val="100000"/>
              </a:lnSpc>
            </a:pPr>
            <a:r>
              <a:rPr sz="1500" b="0">
                <a:solidFill>
                  <a:srgbClr val="9AA6C4"/>
                </a:solidFill>
                <a:latin typeface="Segoe UI"/>
              </a:rPr>
              <a:t>Coordinator: prof. univ. dr. Cătălin Boja  ·  Bucharest 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A78BFA"/>
                </a:solidFill>
              </a:rPr>
              <a:t>02</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Roadmap — </a:t>
            </a:r>
            <a:r>
              <a:rPr sz="3200" b="1">
                <a:solidFill>
                  <a:srgbClr val="A78BFA"/>
                </a:solidFill>
                <a:latin typeface="Segoe UI"/>
              </a:rPr>
              <a:t>the loop we'll walk through</a:t>
            </a:r>
          </a:p>
          <a:p>
            <a:r>
              <a:rPr sz="1400" i="1">
                <a:solidFill>
                  <a:srgbClr val="9AA6C4"/>
                </a:solidFill>
              </a:rPr>
              <a:t>detection tells you WHAT · RAG explains WHY · the agent keeps knowledge CURRENT</a:t>
            </a:r>
          </a:p>
        </p:txBody>
      </p:sp>
      <p:sp>
        <p:nvSpPr>
          <p:cNvPr id="7" name="Oval 6"/>
          <p:cNvSpPr/>
          <p:nvPr/>
        </p:nvSpPr>
        <p:spPr>
          <a:xfrm>
            <a:off x="640080" y="1600200"/>
            <a:ext cx="10881360" cy="841248"/>
          </a:xfrm>
          <a:prstGeom prst="ellipse">
            <a:avLst/>
          </a:prstGeom>
          <a:solidFill>
            <a:srgbClr val="141A30"/>
          </a:solidFill>
          <a:ln w="1778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r>
              <a:rPr sz="2000" b="1">
                <a:solidFill>
                  <a:srgbClr val="FB7185"/>
                </a:solidFill>
                <a:latin typeface="Consolas"/>
              </a:rPr>
              <a:t>01   </a:t>
            </a:r>
            <a:r>
              <a:rPr sz="1700" b="1">
                <a:solidFill>
                  <a:srgbClr val="E8ECF8"/>
                </a:solidFill>
              </a:rPr>
              <a:t>The problem   </a:t>
            </a:r>
            <a:r>
              <a:rPr sz="1350">
                <a:solidFill>
                  <a:srgbClr val="9AA6C4"/>
                </a:solidFill>
              </a:rPr>
              <a:t>— rule-based SIEMs can't score, explain, or self-update</a:t>
            </a:r>
          </a:p>
        </p:txBody>
      </p:sp>
      <p:sp>
        <p:nvSpPr>
          <p:cNvPr id="8" name="Oval 7"/>
          <p:cNvSpPr/>
          <p:nvPr/>
        </p:nvSpPr>
        <p:spPr>
          <a:xfrm>
            <a:off x="640080" y="2532888"/>
            <a:ext cx="10881360" cy="841248"/>
          </a:xfrm>
          <a:prstGeom prst="ellipse">
            <a:avLst/>
          </a:prstGeom>
          <a:solidFill>
            <a:srgbClr val="141A30"/>
          </a:solidFill>
          <a:ln w="1778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r>
              <a:rPr sz="2000" b="1">
                <a:solidFill>
                  <a:srgbClr val="34D399"/>
                </a:solidFill>
                <a:latin typeface="Consolas"/>
              </a:rPr>
              <a:t>02   </a:t>
            </a:r>
            <a:r>
              <a:rPr sz="1700" b="1">
                <a:solidFill>
                  <a:srgbClr val="E8ECF8"/>
                </a:solidFill>
              </a:rPr>
              <a:t>Machine learning   </a:t>
            </a:r>
            <a:r>
              <a:rPr sz="1350">
                <a:solidFill>
                  <a:srgbClr val="9AA6C4"/>
                </a:solidFill>
              </a:rPr>
              <a:t>— 16 features → dual-model ensemble → tiered verdict</a:t>
            </a:r>
          </a:p>
        </p:txBody>
      </p:sp>
      <p:sp>
        <p:nvSpPr>
          <p:cNvPr id="9" name="Oval 8"/>
          <p:cNvSpPr/>
          <p:nvPr/>
        </p:nvSpPr>
        <p:spPr>
          <a:xfrm>
            <a:off x="640080" y="3465576"/>
            <a:ext cx="10881360" cy="841248"/>
          </a:xfrm>
          <a:prstGeom prst="ellipse">
            <a:avLst/>
          </a:prstGeom>
          <a:solidFill>
            <a:srgbClr val="141A30"/>
          </a:solidFill>
          <a:ln w="1778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r>
              <a:rPr sz="2000" b="1">
                <a:solidFill>
                  <a:srgbClr val="22D3EE"/>
                </a:solidFill>
                <a:latin typeface="Consolas"/>
              </a:rPr>
              <a:t>03   </a:t>
            </a:r>
            <a:r>
              <a:rPr sz="1700" b="1">
                <a:solidFill>
                  <a:srgbClr val="E8ECF8"/>
                </a:solidFill>
              </a:rPr>
              <a:t>Retrieval-augmented generation   </a:t>
            </a:r>
            <a:r>
              <a:rPr sz="1350">
                <a:solidFill>
                  <a:srgbClr val="9AA6C4"/>
                </a:solidFill>
              </a:rPr>
              <a:t>— grounded, cited explanations from a local LLM</a:t>
            </a:r>
          </a:p>
        </p:txBody>
      </p:sp>
      <p:sp>
        <p:nvSpPr>
          <p:cNvPr id="10" name="Oval 9"/>
          <p:cNvSpPr/>
          <p:nvPr/>
        </p:nvSpPr>
        <p:spPr>
          <a:xfrm>
            <a:off x="640080" y="4398264"/>
            <a:ext cx="10881360" cy="841248"/>
          </a:xfrm>
          <a:prstGeom prst="ellipse">
            <a:avLst/>
          </a:prstGeom>
          <a:solidFill>
            <a:srgbClr val="141A30"/>
          </a:solidFill>
          <a:ln w="1778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r>
              <a:rPr sz="2000" b="1">
                <a:solidFill>
                  <a:srgbClr val="FBBF24"/>
                </a:solidFill>
                <a:latin typeface="Consolas"/>
              </a:rPr>
              <a:t>04   </a:t>
            </a:r>
            <a:r>
              <a:rPr sz="1700" b="1">
                <a:solidFill>
                  <a:srgbClr val="E8ECF8"/>
                </a:solidFill>
              </a:rPr>
              <a:t>Agentic CVE ingestion   </a:t>
            </a:r>
            <a:r>
              <a:rPr sz="1350">
                <a:solidFill>
                  <a:srgbClr val="9AA6C4"/>
                </a:solidFill>
              </a:rPr>
              <a:t>— the knowledge base maintains itself</a:t>
            </a:r>
          </a:p>
        </p:txBody>
      </p:sp>
      <p:sp>
        <p:nvSpPr>
          <p:cNvPr id="11" name="Oval 10"/>
          <p:cNvSpPr/>
          <p:nvPr/>
        </p:nvSpPr>
        <p:spPr>
          <a:xfrm>
            <a:off x="640080" y="5330952"/>
            <a:ext cx="10881360" cy="841248"/>
          </a:xfrm>
          <a:prstGeom prst="ellipse">
            <a:avLst/>
          </a:prstGeom>
          <a:solidFill>
            <a:srgbClr val="141A30"/>
          </a:solidFill>
          <a:ln w="1778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lIns="228600" tIns="128016"/>
          <a:lstStyle/>
          <a:p>
            <a:pPr algn="ctr"/>
            <a:r>
              <a:rPr sz="2000" b="1">
                <a:solidFill>
                  <a:srgbClr val="F472B6"/>
                </a:solidFill>
                <a:latin typeface="Consolas"/>
              </a:rPr>
              <a:t>05   </a:t>
            </a:r>
            <a:r>
              <a:rPr sz="1700" b="1">
                <a:solidFill>
                  <a:srgbClr val="E8ECF8"/>
                </a:solidFill>
              </a:rPr>
              <a:t>Evaluation &amp; live demo   </a:t>
            </a:r>
            <a:r>
              <a:rPr sz="1350">
                <a:solidFill>
                  <a:srgbClr val="9AA6C4"/>
                </a:solidFill>
              </a:rPr>
              <a:t>— reproducible metrics + the system running</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03</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Motivation — why add </a:t>
            </a:r>
            <a:r>
              <a:rPr sz="3200" b="1">
                <a:solidFill>
                  <a:srgbClr val="22D3EE"/>
                </a:solidFill>
                <a:latin typeface="Segoe UI"/>
              </a:rPr>
              <a:t>AI to a SIEM?</a:t>
            </a:r>
          </a:p>
        </p:txBody>
      </p:sp>
      <p:sp>
        <p:nvSpPr>
          <p:cNvPr id="7" name="TextBox 6"/>
          <p:cNvSpPr txBox="1"/>
          <p:nvPr/>
        </p:nvSpPr>
        <p:spPr>
          <a:xfrm>
            <a:off x="594360" y="1371600"/>
            <a:ext cx="6400800" cy="4754880"/>
          </a:xfrm>
          <a:prstGeom prst="rect">
            <a:avLst/>
          </a:prstGeom>
          <a:noFill/>
        </p:spPr>
        <p:txBody>
          <a:bodyPr wrap="square">
            <a:spAutoFit/>
          </a:bodyPr>
          <a:lstStyle/>
          <a:p>
            <a:pPr>
              <a:lnSpc>
                <a:spcPct val="108000"/>
              </a:lnSpc>
              <a:spcAft>
                <a:spcPts val="600"/>
              </a:spcAft>
            </a:pPr>
            <a:r>
              <a:rPr sz="1600" b="1">
                <a:solidFill>
                  <a:srgbClr val="FB7185"/>
                </a:solidFill>
              </a:rPr>
              <a:t>▸ </a:t>
            </a:r>
            <a:r>
              <a:rPr sz="1600" b="1">
                <a:solidFill>
                  <a:srgbClr val="FB7185"/>
                </a:solidFill>
              </a:rPr>
              <a:t>Alert fatigue is real</a:t>
            </a:r>
            <a:r>
              <a:rPr sz="1600">
                <a:solidFill>
                  <a:srgbClr val="E8ECF8"/>
                </a:solidFill>
              </a:rPr>
              <a:t> — a single host produces thousands of alerts/day; analysts triage a fraction</a:t>
            </a:r>
          </a:p>
          <a:p>
            <a:pPr>
              <a:lnSpc>
                <a:spcPct val="108000"/>
              </a:lnSpc>
              <a:spcAft>
                <a:spcPts val="600"/>
              </a:spcAft>
            </a:pPr>
            <a:r>
              <a:rPr sz="1600" b="1">
                <a:solidFill>
                  <a:srgbClr val="FBBF24"/>
                </a:solidFill>
              </a:rPr>
              <a:t>▸ </a:t>
            </a:r>
            <a:r>
              <a:rPr sz="1600" b="1">
                <a:solidFill>
                  <a:srgbClr val="FBBF24"/>
                </a:solidFill>
              </a:rPr>
              <a:t>Rules only catch what they name</a:t>
            </a:r>
            <a:r>
              <a:rPr sz="1600">
                <a:solidFill>
                  <a:srgbClr val="E8ECF8"/>
                </a:solidFill>
              </a:rPr>
              <a:t> — signature rules miss novel behavior and low-and-slow attacks</a:t>
            </a:r>
          </a:p>
          <a:p>
            <a:pPr>
              <a:lnSpc>
                <a:spcPct val="108000"/>
              </a:lnSpc>
              <a:spcAft>
                <a:spcPts val="600"/>
              </a:spcAft>
            </a:pPr>
            <a:r>
              <a:rPr sz="1600" b="1">
                <a:solidFill>
                  <a:srgbClr val="A78BFA"/>
                </a:solidFill>
              </a:rPr>
              <a:t>▸ </a:t>
            </a:r>
            <a:r>
              <a:rPr sz="1600" b="1">
                <a:solidFill>
                  <a:srgbClr val="A78BFA"/>
                </a:solidFill>
              </a:rPr>
              <a:t>Severity ≠ maliciousness</a:t>
            </a:r>
            <a:r>
              <a:rPr sz="1600">
                <a:solidFill>
                  <a:srgbClr val="E8ECF8"/>
                </a:solidFill>
              </a:rPr>
              <a:t> — Wazuh level 5 can be routine OR the start of a brute force — context decides</a:t>
            </a:r>
          </a:p>
          <a:p>
            <a:pPr>
              <a:lnSpc>
                <a:spcPct val="108000"/>
              </a:lnSpc>
              <a:spcAft>
                <a:spcPts val="600"/>
              </a:spcAft>
            </a:pPr>
            <a:r>
              <a:rPr sz="1600" b="1">
                <a:solidFill>
                  <a:srgbClr val="22D3EE"/>
                </a:solidFill>
              </a:rPr>
              <a:t>▸ </a:t>
            </a:r>
            <a:r>
              <a:rPr sz="1600" b="1">
                <a:solidFill>
                  <a:srgbClr val="22D3EE"/>
                </a:solidFill>
              </a:rPr>
              <a:t>Knowledge is scattered</a:t>
            </a:r>
            <a:r>
              <a:rPr sz="1600">
                <a:solidFill>
                  <a:srgbClr val="E8ECF8"/>
                </a:solidFill>
              </a:rPr>
              <a:t> — MITRE, Sigma, CVEs, internal runbooks — nobody can hold it all in their head</a:t>
            </a:r>
          </a:p>
          <a:p>
            <a:pPr>
              <a:lnSpc>
                <a:spcPct val="108000"/>
              </a:lnSpc>
              <a:spcAft>
                <a:spcPts val="600"/>
              </a:spcAft>
            </a:pPr>
            <a:r>
              <a:rPr sz="1600" b="1">
                <a:solidFill>
                  <a:srgbClr val="34D399"/>
                </a:solidFill>
              </a:rPr>
              <a:t>▸ </a:t>
            </a:r>
            <a:r>
              <a:rPr sz="1600" b="1">
                <a:solidFill>
                  <a:srgbClr val="34D399"/>
                </a:solidFill>
              </a:rPr>
              <a:t>SOC expertise is expensive</a:t>
            </a:r>
            <a:r>
              <a:rPr sz="1600">
                <a:solidFill>
                  <a:srgbClr val="E8ECF8"/>
                </a:solidFill>
              </a:rPr>
              <a:t> — an explainable AI layer lets one analyst do the work of a tier-1 team</a:t>
            </a:r>
          </a:p>
        </p:txBody>
      </p:sp>
      <p:sp>
        <p:nvSpPr>
          <p:cNvPr id="8" name="Oval 7"/>
          <p:cNvSpPr/>
          <p:nvPr/>
        </p:nvSpPr>
        <p:spPr>
          <a:xfrm>
            <a:off x="7406640" y="1554480"/>
            <a:ext cx="4023360" cy="1371600"/>
          </a:xfrm>
          <a:prstGeom prst="ellipse">
            <a:avLst/>
          </a:prstGeom>
          <a:solidFill>
            <a:srgbClr val="141A30"/>
          </a:solidFill>
          <a:ln w="203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22D3EE"/>
                </a:solidFill>
              </a:rPr>
              <a:t>2,171</a:t>
            </a:r>
          </a:p>
          <a:p>
            <a:pPr algn="ctr"/>
            <a:r>
              <a:rPr sz="1100">
                <a:solidFill>
                  <a:srgbClr val="9AA6C4"/>
                </a:solidFill>
              </a:rPr>
              <a:t>ALERTS IN STUDY CORPUS</a:t>
            </a:r>
          </a:p>
        </p:txBody>
      </p:sp>
      <p:sp>
        <p:nvSpPr>
          <p:cNvPr id="9" name="Oval 8"/>
          <p:cNvSpPr/>
          <p:nvPr/>
        </p:nvSpPr>
        <p:spPr>
          <a:xfrm>
            <a:off x="7406640" y="3108960"/>
            <a:ext cx="4023360" cy="1371600"/>
          </a:xfrm>
          <a:prstGeom prst="ellipse">
            <a:avLst/>
          </a:prstGeom>
          <a:solidFill>
            <a:srgbClr val="141A30"/>
          </a:solidFill>
          <a:ln w="2032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B7185"/>
                </a:solidFill>
              </a:rPr>
              <a:t>640</a:t>
            </a:r>
          </a:p>
          <a:p>
            <a:pPr algn="ctr"/>
            <a:r>
              <a:rPr sz="1100">
                <a:solidFill>
                  <a:srgbClr val="9AA6C4"/>
                </a:solidFill>
              </a:rPr>
              <a:t>ATTACK ALERTS (14 FAMILIES)</a:t>
            </a:r>
          </a:p>
        </p:txBody>
      </p:sp>
      <p:sp>
        <p:nvSpPr>
          <p:cNvPr id="10" name="Oval 9"/>
          <p:cNvSpPr/>
          <p:nvPr/>
        </p:nvSpPr>
        <p:spPr>
          <a:xfrm>
            <a:off x="7406640" y="4663440"/>
            <a:ext cx="4023360" cy="1371600"/>
          </a:xfrm>
          <a:prstGeom prst="ellipse">
            <a:avLst/>
          </a:prstGeom>
          <a:solidFill>
            <a:srgbClr val="141A30"/>
          </a:solidFill>
          <a:ln w="203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34D399"/>
                </a:solidFill>
              </a:rPr>
              <a:t>0</a:t>
            </a:r>
          </a:p>
          <a:p>
            <a:pPr algn="ctr"/>
            <a:r>
              <a:rPr sz="1100">
                <a:solidFill>
                  <a:srgbClr val="9AA6C4"/>
                </a:solidFill>
              </a:rPr>
              <a:t>LABELS NEEDED FOR TRAINING</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BF24"/>
                </a:solidFill>
              </a:rPr>
              <a:t>04</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Integration with </a:t>
            </a:r>
            <a:r>
              <a:rPr sz="3200" b="1">
                <a:solidFill>
                  <a:srgbClr val="FBBF24"/>
                </a:solidFill>
                <a:latin typeface="Segoe UI"/>
              </a:rPr>
              <a:t>Wazuh</a:t>
            </a:r>
          </a:p>
          <a:p>
            <a:r>
              <a:rPr sz="1400" i="1">
                <a:solidFill>
                  <a:srgbClr val="9AA6C4"/>
                </a:solidFill>
              </a:rPr>
              <a:t>non-invasive: Wazuh is never modified — the engine reads alongside it</a:t>
            </a:r>
          </a:p>
        </p:txBody>
      </p:sp>
      <p:sp>
        <p:nvSpPr>
          <p:cNvPr id="7" name="TextBox 6"/>
          <p:cNvSpPr txBox="1"/>
          <p:nvPr/>
        </p:nvSpPr>
        <p:spPr>
          <a:xfrm>
            <a:off x="594360" y="1463040"/>
            <a:ext cx="11155680" cy="2468880"/>
          </a:xfrm>
          <a:prstGeom prst="rect">
            <a:avLst/>
          </a:prstGeom>
          <a:noFill/>
        </p:spPr>
        <p:txBody>
          <a:bodyPr wrap="square">
            <a:spAutoFit/>
          </a:bodyPr>
          <a:lstStyle/>
          <a:p>
            <a:pPr>
              <a:lnSpc>
                <a:spcPct val="108000"/>
              </a:lnSpc>
              <a:spcAft>
                <a:spcPts val="600"/>
              </a:spcAft>
            </a:pPr>
            <a:r>
              <a:rPr sz="1500" b="1">
                <a:solidFill>
                  <a:srgbClr val="FBBF24"/>
                </a:solidFill>
              </a:rPr>
              <a:t>▸ </a:t>
            </a:r>
            <a:r>
              <a:rPr sz="1500" b="1">
                <a:solidFill>
                  <a:srgbClr val="FBBF24"/>
                </a:solidFill>
              </a:rPr>
              <a:t>Tap point: alerts.json</a:t>
            </a:r>
            <a:r>
              <a:rPr sz="1500">
                <a:solidFill>
                  <a:srgbClr val="E8ECF8"/>
                </a:solidFill>
              </a:rPr>
              <a:t> — the engine tails /var/ossec/logs/alerts/alerts.json in real time (read-only, wazuh group)</a:t>
            </a:r>
          </a:p>
          <a:p>
            <a:pPr>
              <a:lnSpc>
                <a:spcPct val="108000"/>
              </a:lnSpc>
              <a:spcAft>
                <a:spcPts val="600"/>
              </a:spcAft>
            </a:pPr>
            <a:r>
              <a:rPr sz="1500" b="1">
                <a:solidFill>
                  <a:srgbClr val="34D399"/>
                </a:solidFill>
              </a:rPr>
              <a:t>▸ </a:t>
            </a:r>
            <a:r>
              <a:rPr sz="1500" b="1">
                <a:solidFill>
                  <a:srgbClr val="34D399"/>
                </a:solidFill>
              </a:rPr>
              <a:t>Every alert scored in ~12 ms</a:t>
            </a:r>
            <a:r>
              <a:rPr sz="1500">
                <a:solidFill>
                  <a:srgbClr val="E8ECF8"/>
                </a:solidFill>
              </a:rPr>
              <a:t> — feature extraction → ensemble → combined score + label attached to the alert</a:t>
            </a:r>
          </a:p>
          <a:p>
            <a:pPr>
              <a:lnSpc>
                <a:spcPct val="108000"/>
              </a:lnSpc>
              <a:spcAft>
                <a:spcPts val="600"/>
              </a:spcAft>
            </a:pPr>
            <a:r>
              <a:rPr sz="1500" b="1">
                <a:solidFill>
                  <a:srgbClr val="22D3EE"/>
                </a:solidFill>
              </a:rPr>
              <a:t>▸ </a:t>
            </a:r>
            <a:r>
              <a:rPr sz="1500" b="1">
                <a:solidFill>
                  <a:srgbClr val="22D3EE"/>
                </a:solidFill>
              </a:rPr>
              <a:t>Daily collector + cron</a:t>
            </a:r>
            <a:r>
              <a:rPr sz="1500">
                <a:solidFill>
                  <a:srgbClr val="E8ECF8"/>
                </a:solidFill>
              </a:rPr>
              <a:t> — collect_training_data.py snapshots alerts for continuous retraining data</a:t>
            </a:r>
          </a:p>
          <a:p>
            <a:pPr>
              <a:lnSpc>
                <a:spcPct val="108000"/>
              </a:lnSpc>
              <a:spcAft>
                <a:spcPts val="600"/>
              </a:spcAft>
            </a:pPr>
            <a:r>
              <a:rPr sz="1500" b="1">
                <a:solidFill>
                  <a:srgbClr val="A78BFA"/>
                </a:solidFill>
              </a:rPr>
              <a:t>▸ </a:t>
            </a:r>
            <a:r>
              <a:rPr sz="1500" b="1">
                <a:solidFill>
                  <a:srgbClr val="A78BFA"/>
                </a:solidFill>
              </a:rPr>
              <a:t>Flask API layer</a:t>
            </a:r>
            <a:r>
              <a:rPr sz="1500">
                <a:solidFill>
                  <a:srgbClr val="E8ECF8"/>
                </a:solidFill>
              </a:rPr>
              <a:t> — /api/alerts/scored, /api/chat, /api/knowledge/upload — dashboard and chat consume these</a:t>
            </a:r>
          </a:p>
          <a:p>
            <a:pPr>
              <a:lnSpc>
                <a:spcPct val="108000"/>
              </a:lnSpc>
              <a:spcAft>
                <a:spcPts val="600"/>
              </a:spcAft>
            </a:pPr>
            <a:r>
              <a:rPr sz="1500" b="1">
                <a:solidFill>
                  <a:srgbClr val="F472B6"/>
                </a:solidFill>
              </a:rPr>
              <a:t>▸ </a:t>
            </a:r>
            <a:r>
              <a:rPr sz="1500" b="1">
                <a:solidFill>
                  <a:srgbClr val="F472B6"/>
                </a:solidFill>
              </a:rPr>
              <a:t>Wazuh metadata becomes features</a:t>
            </a:r>
            <a:r>
              <a:rPr sz="1500">
                <a:solidFill>
                  <a:srgbClr val="E8ECF8"/>
                </a:solidFill>
              </a:rPr>
              <a:t> — rule.level, rule.id, groups, MITRE tags feed the ML — the engine builds ON Wazuh's parsing</a:t>
            </a:r>
          </a:p>
        </p:txBody>
      </p:sp>
      <p:pic>
        <p:nvPicPr>
          <p:cNvPr id="8" name="Picture 7" descr="injection.png"/>
          <p:cNvPicPr>
            <a:picLocks noChangeAspect="1"/>
          </p:cNvPicPr>
          <p:nvPr/>
        </p:nvPicPr>
        <p:blipFill>
          <a:blip r:embed="rId2"/>
          <a:stretch>
            <a:fillRect/>
          </a:stretch>
        </p:blipFill>
        <p:spPr>
          <a:xfrm>
            <a:off x="1920240" y="3794760"/>
            <a:ext cx="8412480" cy="4702629"/>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A78BFA"/>
                </a:solidFill>
              </a:rPr>
              <a:t>05</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Technology </a:t>
            </a:r>
            <a:r>
              <a:rPr sz="3200" b="1">
                <a:solidFill>
                  <a:srgbClr val="A78BFA"/>
                </a:solidFill>
                <a:latin typeface="Segoe UI"/>
              </a:rPr>
              <a:t>Stack</a:t>
            </a:r>
          </a:p>
          <a:p>
            <a:r>
              <a:rPr sz="1400" i="1">
                <a:solidFill>
                  <a:srgbClr val="9AA6C4"/>
                </a:solidFill>
              </a:rPr>
              <a:t>every component is open-source and runs on one machine</a:t>
            </a:r>
          </a:p>
        </p:txBody>
      </p:sp>
      <p:sp>
        <p:nvSpPr>
          <p:cNvPr id="7" name="Oval 6"/>
          <p:cNvSpPr/>
          <p:nvPr/>
        </p:nvSpPr>
        <p:spPr>
          <a:xfrm>
            <a:off x="548640" y="1554480"/>
            <a:ext cx="2697480" cy="4206240"/>
          </a:xfrm>
          <a:prstGeom prst="ellipse">
            <a:avLst/>
          </a:prstGeom>
          <a:solidFill>
            <a:srgbClr val="141A30"/>
          </a:solidFill>
          <a:ln w="2286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64592" tIns="182880"/>
          <a:lstStyle/>
          <a:p>
            <a:pPr algn="ctr"/>
            <a:r>
              <a:rPr sz="1500" b="1">
                <a:solidFill>
                  <a:srgbClr val="34D399"/>
                </a:solidFill>
              </a:rPr>
              <a:t>MACHINE LEARNING</a:t>
            </a:r>
          </a:p>
          <a:p>
            <a:pPr>
              <a:spcBef>
                <a:spcPts val="900"/>
              </a:spcBef>
            </a:pPr>
            <a:r>
              <a:rPr sz="1350">
                <a:solidFill>
                  <a:srgbClr val="E8ECF8"/>
                </a:solidFill>
              </a:rPr>
              <a:t>• scikit-learn (IF + MLP AE)</a:t>
            </a:r>
          </a:p>
          <a:p>
            <a:pPr>
              <a:spcBef>
                <a:spcPts val="900"/>
              </a:spcBef>
            </a:pPr>
            <a:r>
              <a:rPr sz="1350">
                <a:solidFill>
                  <a:srgbClr val="E8ECF8"/>
                </a:solidFill>
              </a:rPr>
              <a:t>• NumPy · joblib</a:t>
            </a:r>
          </a:p>
          <a:p>
            <a:pPr>
              <a:spcBef>
                <a:spcPts val="900"/>
              </a:spcBef>
            </a:pPr>
            <a:r>
              <a:rPr sz="1350">
                <a:solidFill>
                  <a:srgbClr val="E8ECF8"/>
                </a:solidFill>
              </a:rPr>
              <a:t>• StandardScaler pipeline</a:t>
            </a:r>
          </a:p>
          <a:p>
            <a:pPr>
              <a:spcBef>
                <a:spcPts val="900"/>
              </a:spcBef>
            </a:pPr>
            <a:r>
              <a:rPr sz="1350">
                <a:solidFill>
                  <a:srgbClr val="E8ECF8"/>
                </a:solidFill>
              </a:rPr>
              <a:t>• custom feature extractor</a:t>
            </a:r>
          </a:p>
        </p:txBody>
      </p:sp>
      <p:sp>
        <p:nvSpPr>
          <p:cNvPr id="8" name="Oval 7"/>
          <p:cNvSpPr/>
          <p:nvPr/>
        </p:nvSpPr>
        <p:spPr>
          <a:xfrm>
            <a:off x="3383280" y="1554480"/>
            <a:ext cx="2697480" cy="4206240"/>
          </a:xfrm>
          <a:prstGeom prst="ellipse">
            <a:avLst/>
          </a:prstGeom>
          <a:solidFill>
            <a:srgbClr val="141A30"/>
          </a:solidFill>
          <a:ln w="2286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lIns="164592" tIns="182880"/>
          <a:lstStyle/>
          <a:p>
            <a:pPr algn="ctr"/>
            <a:r>
              <a:rPr sz="1500" b="1">
                <a:solidFill>
                  <a:srgbClr val="22D3EE"/>
                </a:solidFill>
              </a:rPr>
              <a:t>RAG &amp; LLM</a:t>
            </a:r>
          </a:p>
          <a:p>
            <a:pPr>
              <a:spcBef>
                <a:spcPts val="900"/>
              </a:spcBef>
            </a:pPr>
            <a:r>
              <a:rPr sz="1350">
                <a:solidFill>
                  <a:srgbClr val="E8ECF8"/>
                </a:solidFill>
              </a:rPr>
              <a:t>• Ollama · llama3.2 (local)</a:t>
            </a:r>
          </a:p>
          <a:p>
            <a:pPr>
              <a:spcBef>
                <a:spcPts val="900"/>
              </a:spcBef>
            </a:pPr>
            <a:r>
              <a:rPr sz="1350">
                <a:solidFill>
                  <a:srgbClr val="E8ECF8"/>
                </a:solidFill>
              </a:rPr>
              <a:t>• Qdrant vector DB (Docker)</a:t>
            </a:r>
          </a:p>
          <a:p>
            <a:pPr>
              <a:spcBef>
                <a:spcPts val="900"/>
              </a:spcBef>
            </a:pPr>
            <a:r>
              <a:rPr sz="1350">
                <a:solidFill>
                  <a:srgbClr val="E8ECF8"/>
                </a:solidFill>
              </a:rPr>
              <a:t>• sentence-transformers (dense)</a:t>
            </a:r>
          </a:p>
          <a:p>
            <a:pPr>
              <a:spcBef>
                <a:spcPts val="900"/>
              </a:spcBef>
            </a:pPr>
            <a:r>
              <a:rPr sz="1350">
                <a:solidFill>
                  <a:srgbClr val="E8ECF8"/>
                </a:solidFill>
              </a:rPr>
              <a:t>• fastembed BM25 (sparse)</a:t>
            </a:r>
          </a:p>
        </p:txBody>
      </p:sp>
      <p:sp>
        <p:nvSpPr>
          <p:cNvPr id="9" name="Oval 8"/>
          <p:cNvSpPr/>
          <p:nvPr/>
        </p:nvSpPr>
        <p:spPr>
          <a:xfrm>
            <a:off x="6217920" y="1554480"/>
            <a:ext cx="2697480" cy="4206240"/>
          </a:xfrm>
          <a:prstGeom prst="ellipse">
            <a:avLst/>
          </a:prstGeom>
          <a:solidFill>
            <a:srgbClr val="141A30"/>
          </a:solidFill>
          <a:ln w="2286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64592" tIns="182880"/>
          <a:lstStyle/>
          <a:p>
            <a:pPr algn="ctr"/>
            <a:r>
              <a:rPr sz="1500" b="1">
                <a:solidFill>
                  <a:srgbClr val="FBBF24"/>
                </a:solidFill>
              </a:rPr>
              <a:t>DATA &amp; BACKEND</a:t>
            </a:r>
          </a:p>
          <a:p>
            <a:pPr>
              <a:spcBef>
                <a:spcPts val="900"/>
              </a:spcBef>
            </a:pPr>
            <a:r>
              <a:rPr sz="1350">
                <a:solidFill>
                  <a:srgbClr val="E8ECF8"/>
                </a:solidFill>
              </a:rPr>
              <a:t>• PostgreSQL (ledger/audit)</a:t>
            </a:r>
          </a:p>
          <a:p>
            <a:pPr>
              <a:spcBef>
                <a:spcPts val="900"/>
              </a:spcBef>
            </a:pPr>
            <a:r>
              <a:rPr sz="1350">
                <a:solidFill>
                  <a:srgbClr val="E8ECF8"/>
                </a:solidFill>
              </a:rPr>
              <a:t>• Flask + SSE streaming</a:t>
            </a:r>
          </a:p>
          <a:p>
            <a:pPr>
              <a:spcBef>
                <a:spcPts val="900"/>
              </a:spcBef>
            </a:pPr>
            <a:r>
              <a:rPr sz="1350">
                <a:solidFill>
                  <a:srgbClr val="E8ECF8"/>
                </a:solidFill>
              </a:rPr>
              <a:t>• Docker Compose</a:t>
            </a:r>
          </a:p>
          <a:p>
            <a:pPr>
              <a:spcBef>
                <a:spcPts val="900"/>
              </a:spcBef>
            </a:pPr>
            <a:r>
              <a:rPr sz="1350">
                <a:solidFill>
                  <a:srgbClr val="E8ECF8"/>
                </a:solidFill>
              </a:rPr>
              <a:t>• Python 3.13</a:t>
            </a:r>
          </a:p>
        </p:txBody>
      </p:sp>
      <p:sp>
        <p:nvSpPr>
          <p:cNvPr id="10" name="Oval 9"/>
          <p:cNvSpPr/>
          <p:nvPr/>
        </p:nvSpPr>
        <p:spPr>
          <a:xfrm>
            <a:off x="9052560" y="1554480"/>
            <a:ext cx="2697480" cy="4206240"/>
          </a:xfrm>
          <a:prstGeom prst="ellipse">
            <a:avLst/>
          </a:prstGeom>
          <a:solidFill>
            <a:srgbClr val="141A30"/>
          </a:solidFill>
          <a:ln w="2286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lIns="164592" tIns="182880"/>
          <a:lstStyle/>
          <a:p>
            <a:pPr algn="ctr"/>
            <a:r>
              <a:rPr sz="1500" b="1">
                <a:solidFill>
                  <a:srgbClr val="F472B6"/>
                </a:solidFill>
              </a:rPr>
              <a:t>SECURITY BASE</a:t>
            </a:r>
          </a:p>
          <a:p>
            <a:pPr>
              <a:spcBef>
                <a:spcPts val="900"/>
              </a:spcBef>
            </a:pPr>
            <a:r>
              <a:rPr sz="1350">
                <a:solidFill>
                  <a:srgbClr val="E8ECF8"/>
                </a:solidFill>
              </a:rPr>
              <a:t>• Wazuh 4.14 Manager</a:t>
            </a:r>
          </a:p>
          <a:p>
            <a:pPr>
              <a:spcBef>
                <a:spcPts val="900"/>
              </a:spcBef>
            </a:pPr>
            <a:r>
              <a:rPr sz="1350">
                <a:solidFill>
                  <a:srgbClr val="E8ECF8"/>
                </a:solidFill>
              </a:rPr>
              <a:t>• MITRE ATT&amp;CK · D3FEND</a:t>
            </a:r>
          </a:p>
          <a:p>
            <a:pPr>
              <a:spcBef>
                <a:spcPts val="900"/>
              </a:spcBef>
            </a:pPr>
            <a:r>
              <a:rPr sz="1350">
                <a:solidFill>
                  <a:srgbClr val="E8ECF8"/>
                </a:solidFill>
              </a:rPr>
              <a:t>• Sigma · CISA KEV · CIS</a:t>
            </a:r>
          </a:p>
          <a:p>
            <a:pPr>
              <a:spcBef>
                <a:spcPts val="900"/>
              </a:spcBef>
            </a:pPr>
            <a:r>
              <a:rPr sz="1350">
                <a:solidFill>
                  <a:srgbClr val="E8ECF8"/>
                </a:solidFill>
              </a:rPr>
              <a:t>• NVD / OTX feeds</a:t>
            </a:r>
          </a:p>
        </p:txBody>
      </p:sp>
      <p:sp>
        <p:nvSpPr>
          <p:cNvPr id="11" name="TextBox 10"/>
          <p:cNvSpPr txBox="1"/>
          <p:nvPr/>
        </p:nvSpPr>
        <p:spPr>
          <a:xfrm>
            <a:off x="594360" y="5989320"/>
            <a:ext cx="10972800" cy="457200"/>
          </a:xfrm>
          <a:prstGeom prst="rect">
            <a:avLst/>
          </a:prstGeom>
          <a:noFill/>
        </p:spPr>
        <p:txBody>
          <a:bodyPr wrap="square">
            <a:spAutoFit/>
          </a:bodyPr>
          <a:lstStyle/>
          <a:p>
            <a:pPr algn="l">
              <a:lnSpc>
                <a:spcPct val="100000"/>
              </a:lnSpc>
            </a:pPr>
            <a:r>
              <a:rPr sz="1400" b="0">
                <a:solidFill>
                  <a:srgbClr val="9AA6C4"/>
                </a:solidFill>
                <a:latin typeface="Segoe UI"/>
              </a:rPr>
              <a:t>Zero cloud dependencies → suitable for air-gapped SOCs, no per-token cost, GDPR-safe by construction</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2194560" cy="1463040"/>
          </a:xfrm>
          <a:prstGeom prst="rect">
            <a:avLst/>
          </a:prstGeom>
          <a:noFill/>
        </p:spPr>
        <p:txBody>
          <a:bodyPr wrap="square">
            <a:spAutoFit/>
          </a:bodyPr>
          <a:lstStyle/>
          <a:p>
            <a:pPr algn="l">
              <a:lnSpc>
                <a:spcPct val="100000"/>
              </a:lnSpc>
            </a:pPr>
            <a:r>
              <a:rPr sz="9000" b="1">
                <a:solidFill>
                  <a:srgbClr val="34D399"/>
                </a:solidFill>
                <a:latin typeface="Segoe UI"/>
              </a:rPr>
              <a:t>01</a:t>
            </a:r>
          </a:p>
        </p:txBody>
      </p:sp>
      <p:sp>
        <p:nvSpPr>
          <p:cNvPr id="6" name="TextBox 5"/>
          <p:cNvSpPr txBox="1"/>
          <p:nvPr/>
        </p:nvSpPr>
        <p:spPr>
          <a:xfrm>
            <a:off x="3108960" y="2514600"/>
            <a:ext cx="8229600" cy="2011680"/>
          </a:xfrm>
          <a:prstGeom prst="rect">
            <a:avLst/>
          </a:prstGeom>
          <a:noFill/>
        </p:spPr>
        <p:txBody>
          <a:bodyPr wrap="square">
            <a:spAutoFit/>
          </a:bodyPr>
          <a:lstStyle/>
          <a:p>
            <a:r>
              <a:rPr sz="1500">
                <a:solidFill>
                  <a:srgbClr val="9AA6C4"/>
                </a:solidFill>
                <a:latin typeface="Segoe UI"/>
              </a:rPr>
              <a:t>PART ONE · unsupervised anomaly detection</a:t>
            </a:r>
          </a:p>
          <a:p>
            <a:r>
              <a:rPr sz="4600" b="1">
                <a:solidFill>
                  <a:srgbClr val="E8ECF8"/>
                </a:solidFill>
                <a:latin typeface="Segoe UI"/>
              </a:rPr>
              <a:t>Machine Learning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07</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Training Pipeline — </a:t>
            </a:r>
            <a:r>
              <a:rPr sz="3200" b="1">
                <a:solidFill>
                  <a:srgbClr val="34D399"/>
                </a:solidFill>
                <a:latin typeface="Segoe UI"/>
              </a:rPr>
              <a:t>unsupervised by design</a:t>
            </a:r>
          </a:p>
          <a:p>
            <a:r>
              <a:rPr sz="1400" i="1">
                <a:solidFill>
                  <a:srgbClr val="9AA6C4"/>
                </a:solidFill>
              </a:rPr>
              <a:t>no human ever labels an alert; the models learn 'normal' from the environment itself</a:t>
            </a:r>
          </a:p>
        </p:txBody>
      </p:sp>
      <p:pic>
        <p:nvPicPr>
          <p:cNvPr id="7" name="Picture 6" descr="training.png"/>
          <p:cNvPicPr>
            <a:picLocks noChangeAspect="1"/>
          </p:cNvPicPr>
          <p:nvPr/>
        </p:nvPicPr>
        <p:blipFill>
          <a:blip r:embed="rId2"/>
          <a:stretch>
            <a:fillRect/>
          </a:stretch>
        </p:blipFill>
        <p:spPr>
          <a:xfrm>
            <a:off x="1371600" y="1417320"/>
            <a:ext cx="9418320" cy="5214503"/>
          </a:xfrm>
          <a:prstGeom prst="rect">
            <a:avLst/>
          </a:prstGeom>
        </p:spPr>
      </p:pic>
      <p:sp>
        <p:nvSpPr>
          <p:cNvPr id="8" name="TextBox 7"/>
          <p:cNvSpPr txBox="1"/>
          <p:nvPr/>
        </p:nvSpPr>
        <p:spPr>
          <a:xfrm>
            <a:off x="685800" y="5623560"/>
            <a:ext cx="10972800" cy="1097280"/>
          </a:xfrm>
          <a:prstGeom prst="rect">
            <a:avLst/>
          </a:prstGeom>
          <a:noFill/>
        </p:spPr>
        <p:txBody>
          <a:bodyPr wrap="square">
            <a:spAutoFit/>
          </a:bodyPr>
          <a:lstStyle/>
          <a:p>
            <a:pPr>
              <a:lnSpc>
                <a:spcPct val="108000"/>
              </a:lnSpc>
              <a:spcAft>
                <a:spcPts val="600"/>
              </a:spcAft>
            </a:pPr>
            <a:r>
              <a:rPr sz="1400" b="1">
                <a:solidFill>
                  <a:srgbClr val="34D399"/>
                </a:solidFill>
              </a:rPr>
              <a:t>▸ </a:t>
            </a:r>
            <a:r>
              <a:rPr sz="1400" b="1">
                <a:solidFill>
                  <a:srgbClr val="34D399"/>
                </a:solidFill>
              </a:rPr>
              <a:t>IF: contamination='auto'</a:t>
            </a:r>
            <a:r>
              <a:rPr sz="1400">
                <a:solidFill>
                  <a:srgbClr val="E8ECF8"/>
                </a:solidFill>
              </a:rPr>
              <a:t> — fitted on all 2,171 alerts, no label filter — makes no assumption about the anomaly proportion</a:t>
            </a:r>
          </a:p>
          <a:p>
            <a:pPr>
              <a:lnSpc>
                <a:spcPct val="108000"/>
              </a:lnSpc>
              <a:spcAft>
                <a:spcPts val="600"/>
              </a:spcAft>
            </a:pPr>
            <a:r>
              <a:rPr sz="1400" b="1">
                <a:solidFill>
                  <a:srgbClr val="A78BFA"/>
                </a:solidFill>
              </a:rPr>
              <a:t>▸ </a:t>
            </a:r>
            <a:r>
              <a:rPr sz="1400" b="1">
                <a:solidFill>
                  <a:srgbClr val="A78BFA"/>
                </a:solidFill>
              </a:rPr>
              <a:t>AE: iterative trimming ×3</a:t>
            </a:r>
            <a:r>
              <a:rPr sz="1400">
                <a:solidFill>
                  <a:srgbClr val="E8ECF8"/>
                </a:solidFill>
              </a:rPr>
              <a:t> — ~30% attacks left in on purpose; train → drop top-25% recon errors → drop 15% → final clean fit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08</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Feature Engineering — </a:t>
            </a:r>
            <a:r>
              <a:rPr sz="3200" b="1">
                <a:solidFill>
                  <a:srgbClr val="22D3EE"/>
                </a:solidFill>
                <a:latin typeface="Segoe UI"/>
              </a:rPr>
              <a:t>16 signals per alert</a:t>
            </a:r>
          </a:p>
          <a:p>
            <a:r>
              <a:rPr sz="1400" i="1">
                <a:solidFill>
                  <a:srgbClr val="9AA6C4"/>
                </a:solidFill>
              </a:rPr>
              <a:t>domain knowledge distilled into numbers: content, time, network, identity, Wazuh metadata</a:t>
            </a:r>
          </a:p>
        </p:txBody>
      </p:sp>
      <p:pic>
        <p:nvPicPr>
          <p:cNvPr id="7" name="Picture 6" descr="features.png"/>
          <p:cNvPicPr>
            <a:picLocks noChangeAspect="1"/>
          </p:cNvPicPr>
          <p:nvPr/>
        </p:nvPicPr>
        <p:blipFill>
          <a:blip r:embed="rId2"/>
          <a:stretch>
            <a:fillRect/>
          </a:stretch>
        </p:blipFill>
        <p:spPr>
          <a:xfrm>
            <a:off x="822960" y="1463040"/>
            <a:ext cx="10515600" cy="6443169"/>
          </a:xfrm>
          <a:prstGeom prst="rect">
            <a:avLst/>
          </a:prstGeom>
        </p:spPr>
      </p:pic>
      <p:sp>
        <p:nvSpPr>
          <p:cNvPr id="8" name="TextBox 7"/>
          <p:cNvSpPr txBox="1"/>
          <p:nvPr/>
        </p:nvSpPr>
        <p:spPr>
          <a:xfrm>
            <a:off x="822960" y="5943600"/>
            <a:ext cx="10789920" cy="731520"/>
          </a:xfrm>
          <a:prstGeom prst="rect">
            <a:avLst/>
          </a:prstGeom>
          <a:noFill/>
        </p:spPr>
        <p:txBody>
          <a:bodyPr wrap="square">
            <a:spAutoFit/>
          </a:bodyPr>
          <a:lstStyle/>
          <a:p>
            <a:pPr algn="l">
              <a:lnSpc>
                <a:spcPct val="100000"/>
              </a:lnSpc>
            </a:pPr>
            <a:r>
              <a:rPr sz="1300" b="0">
                <a:solidFill>
                  <a:srgbClr val="9AA6C4"/>
                </a:solidFill>
                <a:latin typeface="Segoe UI"/>
              </a:rPr>
              <a:t>Iterated 14× against real attack simulations — e.g. MITRE-tag count was REMOVED after it caused false alarms (Wazuh tags benign SSH logins with T1078), and Cloudflare CDN ranges are excluded from the external-IP flag.</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09</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Algorithm 1 — </a:t>
            </a:r>
            <a:r>
              <a:rPr sz="3200" b="1">
                <a:solidFill>
                  <a:srgbClr val="34D399"/>
                </a:solidFill>
                <a:latin typeface="Segoe UI"/>
              </a:rPr>
              <a:t>Isolation Forest</a:t>
            </a:r>
          </a:p>
        </p:txBody>
      </p:sp>
      <p:sp>
        <p:nvSpPr>
          <p:cNvPr id="7" name="TextBox 6"/>
          <p:cNvSpPr txBox="1"/>
          <p:nvPr/>
        </p:nvSpPr>
        <p:spPr>
          <a:xfrm>
            <a:off x="594360" y="1417320"/>
            <a:ext cx="6035040" cy="4206240"/>
          </a:xfrm>
          <a:prstGeom prst="rect">
            <a:avLst/>
          </a:prstGeom>
          <a:noFill/>
        </p:spPr>
        <p:txBody>
          <a:bodyPr wrap="square">
            <a:spAutoFit/>
          </a:bodyPr>
          <a:lstStyle/>
          <a:p>
            <a:pPr>
              <a:lnSpc>
                <a:spcPct val="108000"/>
              </a:lnSpc>
              <a:spcAft>
                <a:spcPts val="600"/>
              </a:spcAft>
            </a:pPr>
            <a:r>
              <a:rPr sz="1500" b="1">
                <a:solidFill>
                  <a:srgbClr val="34D399"/>
                </a:solidFill>
              </a:rPr>
              <a:t>▸ </a:t>
            </a:r>
            <a:r>
              <a:rPr sz="1500" b="1">
                <a:solidFill>
                  <a:srgbClr val="34D399"/>
                </a:solidFill>
              </a:rPr>
              <a:t>Core idea</a:t>
            </a:r>
            <a:r>
              <a:rPr sz="1500">
                <a:solidFill>
                  <a:srgbClr val="E8ECF8"/>
                </a:solidFill>
              </a:rPr>
              <a:t> — anomalies are FEW and DIFFERENT → random splits isolate them in short paths</a:t>
            </a:r>
          </a:p>
          <a:p>
            <a:pPr>
              <a:lnSpc>
                <a:spcPct val="108000"/>
              </a:lnSpc>
              <a:spcAft>
                <a:spcPts val="600"/>
              </a:spcAft>
            </a:pPr>
            <a:r>
              <a:rPr sz="1500" b="1">
                <a:solidFill>
                  <a:srgbClr val="22D3EE"/>
                </a:solidFill>
              </a:rPr>
              <a:t>▸ </a:t>
            </a:r>
            <a:r>
              <a:rPr sz="1500" b="1">
                <a:solidFill>
                  <a:srgbClr val="22D3EE"/>
                </a:solidFill>
              </a:rPr>
              <a:t>Score</a:t>
            </a:r>
            <a:r>
              <a:rPr sz="1500">
                <a:solidFill>
                  <a:srgbClr val="E8ECF8"/>
                </a:solidFill>
              </a:rPr>
              <a:t> — path length → anomaly score, calibrated min-max → 0-100 scale</a:t>
            </a:r>
          </a:p>
          <a:p>
            <a:pPr>
              <a:lnSpc>
                <a:spcPct val="108000"/>
              </a:lnSpc>
              <a:spcAft>
                <a:spcPts val="600"/>
              </a:spcAft>
            </a:pPr>
            <a:r>
              <a:rPr sz="1500" b="1">
                <a:solidFill>
                  <a:srgbClr val="FBBF24"/>
                </a:solidFill>
              </a:rPr>
              <a:t>▸ </a:t>
            </a:r>
            <a:r>
              <a:rPr sz="1500" b="1">
                <a:solidFill>
                  <a:srgbClr val="FBBF24"/>
                </a:solidFill>
              </a:rPr>
              <a:t>Threshold</a:t>
            </a:r>
            <a:r>
              <a:rPr sz="1500">
                <a:solidFill>
                  <a:srgbClr val="E8ECF8"/>
                </a:solidFill>
              </a:rPr>
              <a:t> — 50 = 90th percentile of clean scores (score-based, not model.predict)</a:t>
            </a:r>
          </a:p>
          <a:p>
            <a:pPr>
              <a:lnSpc>
                <a:spcPct val="108000"/>
              </a:lnSpc>
              <a:spcAft>
                <a:spcPts val="600"/>
              </a:spcAft>
            </a:pPr>
            <a:r>
              <a:rPr sz="1500" b="1">
                <a:solidFill>
                  <a:srgbClr val="A78BFA"/>
                </a:solidFill>
              </a:rPr>
              <a:t>▸ </a:t>
            </a:r>
            <a:r>
              <a:rPr sz="1500" b="1">
                <a:solidFill>
                  <a:srgbClr val="A78BFA"/>
                </a:solidFill>
              </a:rPr>
              <a:t>Why chosen</a:t>
            </a:r>
            <a:r>
              <a:rPr sz="1500">
                <a:solidFill>
                  <a:srgbClr val="E8ECF8"/>
                </a:solidFill>
              </a:rPr>
              <a:t> — no labels needed · handles mixed feature scales · fast (µs/alert) · robust to irrelevant features</a:t>
            </a:r>
          </a:p>
          <a:p>
            <a:pPr>
              <a:lnSpc>
                <a:spcPct val="108000"/>
              </a:lnSpc>
              <a:spcAft>
                <a:spcPts val="600"/>
              </a:spcAft>
            </a:pPr>
            <a:r>
              <a:rPr sz="1500" b="1">
                <a:solidFill>
                  <a:srgbClr val="FB7185"/>
                </a:solidFill>
              </a:rPr>
              <a:t>▸ </a:t>
            </a:r>
            <a:r>
              <a:rPr sz="1500" b="1">
                <a:solidFill>
                  <a:srgbClr val="FB7185"/>
                </a:solidFill>
              </a:rPr>
              <a:t>Weakness</a:t>
            </a:r>
            <a:r>
              <a:rPr sz="1500">
                <a:solidFill>
                  <a:srgbClr val="E8ECF8"/>
                </a:solidFill>
              </a:rPr>
              <a:t> — axis-parallel splits miss subtle multivariate correlations → that's what the AE covers</a:t>
            </a:r>
          </a:p>
        </p:txBody>
      </p:sp>
      <p:pic>
        <p:nvPicPr>
          <p:cNvPr id="8" name="Picture 7" descr="separation.png"/>
          <p:cNvPicPr>
            <a:picLocks noChangeAspect="1"/>
          </p:cNvPicPr>
          <p:nvPr/>
        </p:nvPicPr>
        <p:blipFill>
          <a:blip r:embed="rId2"/>
          <a:stretch>
            <a:fillRect/>
          </a:stretch>
        </p:blipFill>
        <p:spPr>
          <a:xfrm>
            <a:off x="6720840" y="1737360"/>
            <a:ext cx="5120640" cy="3189992"/>
          </a:xfrm>
          <a:prstGeom prst="rect">
            <a:avLst/>
          </a:prstGeom>
        </p:spPr>
      </p:pic>
      <p:sp>
        <p:nvSpPr>
          <p:cNvPr id="9" name="TextBox 8"/>
          <p:cNvSpPr txBox="1"/>
          <p:nvPr/>
        </p:nvSpPr>
        <p:spPr>
          <a:xfrm>
            <a:off x="6720840" y="5394960"/>
            <a:ext cx="5120640" cy="822960"/>
          </a:xfrm>
          <a:prstGeom prst="rect">
            <a:avLst/>
          </a:prstGeom>
          <a:noFill/>
        </p:spPr>
        <p:txBody>
          <a:bodyPr wrap="square">
            <a:spAutoFit/>
          </a:bodyPr>
          <a:lstStyle/>
          <a:p>
            <a:pPr algn="l">
              <a:lnSpc>
                <a:spcPct val="100000"/>
              </a:lnSpc>
            </a:pPr>
            <a:r>
              <a:rPr sz="1300" b="0">
                <a:solidFill>
                  <a:srgbClr val="9AA6C4"/>
                </a:solidFill>
                <a:latin typeface="Segoe UI"/>
              </a:rPr>
              <a:t>75.1-point separation between attack (92.4) and clean (17.3) average scores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A78BFA"/>
                </a:solidFill>
              </a:rPr>
              <a:t>10</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Algorithm 2 — </a:t>
            </a:r>
            <a:r>
              <a:rPr sz="3200" b="1">
                <a:solidFill>
                  <a:srgbClr val="A78BFA"/>
                </a:solidFill>
                <a:latin typeface="Segoe UI"/>
              </a:rPr>
              <a:t>Autoencoder</a:t>
            </a:r>
          </a:p>
        </p:txBody>
      </p:sp>
      <p:sp>
        <p:nvSpPr>
          <p:cNvPr id="7" name="TextBox 6"/>
          <p:cNvSpPr txBox="1"/>
          <p:nvPr/>
        </p:nvSpPr>
        <p:spPr>
          <a:xfrm>
            <a:off x="594360" y="1417320"/>
            <a:ext cx="6309360" cy="4389120"/>
          </a:xfrm>
          <a:prstGeom prst="rect">
            <a:avLst/>
          </a:prstGeom>
          <a:noFill/>
        </p:spPr>
        <p:txBody>
          <a:bodyPr wrap="square">
            <a:spAutoFit/>
          </a:bodyPr>
          <a:lstStyle/>
          <a:p>
            <a:pPr>
              <a:lnSpc>
                <a:spcPct val="108000"/>
              </a:lnSpc>
              <a:spcAft>
                <a:spcPts val="600"/>
              </a:spcAft>
            </a:pPr>
            <a:r>
              <a:rPr sz="1500" b="1">
                <a:solidFill>
                  <a:srgbClr val="A78BFA"/>
                </a:solidFill>
              </a:rPr>
              <a:t>▸ </a:t>
            </a:r>
            <a:r>
              <a:rPr sz="1500" b="1">
                <a:solidFill>
                  <a:srgbClr val="A78BFA"/>
                </a:solidFill>
              </a:rPr>
              <a:t>Architecture</a:t>
            </a:r>
            <a:r>
              <a:rPr sz="1500">
                <a:solidFill>
                  <a:srgbClr val="E8ECF8"/>
                </a:solidFill>
              </a:rPr>
              <a:t> — 16 → 8 → 4 → 8 → 16 bottleneck MLP (sklearn MLPRegressor)</a:t>
            </a:r>
          </a:p>
          <a:p>
            <a:pPr>
              <a:lnSpc>
                <a:spcPct val="108000"/>
              </a:lnSpc>
              <a:spcAft>
                <a:spcPts val="600"/>
              </a:spcAft>
            </a:pPr>
            <a:r>
              <a:rPr sz="1500" b="1">
                <a:solidFill>
                  <a:srgbClr val="22D3EE"/>
                </a:solidFill>
              </a:rPr>
              <a:t>▸ </a:t>
            </a:r>
            <a:r>
              <a:rPr sz="1500" b="1">
                <a:solidFill>
                  <a:srgbClr val="22D3EE"/>
                </a:solidFill>
              </a:rPr>
              <a:t>Core idea</a:t>
            </a:r>
            <a:r>
              <a:rPr sz="1500">
                <a:solidFill>
                  <a:srgbClr val="E8ECF8"/>
                </a:solidFill>
              </a:rPr>
              <a:t> — trained to reconstruct NORMAL alerts; attacks reconstruct badly → high MSE = anomaly</a:t>
            </a:r>
          </a:p>
          <a:p>
            <a:pPr>
              <a:lnSpc>
                <a:spcPct val="108000"/>
              </a:lnSpc>
              <a:spcAft>
                <a:spcPts val="600"/>
              </a:spcAft>
            </a:pPr>
            <a:r>
              <a:rPr sz="1500" b="1">
                <a:solidFill>
                  <a:srgbClr val="F472B6"/>
                </a:solidFill>
              </a:rPr>
              <a:t>▸ </a:t>
            </a:r>
            <a:r>
              <a:rPr sz="1500" b="1">
                <a:solidFill>
                  <a:srgbClr val="F472B6"/>
                </a:solidFill>
              </a:rPr>
              <a:t>The 4-dim bottleneck</a:t>
            </a:r>
            <a:r>
              <a:rPr sz="1500">
                <a:solidFill>
                  <a:srgbClr val="E8ECF8"/>
                </a:solidFill>
              </a:rPr>
              <a:t> — forces the net to learn the compressed manifold of normal behavior</a:t>
            </a:r>
          </a:p>
          <a:p>
            <a:pPr>
              <a:lnSpc>
                <a:spcPct val="108000"/>
              </a:lnSpc>
              <a:spcAft>
                <a:spcPts val="600"/>
              </a:spcAft>
            </a:pPr>
            <a:r>
              <a:rPr sz="1500" b="1">
                <a:solidFill>
                  <a:srgbClr val="34D399"/>
                </a:solidFill>
              </a:rPr>
              <a:t>▸ </a:t>
            </a:r>
            <a:r>
              <a:rPr sz="1500" b="1">
                <a:solidFill>
                  <a:srgbClr val="34D399"/>
                </a:solidFill>
              </a:rPr>
              <a:t>Why chosen</a:t>
            </a:r>
            <a:r>
              <a:rPr sz="1500">
                <a:solidFill>
                  <a:srgbClr val="E8ECF8"/>
                </a:solidFill>
              </a:rPr>
              <a:t> — captures nonlinear feature CORRELATIONS the forest can't · complementary error profile</a:t>
            </a:r>
          </a:p>
          <a:p>
            <a:pPr>
              <a:lnSpc>
                <a:spcPct val="108000"/>
              </a:lnSpc>
              <a:spcAft>
                <a:spcPts val="600"/>
              </a:spcAft>
            </a:pPr>
            <a:r>
              <a:rPr sz="1500" b="1">
                <a:solidFill>
                  <a:srgbClr val="FBBF24"/>
                </a:solidFill>
              </a:rPr>
              <a:t>▸ </a:t>
            </a:r>
            <a:r>
              <a:rPr sz="1500" b="1">
                <a:solidFill>
                  <a:srgbClr val="FBBF24"/>
                </a:solidFill>
              </a:rPr>
              <a:t>Training</a:t>
            </a:r>
            <a:r>
              <a:rPr sz="1500">
                <a:solidFill>
                  <a:srgbClr val="E8ECF8"/>
                </a:solidFill>
              </a:rPr>
              <a:t> — self-supervised — the input is its own target; iterative trimming purifies the data</a:t>
            </a:r>
          </a:p>
        </p:txBody>
      </p:sp>
      <p:sp>
        <p:nvSpPr>
          <p:cNvPr id="8" name="Oval 7"/>
          <p:cNvSpPr/>
          <p:nvPr/>
        </p:nvSpPr>
        <p:spPr>
          <a:xfrm>
            <a:off x="7223760" y="2377440"/>
            <a:ext cx="566928" cy="2377440"/>
          </a:xfrm>
          <a:prstGeom prst="ellipse">
            <a:avLst/>
          </a:prstGeom>
          <a:solidFill>
            <a:srgbClr val="141A3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A78BFA"/>
                </a:solidFill>
              </a:rPr>
              <a:t>16</a:t>
            </a:r>
          </a:p>
        </p:txBody>
      </p:sp>
      <p:sp>
        <p:nvSpPr>
          <p:cNvPr id="9" name="Oval 8"/>
          <p:cNvSpPr/>
          <p:nvPr/>
        </p:nvSpPr>
        <p:spPr>
          <a:xfrm>
            <a:off x="8138160" y="2788920"/>
            <a:ext cx="566928" cy="1554480"/>
          </a:xfrm>
          <a:prstGeom prst="ellipse">
            <a:avLst/>
          </a:prstGeom>
          <a:solidFill>
            <a:srgbClr val="141A3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A78BFA"/>
                </a:solidFill>
              </a:rPr>
              <a:t>8</a:t>
            </a:r>
          </a:p>
        </p:txBody>
      </p:sp>
      <p:sp>
        <p:nvSpPr>
          <p:cNvPr id="10" name="Oval 9"/>
          <p:cNvSpPr/>
          <p:nvPr/>
        </p:nvSpPr>
        <p:spPr>
          <a:xfrm>
            <a:off x="8961120" y="3108960"/>
            <a:ext cx="566928" cy="914400"/>
          </a:xfrm>
          <a:prstGeom prst="ellipse">
            <a:avLst/>
          </a:prstGeom>
          <a:solidFill>
            <a:srgbClr val="141A30"/>
          </a:solidFill>
          <a:ln w="254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472B6"/>
                </a:solidFill>
              </a:rPr>
              <a:t>4</a:t>
            </a:r>
          </a:p>
        </p:txBody>
      </p:sp>
      <p:sp>
        <p:nvSpPr>
          <p:cNvPr id="11" name="Oval 10"/>
          <p:cNvSpPr/>
          <p:nvPr/>
        </p:nvSpPr>
        <p:spPr>
          <a:xfrm>
            <a:off x="9784080" y="2788920"/>
            <a:ext cx="566928" cy="1554480"/>
          </a:xfrm>
          <a:prstGeom prst="ellipse">
            <a:avLst/>
          </a:prstGeom>
          <a:solidFill>
            <a:srgbClr val="141A3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A78BFA"/>
                </a:solidFill>
              </a:rPr>
              <a:t>8</a:t>
            </a:r>
          </a:p>
        </p:txBody>
      </p:sp>
      <p:sp>
        <p:nvSpPr>
          <p:cNvPr id="12" name="Oval 11"/>
          <p:cNvSpPr/>
          <p:nvPr/>
        </p:nvSpPr>
        <p:spPr>
          <a:xfrm>
            <a:off x="10698480" y="2377440"/>
            <a:ext cx="566928" cy="2377440"/>
          </a:xfrm>
          <a:prstGeom prst="ellipse">
            <a:avLst/>
          </a:prstGeom>
          <a:solidFill>
            <a:srgbClr val="141A30"/>
          </a:solidFill>
          <a:ln w="254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A78BFA"/>
                </a:solidFill>
              </a:rPr>
              <a:t>16</a:t>
            </a:r>
          </a:p>
        </p:txBody>
      </p:sp>
      <p:sp>
        <p:nvSpPr>
          <p:cNvPr id="13" name="TextBox 12"/>
          <p:cNvSpPr txBox="1"/>
          <p:nvPr/>
        </p:nvSpPr>
        <p:spPr>
          <a:xfrm>
            <a:off x="7223760" y="5120640"/>
            <a:ext cx="4206240" cy="457200"/>
          </a:xfrm>
          <a:prstGeom prst="rect">
            <a:avLst/>
          </a:prstGeom>
          <a:noFill/>
        </p:spPr>
        <p:txBody>
          <a:bodyPr wrap="square">
            <a:spAutoFit/>
          </a:bodyPr>
          <a:lstStyle/>
          <a:p>
            <a:pPr algn="ctr">
              <a:lnSpc>
                <a:spcPct val="100000"/>
              </a:lnSpc>
            </a:pPr>
            <a:r>
              <a:rPr sz="1300" b="0">
                <a:solidFill>
                  <a:srgbClr val="9AA6C4"/>
                </a:solidFill>
                <a:latin typeface="Segoe UI"/>
              </a:rPr>
              <a:t>encoder  →  bottleneck  →  decoder</a:t>
            </a:r>
          </a:p>
        </p:txBody>
      </p:sp>
      <p:sp>
        <p:nvSpPr>
          <p:cNvPr id="14" name="TextBox 13"/>
          <p:cNvSpPr txBox="1"/>
          <p:nvPr/>
        </p:nvSpPr>
        <p:spPr>
          <a:xfrm>
            <a:off x="6949440" y="5623560"/>
            <a:ext cx="4754880" cy="822960"/>
          </a:xfrm>
          <a:prstGeom prst="rect">
            <a:avLst/>
          </a:prstGeom>
          <a:noFill/>
        </p:spPr>
        <p:txBody>
          <a:bodyPr wrap="square">
            <a:spAutoFit/>
          </a:bodyPr>
          <a:lstStyle/>
          <a:p>
            <a:pPr algn="ctr">
              <a:lnSpc>
                <a:spcPct val="100000"/>
              </a:lnSpc>
            </a:pPr>
            <a:r>
              <a:rPr sz="1500" b="1">
                <a:solidFill>
                  <a:srgbClr val="22D3EE"/>
                </a:solidFill>
                <a:latin typeface="Segoe UI"/>
              </a:rPr>
              <a:t>reconstruction error (MSE) = anomaly score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7185"/>
                </a:solidFill>
              </a:rPr>
              <a:t>11</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The Ensemble — </a:t>
            </a:r>
            <a:r>
              <a:rPr sz="3200" b="1">
                <a:solidFill>
                  <a:srgbClr val="FB7185"/>
                </a:solidFill>
                <a:latin typeface="Segoe UI"/>
              </a:rPr>
              <a:t>fusion &amp; label logic</a:t>
            </a:r>
          </a:p>
          <a:p>
            <a:r>
              <a:rPr sz="1400" i="1">
                <a:solidFill>
                  <a:srgbClr val="9AA6C4"/>
                </a:solidFill>
              </a:rPr>
              <a:t>the ensemble is a fixed scoring layer, not a trained model — only IF and AE are trained</a:t>
            </a:r>
          </a:p>
        </p:txBody>
      </p:sp>
      <p:pic>
        <p:nvPicPr>
          <p:cNvPr id="7" name="Picture 6" descr="ensemble.png"/>
          <p:cNvPicPr>
            <a:picLocks noChangeAspect="1"/>
          </p:cNvPicPr>
          <p:nvPr/>
        </p:nvPicPr>
        <p:blipFill>
          <a:blip r:embed="rId2"/>
          <a:stretch>
            <a:fillRect/>
          </a:stretch>
        </p:blipFill>
        <p:spPr>
          <a:xfrm>
            <a:off x="1463040" y="1417320"/>
            <a:ext cx="9235440" cy="5658783"/>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12</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From Score to </a:t>
            </a:r>
            <a:r>
              <a:rPr sz="3200" b="1">
                <a:solidFill>
                  <a:srgbClr val="22D3EE"/>
                </a:solidFill>
                <a:latin typeface="Segoe UI"/>
              </a:rPr>
              <a:t>Action — injection into system &amp; RAG</a:t>
            </a:r>
          </a:p>
        </p:txBody>
      </p:sp>
      <p:sp>
        <p:nvSpPr>
          <p:cNvPr id="7" name="TextBox 6"/>
          <p:cNvSpPr txBox="1"/>
          <p:nvPr/>
        </p:nvSpPr>
        <p:spPr>
          <a:xfrm>
            <a:off x="594360" y="1417320"/>
            <a:ext cx="11155680" cy="2743200"/>
          </a:xfrm>
          <a:prstGeom prst="rect">
            <a:avLst/>
          </a:prstGeom>
          <a:noFill/>
        </p:spPr>
        <p:txBody>
          <a:bodyPr wrap="square">
            <a:spAutoFit/>
          </a:bodyPr>
          <a:lstStyle/>
          <a:p>
            <a:pPr>
              <a:lnSpc>
                <a:spcPct val="108000"/>
              </a:lnSpc>
              <a:spcAft>
                <a:spcPts val="600"/>
              </a:spcAft>
            </a:pPr>
            <a:r>
              <a:rPr sz="1500" b="1">
                <a:solidFill>
                  <a:srgbClr val="F472B6"/>
                </a:solidFill>
              </a:rPr>
              <a:t>▸ </a:t>
            </a:r>
            <a:r>
              <a:rPr sz="1500" b="1">
                <a:solidFill>
                  <a:srgbClr val="F472B6"/>
                </a:solidFill>
              </a:rPr>
              <a:t>Dashboard</a:t>
            </a:r>
            <a:r>
              <a:rPr sz="1500">
                <a:solidFill>
                  <a:srgbClr val="E8ECF8"/>
                </a:solidFill>
              </a:rPr>
              <a:t> — every streamed alert carries combined_score + label; UI sorts HIGH first, benign-rule exceptions zero the score</a:t>
            </a:r>
          </a:p>
          <a:p>
            <a:pPr>
              <a:lnSpc>
                <a:spcPct val="108000"/>
              </a:lnSpc>
              <a:spcAft>
                <a:spcPts val="600"/>
              </a:spcAft>
            </a:pPr>
            <a:r>
              <a:rPr sz="1500" b="1">
                <a:solidFill>
                  <a:srgbClr val="A78BFA"/>
                </a:solidFill>
              </a:rPr>
              <a:t>▸ </a:t>
            </a:r>
            <a:r>
              <a:rPr sz="1500" b="1">
                <a:solidFill>
                  <a:srgbClr val="A78BFA"/>
                </a:solidFill>
              </a:rPr>
              <a:t>Chat grounding</a:t>
            </a:r>
            <a:r>
              <a:rPr sz="1500">
                <a:solidFill>
                  <a:srgbClr val="E8ECF8"/>
                </a:solidFill>
              </a:rPr>
              <a:t> — matched alerts enter the LLM prompt WITH their ML verdict: 'rule 5720 · level 10 · Anomaly HIGH (94/100)'</a:t>
            </a:r>
          </a:p>
          <a:p>
            <a:pPr>
              <a:lnSpc>
                <a:spcPct val="108000"/>
              </a:lnSpc>
              <a:spcAft>
                <a:spcPts val="600"/>
              </a:spcAft>
            </a:pPr>
            <a:r>
              <a:rPr sz="1500" b="1">
                <a:solidFill>
                  <a:srgbClr val="22D3EE"/>
                </a:solidFill>
              </a:rPr>
              <a:t>▸ </a:t>
            </a:r>
            <a:r>
              <a:rPr sz="1500" b="1">
                <a:solidFill>
                  <a:srgbClr val="22D3EE"/>
                </a:solidFill>
              </a:rPr>
              <a:t>Retrieval gating</a:t>
            </a:r>
            <a:r>
              <a:rPr sz="1500">
                <a:solidFill>
                  <a:srgbClr val="E8ECF8"/>
                </a:solidFill>
              </a:rPr>
              <a:t> — if all matched alerts are level &lt; 5, threat-intel retrieval is SKIPPED and the LLM is told not to map to ATT&amp;CK</a:t>
            </a:r>
          </a:p>
          <a:p>
            <a:pPr>
              <a:lnSpc>
                <a:spcPct val="108000"/>
              </a:lnSpc>
              <a:spcAft>
                <a:spcPts val="600"/>
              </a:spcAft>
            </a:pPr>
            <a:r>
              <a:rPr sz="1500" b="1">
                <a:solidFill>
                  <a:srgbClr val="34D399"/>
                </a:solidFill>
              </a:rPr>
              <a:t>▸ </a:t>
            </a:r>
            <a:r>
              <a:rPr sz="1500" b="1">
                <a:solidFill>
                  <a:srgbClr val="34D399"/>
                </a:solidFill>
              </a:rPr>
              <a:t>Label → language</a:t>
            </a:r>
            <a:r>
              <a:rPr sz="1500">
                <a:solidFill>
                  <a:srgbClr val="E8ECF8"/>
                </a:solidFill>
              </a:rPr>
              <a:t> — CRITICAL/HIGH/POSSIBLE/NORMAL is the shared vocabulary between ML, API, UI and LLM — one verdict everywhere</a:t>
            </a:r>
          </a:p>
          <a:p>
            <a:pPr>
              <a:lnSpc>
                <a:spcPct val="108000"/>
              </a:lnSpc>
              <a:spcAft>
                <a:spcPts val="600"/>
              </a:spcAft>
            </a:pPr>
            <a:r>
              <a:rPr sz="1500" b="1">
                <a:solidFill>
                  <a:srgbClr val="FBBF24"/>
                </a:solidFill>
              </a:rPr>
              <a:t>▸ </a:t>
            </a:r>
            <a:r>
              <a:rPr sz="1500" b="1">
                <a:solidFill>
                  <a:srgbClr val="FBBF24"/>
                </a:solidFill>
              </a:rPr>
              <a:t>Analyst feedback loop</a:t>
            </a:r>
            <a:r>
              <a:rPr sz="1500">
                <a:solidFill>
                  <a:srgbClr val="E8ECF8"/>
                </a:solidFill>
              </a:rPr>
              <a:t> — user-defined benign rules &amp; suspicious groups adjust scoring live, no retrain needed</a:t>
            </a:r>
          </a:p>
        </p:txBody>
      </p:sp>
      <p:pic>
        <p:nvPicPr>
          <p:cNvPr id="8" name="Picture 7" descr="injection.png"/>
          <p:cNvPicPr>
            <a:picLocks noChangeAspect="1"/>
          </p:cNvPicPr>
          <p:nvPr/>
        </p:nvPicPr>
        <p:blipFill>
          <a:blip r:embed="rId2"/>
          <a:stretch>
            <a:fillRect/>
          </a:stretch>
        </p:blipFill>
        <p:spPr>
          <a:xfrm>
            <a:off x="2103120" y="4160520"/>
            <a:ext cx="7955279" cy="4447051"/>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13</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Detection </a:t>
            </a:r>
            <a:r>
              <a:rPr sz="3200" b="1">
                <a:solidFill>
                  <a:srgbClr val="34D399"/>
                </a:solidFill>
                <a:latin typeface="Segoe UI"/>
              </a:rPr>
              <a:t>Evaluation</a:t>
            </a:r>
          </a:p>
          <a:p>
            <a:r>
              <a:rPr sz="1400" i="1">
                <a:solidFill>
                  <a:srgbClr val="9AA6C4"/>
                </a:solidFill>
              </a:rPr>
              <a:t>2,171 alerts · 1,531 clean · 640 attack across 14 simulated attack families</a:t>
            </a:r>
          </a:p>
        </p:txBody>
      </p:sp>
      <p:pic>
        <p:nvPicPr>
          <p:cNvPr id="7" name="Picture 6" descr="confusion.png"/>
          <p:cNvPicPr>
            <a:picLocks noChangeAspect="1"/>
          </p:cNvPicPr>
          <p:nvPr/>
        </p:nvPicPr>
        <p:blipFill>
          <a:blip r:embed="rId2"/>
          <a:stretch>
            <a:fillRect/>
          </a:stretch>
        </p:blipFill>
        <p:spPr>
          <a:xfrm>
            <a:off x="640080" y="1554480"/>
            <a:ext cx="5212080" cy="4459224"/>
          </a:xfrm>
          <a:prstGeom prst="rect">
            <a:avLst/>
          </a:prstGeom>
        </p:spPr>
      </p:pic>
      <p:pic>
        <p:nvPicPr>
          <p:cNvPr id="8" name="Picture 7" descr="metrics.png"/>
          <p:cNvPicPr>
            <a:picLocks noChangeAspect="1"/>
          </p:cNvPicPr>
          <p:nvPr/>
        </p:nvPicPr>
        <p:blipFill>
          <a:blip r:embed="rId3"/>
          <a:stretch>
            <a:fillRect/>
          </a:stretch>
        </p:blipFill>
        <p:spPr>
          <a:xfrm>
            <a:off x="6126480" y="1554480"/>
            <a:ext cx="5577840" cy="3488665"/>
          </a:xfrm>
          <a:prstGeom prst="rect">
            <a:avLst/>
          </a:prstGeom>
        </p:spPr>
      </p:pic>
      <p:sp>
        <p:nvSpPr>
          <p:cNvPr id="9" name="TextBox 8"/>
          <p:cNvSpPr txBox="1"/>
          <p:nvPr/>
        </p:nvSpPr>
        <p:spPr>
          <a:xfrm>
            <a:off x="685800" y="5806440"/>
            <a:ext cx="11155680" cy="822960"/>
          </a:xfrm>
          <a:prstGeom prst="rect">
            <a:avLst/>
          </a:prstGeom>
          <a:noFill/>
        </p:spPr>
        <p:txBody>
          <a:bodyPr wrap="square">
            <a:spAutoFit/>
          </a:bodyPr>
          <a:lstStyle/>
          <a:p>
            <a:pPr algn="l">
              <a:lnSpc>
                <a:spcPct val="100000"/>
              </a:lnSpc>
            </a:pPr>
            <a:r>
              <a:rPr sz="1300" b="0">
                <a:solidFill>
                  <a:srgbClr val="9AA6C4"/>
                </a:solidFill>
                <a:latin typeface="Segoe UI"/>
              </a:rPr>
              <a:t>100% detection: SSH brute force · web attacks (SQLi, XSS) · C2 &amp; DNS exfil · reverse shells · rootkits · account manipulation.  Hardest case: single failed PAM logins (45%) — informationally identical to a typo → future work: temporal window features.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2194560" cy="1463040"/>
          </a:xfrm>
          <a:prstGeom prst="rect">
            <a:avLst/>
          </a:prstGeom>
          <a:noFill/>
        </p:spPr>
        <p:txBody>
          <a:bodyPr wrap="square">
            <a:spAutoFit/>
          </a:bodyPr>
          <a:lstStyle/>
          <a:p>
            <a:pPr algn="l">
              <a:lnSpc>
                <a:spcPct val="100000"/>
              </a:lnSpc>
            </a:pPr>
            <a:r>
              <a:rPr sz="9000" b="1">
                <a:solidFill>
                  <a:srgbClr val="22D3EE"/>
                </a:solidFill>
                <a:latin typeface="Segoe UI"/>
              </a:rPr>
              <a:t>02</a:t>
            </a:r>
          </a:p>
        </p:txBody>
      </p:sp>
      <p:sp>
        <p:nvSpPr>
          <p:cNvPr id="6" name="TextBox 5"/>
          <p:cNvSpPr txBox="1"/>
          <p:nvPr/>
        </p:nvSpPr>
        <p:spPr>
          <a:xfrm>
            <a:off x="3108960" y="2514600"/>
            <a:ext cx="8229600" cy="2011680"/>
          </a:xfrm>
          <a:prstGeom prst="rect">
            <a:avLst/>
          </a:prstGeom>
          <a:noFill/>
        </p:spPr>
        <p:txBody>
          <a:bodyPr wrap="square">
            <a:spAutoFit/>
          </a:bodyPr>
          <a:lstStyle/>
          <a:p>
            <a:r>
              <a:rPr sz="1500">
                <a:solidFill>
                  <a:srgbClr val="9AA6C4"/>
                </a:solidFill>
                <a:latin typeface="Segoe UI"/>
              </a:rPr>
              <a:t>PART TWO · grounded, cited explanations</a:t>
            </a:r>
          </a:p>
          <a:p>
            <a:r>
              <a:rPr sz="4600" b="1">
                <a:solidFill>
                  <a:srgbClr val="E8ECF8"/>
                </a:solidFill>
                <a:latin typeface="Segoe UI"/>
              </a:rPr>
              <a:t>Retrieval-Augmented Generation</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A78BFA"/>
                </a:solidFill>
              </a:rPr>
              <a:t>15</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RAG — the analyst that </a:t>
            </a:r>
            <a:r>
              <a:rPr sz="3200" b="1">
                <a:solidFill>
                  <a:srgbClr val="A78BFA"/>
                </a:solidFill>
                <a:latin typeface="Segoe UI"/>
              </a:rPr>
              <a:t>explains</a:t>
            </a:r>
          </a:p>
          <a:p>
            <a:r>
              <a:rPr sz="1400" i="1">
                <a:solidFill>
                  <a:srgbClr val="9AA6C4"/>
                </a:solidFill>
              </a:rPr>
              <a:t>detection says WHAT is anomalous; retrieval-augmented generation explains WHY and WHAT TO DO</a:t>
            </a:r>
          </a:p>
        </p:txBody>
      </p:sp>
      <p:sp>
        <p:nvSpPr>
          <p:cNvPr id="7" name="TextBox 6"/>
          <p:cNvSpPr txBox="1"/>
          <p:nvPr/>
        </p:nvSpPr>
        <p:spPr>
          <a:xfrm>
            <a:off x="594360" y="1463040"/>
            <a:ext cx="11155680" cy="4206240"/>
          </a:xfrm>
          <a:prstGeom prst="rect">
            <a:avLst/>
          </a:prstGeom>
          <a:noFill/>
        </p:spPr>
        <p:txBody>
          <a:bodyPr wrap="square">
            <a:spAutoFit/>
          </a:bodyPr>
          <a:lstStyle/>
          <a:p>
            <a:pPr>
              <a:lnSpc>
                <a:spcPct val="108000"/>
              </a:lnSpc>
              <a:spcAft>
                <a:spcPts val="600"/>
              </a:spcAft>
            </a:pPr>
            <a:r>
              <a:rPr sz="1500" b="1">
                <a:solidFill>
                  <a:srgbClr val="FB7185"/>
                </a:solidFill>
              </a:rPr>
              <a:t>▸ </a:t>
            </a:r>
            <a:r>
              <a:rPr sz="1500" b="1">
                <a:solidFill>
                  <a:srgbClr val="FB7185"/>
                </a:solidFill>
              </a:rPr>
              <a:t>The problem with raw LLMs</a:t>
            </a:r>
            <a:r>
              <a:rPr sz="1500">
                <a:solidFill>
                  <a:srgbClr val="E8ECF8"/>
                </a:solidFill>
              </a:rPr>
              <a:t> — hallucination — a bare LLM will invent techniques, CVEs and IPs that don't exist</a:t>
            </a:r>
          </a:p>
          <a:p>
            <a:pPr>
              <a:lnSpc>
                <a:spcPct val="108000"/>
              </a:lnSpc>
              <a:spcAft>
                <a:spcPts val="600"/>
              </a:spcAft>
            </a:pPr>
            <a:r>
              <a:rPr sz="1500" b="1">
                <a:solidFill>
                  <a:srgbClr val="A78BFA"/>
                </a:solidFill>
              </a:rPr>
              <a:t>▸ </a:t>
            </a:r>
            <a:r>
              <a:rPr sz="1500" b="1">
                <a:solidFill>
                  <a:srgbClr val="A78BFA"/>
                </a:solidFill>
              </a:rPr>
              <a:t>The RAG answer</a:t>
            </a:r>
            <a:r>
              <a:rPr sz="1500">
                <a:solidFill>
                  <a:srgbClr val="E8ECF8"/>
                </a:solidFill>
              </a:rPr>
              <a:t> — retrieve verified knowledge first, then force the LLM to answer FROM it, with citations [1]-[n]</a:t>
            </a:r>
          </a:p>
          <a:p>
            <a:pPr>
              <a:lnSpc>
                <a:spcPct val="108000"/>
              </a:lnSpc>
              <a:spcAft>
                <a:spcPts val="600"/>
              </a:spcAft>
            </a:pPr>
            <a:r>
              <a:rPr sz="1500" b="1">
                <a:solidFill>
                  <a:srgbClr val="22D3EE"/>
                </a:solidFill>
              </a:rPr>
              <a:t>▸ </a:t>
            </a:r>
            <a:r>
              <a:rPr sz="1500" b="1">
                <a:solidFill>
                  <a:srgbClr val="22D3EE"/>
                </a:solidFill>
              </a:rPr>
              <a:t>Two grounding sources</a:t>
            </a:r>
            <a:r>
              <a:rPr sz="1500">
                <a:solidFill>
                  <a:srgbClr val="E8ECF8"/>
                </a:solidFill>
              </a:rPr>
              <a:t> — 1,333-point threat-intel base (MITRE·Sigma·KEV·CIS·docs) + the live Wazuh alert stream</a:t>
            </a:r>
          </a:p>
          <a:p>
            <a:pPr>
              <a:lnSpc>
                <a:spcPct val="108000"/>
              </a:lnSpc>
              <a:spcAft>
                <a:spcPts val="600"/>
              </a:spcAft>
            </a:pPr>
            <a:r>
              <a:rPr sz="1500" b="1">
                <a:solidFill>
                  <a:srgbClr val="34D399"/>
                </a:solidFill>
              </a:rPr>
              <a:t>▸ </a:t>
            </a:r>
            <a:r>
              <a:rPr sz="1500" b="1">
                <a:solidFill>
                  <a:srgbClr val="34D399"/>
                </a:solidFill>
              </a:rPr>
              <a:t>ML verdicts in the loop</a:t>
            </a:r>
            <a:r>
              <a:rPr sz="1500">
                <a:solidFill>
                  <a:srgbClr val="E8ECF8"/>
                </a:solidFill>
              </a:rPr>
              <a:t> — anomaly labels ride along with every alert the LLM sees — detection and explanation stay consistent</a:t>
            </a:r>
          </a:p>
          <a:p>
            <a:pPr>
              <a:lnSpc>
                <a:spcPct val="108000"/>
              </a:lnSpc>
              <a:spcAft>
                <a:spcPts val="600"/>
              </a:spcAft>
            </a:pPr>
            <a:r>
              <a:rPr sz="1500" b="1">
                <a:solidFill>
                  <a:srgbClr val="F472B6"/>
                </a:solidFill>
              </a:rPr>
              <a:t>▸ </a:t>
            </a:r>
            <a:r>
              <a:rPr sz="1500" b="1">
                <a:solidFill>
                  <a:srgbClr val="F472B6"/>
                </a:solidFill>
              </a:rPr>
              <a:t>User documents quoted verbatim</a:t>
            </a:r>
            <a:r>
              <a:rPr sz="1500">
                <a:solidFill>
                  <a:srgbClr val="E8ECF8"/>
                </a:solidFill>
              </a:rPr>
              <a:t> — uploaded runbooks are chunked &amp; indexed; the analyst quotes them word-for-word with the document title</a:t>
            </a:r>
          </a:p>
          <a:p>
            <a:pPr>
              <a:lnSpc>
                <a:spcPct val="108000"/>
              </a:lnSpc>
              <a:spcAft>
                <a:spcPts val="600"/>
              </a:spcAft>
            </a:pPr>
            <a:r>
              <a:rPr sz="1500" b="1">
                <a:solidFill>
                  <a:srgbClr val="FBBF24"/>
                </a:solidFill>
              </a:rPr>
              <a:t>▸ </a:t>
            </a:r>
            <a:r>
              <a:rPr sz="1500" b="1">
                <a:solidFill>
                  <a:srgbClr val="FBBF24"/>
                </a:solidFill>
              </a:rPr>
              <a:t>Session memory</a:t>
            </a:r>
            <a:r>
              <a:rPr sz="1500">
                <a:solidFill>
                  <a:srgbClr val="E8ECF8"/>
                </a:solidFill>
              </a:rPr>
              <a:t> — multi-turn conversations with per-session history — analysts can drill down naturally</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16</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Building the </a:t>
            </a:r>
            <a:r>
              <a:rPr sz="3200" b="1">
                <a:solidFill>
                  <a:srgbClr val="22D3EE"/>
                </a:solidFill>
                <a:latin typeface="Segoe UI"/>
              </a:rPr>
              <a:t>Vector Database</a:t>
            </a:r>
          </a:p>
          <a:p>
            <a:r>
              <a:rPr sz="1400" i="1">
                <a:solidFill>
                  <a:srgbClr val="9AA6C4"/>
                </a:solidFill>
              </a:rPr>
              <a:t>every knowledge item → one 'episode' → dense vector + sparse vector + payload in Qdrant</a:t>
            </a:r>
          </a:p>
        </p:txBody>
      </p:sp>
      <p:pic>
        <p:nvPicPr>
          <p:cNvPr id="7" name="Picture 6" descr="hybrid_rag.png"/>
          <p:cNvPicPr>
            <a:picLocks noChangeAspect="1"/>
          </p:cNvPicPr>
          <p:nvPr/>
        </p:nvPicPr>
        <p:blipFill>
          <a:blip r:embed="rId2"/>
          <a:stretch>
            <a:fillRect/>
          </a:stretch>
        </p:blipFill>
        <p:spPr>
          <a:xfrm>
            <a:off x="1188720" y="1371600"/>
            <a:ext cx="9784080" cy="5864371"/>
          </a:xfrm>
          <a:prstGeom prst="rect">
            <a:avLst/>
          </a:prstGeom>
        </p:spPr>
      </p:pic>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BF24"/>
                </a:solidFill>
              </a:rPr>
              <a:t>17</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PostgreSQL — </a:t>
            </a:r>
            <a:r>
              <a:rPr sz="3200" b="1">
                <a:solidFill>
                  <a:srgbClr val="FBBF24"/>
                </a:solidFill>
                <a:latin typeface="Segoe UI"/>
              </a:rPr>
              <a:t>the system's memory &amp; conscience</a:t>
            </a:r>
          </a:p>
          <a:p>
            <a:r>
              <a:rPr sz="1400" i="1">
                <a:solidFill>
                  <a:srgbClr val="9AA6C4"/>
                </a:solidFill>
              </a:rPr>
              <a:t>vectors answer 'what is similar?' — Postgres answers 'what happened, when, and why?'</a:t>
            </a:r>
          </a:p>
        </p:txBody>
      </p:sp>
      <p:sp>
        <p:nvSpPr>
          <p:cNvPr id="7" name="Oval 6"/>
          <p:cNvSpPr/>
          <p:nvPr/>
        </p:nvSpPr>
        <p:spPr>
          <a:xfrm>
            <a:off x="640080" y="1600200"/>
            <a:ext cx="10881360" cy="932688"/>
          </a:xfrm>
          <a:prstGeom prst="ellipse">
            <a:avLst/>
          </a:prstGeom>
          <a:solidFill>
            <a:srgbClr val="141A30"/>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r>
              <a:rPr sz="1600" b="1">
                <a:solidFill>
                  <a:srgbClr val="22D3EE"/>
                </a:solidFill>
                <a:latin typeface="Consolas"/>
              </a:rPr>
              <a:t>threat_intel   </a:t>
            </a:r>
            <a:r>
              <a:rPr sz="1400">
                <a:solidFill>
                  <a:srgbClr val="E8ECF8"/>
                </a:solidFill>
              </a:rPr>
              <a:t>relational mirror of every indexed knowledge item (incl. user uploads) — joinable, queryable</a:t>
            </a:r>
          </a:p>
        </p:txBody>
      </p:sp>
      <p:sp>
        <p:nvSpPr>
          <p:cNvPr id="8" name="Oval 7"/>
          <p:cNvSpPr/>
          <p:nvPr/>
        </p:nvSpPr>
        <p:spPr>
          <a:xfrm>
            <a:off x="640080" y="2660904"/>
            <a:ext cx="10881360" cy="932688"/>
          </a:xfrm>
          <a:prstGeom prst="ellipse">
            <a:avLst/>
          </a:prstGeom>
          <a:solidFill>
            <a:srgbClr val="141A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r>
              <a:rPr sz="1600" b="1">
                <a:solidFill>
                  <a:srgbClr val="34D399"/>
                </a:solidFill>
                <a:latin typeface="Consolas"/>
              </a:rPr>
              <a:t>cve_decisions   </a:t>
            </a:r>
            <a:r>
              <a:rPr sz="1400">
                <a:solidFill>
                  <a:srgbClr val="E8ECF8"/>
                </a:solidFill>
              </a:rPr>
              <a:t>one row per CVE the agent ever judged: base score, boost, final, decision, LLM reasoning</a:t>
            </a:r>
          </a:p>
        </p:txBody>
      </p:sp>
      <p:sp>
        <p:nvSpPr>
          <p:cNvPr id="9" name="Oval 8"/>
          <p:cNvSpPr/>
          <p:nvPr/>
        </p:nvSpPr>
        <p:spPr>
          <a:xfrm>
            <a:off x="640080" y="3721608"/>
            <a:ext cx="10881360" cy="932688"/>
          </a:xfrm>
          <a:prstGeom prst="ellipse">
            <a:avLst/>
          </a:prstGeom>
          <a:solidFill>
            <a:srgbClr val="141A30"/>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r>
              <a:rPr sz="1600" b="1">
                <a:solidFill>
                  <a:srgbClr val="A78BFA"/>
                </a:solidFill>
                <a:latin typeface="Consolas"/>
              </a:rPr>
              <a:t>ingestion_log   </a:t>
            </a:r>
            <a:r>
              <a:rPr sz="1400">
                <a:solidFill>
                  <a:srgbClr val="E8ECF8"/>
                </a:solidFill>
              </a:rPr>
              <a:t>one row per agent run: cursor used, rollup counts, status — full run traceability</a:t>
            </a:r>
          </a:p>
        </p:txBody>
      </p:sp>
      <p:sp>
        <p:nvSpPr>
          <p:cNvPr id="10" name="Oval 9"/>
          <p:cNvSpPr/>
          <p:nvPr/>
        </p:nvSpPr>
        <p:spPr>
          <a:xfrm>
            <a:off x="640080" y="4782312"/>
            <a:ext cx="10881360" cy="932688"/>
          </a:xfrm>
          <a:prstGeom prst="ellipse">
            <a:avLst/>
          </a:prstGeom>
          <a:solidFill>
            <a:srgbClr val="141A3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r>
              <a:rPr sz="1600" b="1">
                <a:solidFill>
                  <a:srgbClr val="FBBF24"/>
                </a:solidFill>
                <a:latin typeface="Consolas"/>
              </a:rPr>
              <a:t>pending_review view   </a:t>
            </a:r>
            <a:r>
              <a:rPr sz="1400">
                <a:solidFill>
                  <a:srgbClr val="E8ECF8"/>
                </a:solidFill>
              </a:rPr>
              <a:t>the 4-6 quarantine queue an analyst reviews — the human-in-the-loop surface</a:t>
            </a:r>
          </a:p>
        </p:txBody>
      </p:sp>
      <p:sp>
        <p:nvSpPr>
          <p:cNvPr id="11" name="TextBox 10"/>
          <p:cNvSpPr txBox="1"/>
          <p:nvPr/>
        </p:nvSpPr>
        <p:spPr>
          <a:xfrm>
            <a:off x="640080" y="5897880"/>
            <a:ext cx="10972800" cy="640080"/>
          </a:xfrm>
          <a:prstGeom prst="rect">
            <a:avLst/>
          </a:prstGeom>
          <a:noFill/>
        </p:spPr>
        <p:txBody>
          <a:bodyPr wrap="square">
            <a:spAutoFit/>
          </a:bodyPr>
          <a:lstStyle/>
          <a:p>
            <a:pPr algn="l">
              <a:lnSpc>
                <a:spcPct val="100000"/>
              </a:lnSpc>
            </a:pPr>
            <a:r>
              <a:rPr sz="1400" b="0">
                <a:solidFill>
                  <a:srgbClr val="9AA6C4"/>
                </a:solidFill>
                <a:latin typeface="Segoe UI"/>
              </a:rPr>
              <a:t>Design principle: Qdrant is disposable (re-indexable), Postgres is the source of truth — every automated decision is auditable and reversible.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472B6"/>
                </a:solidFill>
              </a:rPr>
              <a:t>18</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Answer Generation with </a:t>
            </a:r>
            <a:r>
              <a:rPr sz="3200" b="1">
                <a:solidFill>
                  <a:srgbClr val="F472B6"/>
                </a:solidFill>
                <a:latin typeface="Segoe UI"/>
              </a:rPr>
              <a:t>grounded knowledge</a:t>
            </a:r>
          </a:p>
        </p:txBody>
      </p:sp>
      <p:sp>
        <p:nvSpPr>
          <p:cNvPr id="7" name="Oval 6"/>
          <p:cNvSpPr/>
          <p:nvPr/>
        </p:nvSpPr>
        <p:spPr>
          <a:xfrm>
            <a:off x="594360" y="1463040"/>
            <a:ext cx="5760720" cy="4846320"/>
          </a:xfrm>
          <a:prstGeom prst="ellipse">
            <a:avLst/>
          </a:prstGeom>
          <a:solidFill>
            <a:srgbClr val="141A30"/>
          </a:solidFill>
          <a:ln w="190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500"/>
              </a:spcAft>
            </a:pPr>
            <a:r>
              <a:rPr sz="1500" b="1">
                <a:solidFill>
                  <a:srgbClr val="F472B6"/>
                </a:solidFill>
                <a:latin typeface="Consolas"/>
              </a:rPr>
              <a:t>PROMPT ANATOMY</a:t>
            </a:r>
          </a:p>
          <a:p>
            <a:pPr>
              <a:spcAft>
                <a:spcPts val="500"/>
              </a:spcAft>
            </a:pPr>
            <a:r>
              <a:rPr sz="1300" b="0">
                <a:solidFill>
                  <a:srgbClr val="22D3EE"/>
                </a:solidFill>
                <a:latin typeface="Consolas"/>
              </a:rPr>
              <a:t>SYSTEM: analyst persona + citation rules</a:t>
            </a:r>
          </a:p>
          <a:p>
            <a:pPr>
              <a:spcAft>
                <a:spcPts val="500"/>
              </a:spcAft>
            </a:pPr>
            <a:r>
              <a:rPr sz="1200" b="0">
                <a:solidFill>
                  <a:srgbClr val="9AA6C4"/>
                </a:solidFill>
                <a:latin typeface="Consolas"/>
              </a:rPr>
              <a:t>  + anti-hallucination: low-level NORMAL alerts</a:t>
            </a:r>
          </a:p>
          <a:p>
            <a:pPr>
              <a:spcAft>
                <a:spcPts val="500"/>
              </a:spcAft>
            </a:pPr>
            <a:r>
              <a:rPr sz="1200" b="0">
                <a:solidFill>
                  <a:srgbClr val="9AA6C4"/>
                </a:solidFill>
                <a:latin typeface="Consolas"/>
              </a:rPr>
              <a:t>    must NOT be mapped to attack techniques</a:t>
            </a:r>
          </a:p>
          <a:p>
            <a:pPr>
              <a:spcAft>
                <a:spcPts val="500"/>
              </a:spcAft>
            </a:pPr>
            <a:r>
              <a:rPr sz="1200" b="0">
                <a:solidFill>
                  <a:srgbClr val="9AA6C4"/>
                </a:solidFill>
                <a:latin typeface="Consolas"/>
              </a:rPr>
              <a:t>  + quote user documents verbatim, cite [n]</a:t>
            </a:r>
          </a:p>
          <a:p>
            <a:pPr>
              <a:spcAft>
                <a:spcPts val="500"/>
              </a:spcAft>
            </a:pPr>
            <a:r>
              <a:rPr sz="1300" b="1">
                <a:solidFill>
                  <a:srgbClr val="FBBF24"/>
                </a:solidFill>
                <a:latin typeface="Consolas"/>
              </a:rPr>
              <a:t>=== Threat Intelligence Context ===</a:t>
            </a:r>
          </a:p>
          <a:p>
            <a:pPr>
              <a:spcAft>
                <a:spcPts val="500"/>
              </a:spcAft>
            </a:pPr>
            <a:r>
              <a:rPr sz="1200" b="0">
                <a:solidFill>
                  <a:srgbClr val="E8ECF8"/>
                </a:solidFill>
                <a:latin typeface="Consolas"/>
              </a:rPr>
              <a:t>  [1]-[5] retrieved episodes (RRF top-5)</a:t>
            </a:r>
          </a:p>
          <a:p>
            <a:pPr>
              <a:spcAft>
                <a:spcPts val="500"/>
              </a:spcAft>
            </a:pPr>
            <a:r>
              <a:rPr sz="1300" b="1">
                <a:solidFill>
                  <a:srgbClr val="FBBF24"/>
                </a:solidFill>
                <a:latin typeface="Consolas"/>
              </a:rPr>
              <a:t>=== Wazuh Alert Logs (matches) ===</a:t>
            </a:r>
          </a:p>
          <a:p>
            <a:pPr>
              <a:spcAft>
                <a:spcPts val="500"/>
              </a:spcAft>
            </a:pPr>
            <a:r>
              <a:rPr sz="1200" b="0">
                <a:solidFill>
                  <a:srgbClr val="E8ECF8"/>
                </a:solidFill>
                <a:latin typeface="Consolas"/>
              </a:rPr>
              <a:t>  alerts + ensemble verdicts (HIGH 94/100)</a:t>
            </a:r>
          </a:p>
          <a:p>
            <a:pPr>
              <a:spcAft>
                <a:spcPts val="500"/>
              </a:spcAft>
            </a:pPr>
            <a:r>
              <a:rPr sz="1300" b="1">
                <a:solidFill>
                  <a:srgbClr val="34D399"/>
                </a:solidFill>
                <a:latin typeface="Consolas"/>
              </a:rPr>
              <a:t>USER: the analyst's question</a:t>
            </a:r>
          </a:p>
          <a:p>
            <a:pPr>
              <a:spcAft>
                <a:spcPts val="500"/>
              </a:spcAft>
            </a:pPr>
            <a:r>
              <a:rPr sz="1300" b="0">
                <a:solidFill>
                  <a:srgbClr val="A78BFA"/>
                </a:solidFill>
                <a:latin typeface="Consolas"/>
              </a:rPr>
              <a:t>→ llama3.2 · streamed via SSE, token by token</a:t>
            </a:r>
          </a:p>
        </p:txBody>
      </p:sp>
      <p:sp>
        <p:nvSpPr>
          <p:cNvPr id="8" name="TextBox 7"/>
          <p:cNvSpPr txBox="1"/>
          <p:nvPr/>
        </p:nvSpPr>
        <p:spPr>
          <a:xfrm>
            <a:off x="6675120" y="1554480"/>
            <a:ext cx="5120640" cy="4754880"/>
          </a:xfrm>
          <a:prstGeom prst="rect">
            <a:avLst/>
          </a:prstGeom>
          <a:noFill/>
        </p:spPr>
        <p:txBody>
          <a:bodyPr wrap="square">
            <a:spAutoFit/>
          </a:bodyPr>
          <a:lstStyle/>
          <a:p>
            <a:pPr>
              <a:lnSpc>
                <a:spcPct val="108000"/>
              </a:lnSpc>
              <a:spcAft>
                <a:spcPts val="600"/>
              </a:spcAft>
            </a:pPr>
            <a:r>
              <a:rPr sz="1400" b="1">
                <a:solidFill>
                  <a:srgbClr val="22D3EE"/>
                </a:solidFill>
              </a:rPr>
              <a:t>▸ </a:t>
            </a:r>
            <a:r>
              <a:rPr sz="1400" b="1">
                <a:solidFill>
                  <a:srgbClr val="22D3EE"/>
                </a:solidFill>
              </a:rPr>
              <a:t>Level-gated retrieval</a:t>
            </a:r>
            <a:r>
              <a:rPr sz="1400">
                <a:solidFill>
                  <a:srgbClr val="E8ECF8"/>
                </a:solidFill>
              </a:rPr>
              <a:t> — intel only fetched when an alert is level ≥ 5</a:t>
            </a:r>
          </a:p>
          <a:p>
            <a:pPr>
              <a:lnSpc>
                <a:spcPct val="108000"/>
              </a:lnSpc>
              <a:spcAft>
                <a:spcPts val="600"/>
              </a:spcAft>
            </a:pPr>
            <a:r>
              <a:rPr sz="1400" b="1">
                <a:solidFill>
                  <a:srgbClr val="34D399"/>
                </a:solidFill>
              </a:rPr>
              <a:t>▸ </a:t>
            </a:r>
            <a:r>
              <a:rPr sz="1400" b="1">
                <a:solidFill>
                  <a:srgbClr val="34D399"/>
                </a:solidFill>
              </a:rPr>
              <a:t>Citations enforced</a:t>
            </a:r>
            <a:r>
              <a:rPr sz="1400">
                <a:solidFill>
                  <a:srgbClr val="E8ECF8"/>
                </a:solidFill>
              </a:rPr>
              <a:t> — [n] markers verified against sources in eval</a:t>
            </a:r>
          </a:p>
          <a:p>
            <a:pPr>
              <a:lnSpc>
                <a:spcPct val="108000"/>
              </a:lnSpc>
              <a:spcAft>
                <a:spcPts val="600"/>
              </a:spcAft>
            </a:pPr>
            <a:r>
              <a:rPr sz="1400" b="1">
                <a:solidFill>
                  <a:srgbClr val="A78BFA"/>
                </a:solidFill>
              </a:rPr>
              <a:t>▸ </a:t>
            </a:r>
            <a:r>
              <a:rPr sz="1400" b="1">
                <a:solidFill>
                  <a:srgbClr val="A78BFA"/>
                </a:solidFill>
              </a:rPr>
              <a:t>Sources returned to UI</a:t>
            </a:r>
            <a:r>
              <a:rPr sz="1400">
                <a:solidFill>
                  <a:srgbClr val="E8ECF8"/>
                </a:solidFill>
              </a:rPr>
              <a:t> — every reply ships its evidence chips</a:t>
            </a:r>
          </a:p>
          <a:p>
            <a:pPr>
              <a:lnSpc>
                <a:spcPct val="108000"/>
              </a:lnSpc>
              <a:spcAft>
                <a:spcPts val="600"/>
              </a:spcAft>
            </a:pPr>
            <a:r>
              <a:rPr sz="1400" b="1">
                <a:solidFill>
                  <a:srgbClr val="FBBF24"/>
                </a:solidFill>
              </a:rPr>
              <a:t>▸ </a:t>
            </a:r>
            <a:r>
              <a:rPr sz="1400" b="1">
                <a:solidFill>
                  <a:srgbClr val="FBBF24"/>
                </a:solidFill>
              </a:rPr>
              <a:t>Refusal is a feature</a:t>
            </a:r>
            <a:r>
              <a:rPr sz="1400">
                <a:solidFill>
                  <a:srgbClr val="E8ECF8"/>
                </a:solidFill>
              </a:rPr>
              <a:t> — no evidence → say so, never invent</a:t>
            </a:r>
          </a:p>
          <a:p>
            <a:pPr>
              <a:lnSpc>
                <a:spcPct val="108000"/>
              </a:lnSpc>
              <a:spcAft>
                <a:spcPts val="600"/>
              </a:spcAft>
            </a:pPr>
            <a:r>
              <a:rPr sz="1400" b="1">
                <a:solidFill>
                  <a:srgbClr val="F472B6"/>
                </a:solidFill>
              </a:rPr>
              <a:t>▸ </a:t>
            </a:r>
            <a:r>
              <a:rPr sz="1400" b="1">
                <a:solidFill>
                  <a:srgbClr val="F472B6"/>
                </a:solidFill>
              </a:rPr>
              <a:t>Streaming UX</a:t>
            </a:r>
            <a:r>
              <a:rPr sz="1400">
                <a:solidFill>
                  <a:srgbClr val="E8ECF8"/>
                </a:solidFill>
              </a:rPr>
              <a:t> — SSE tokens — answers appear as they're generated</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19</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Evaluating the </a:t>
            </a:r>
            <a:r>
              <a:rPr sz="3200" b="1">
                <a:solidFill>
                  <a:srgbClr val="34D399"/>
                </a:solidFill>
                <a:latin typeface="Segoe UI"/>
              </a:rPr>
              <a:t>RAG — two stages</a:t>
            </a:r>
          </a:p>
          <a:p>
            <a:r>
              <a:rPr sz="1400" i="1">
                <a:solidFill>
                  <a:srgbClr val="9AA6C4"/>
                </a:solidFill>
              </a:rPr>
              <a:t>retrieval quality and generation quality are different failure modes — measure both</a:t>
            </a:r>
          </a:p>
        </p:txBody>
      </p:sp>
      <p:pic>
        <p:nvPicPr>
          <p:cNvPr id="7" name="Picture 6" descr="rag_eval.png"/>
          <p:cNvPicPr>
            <a:picLocks noChangeAspect="1"/>
          </p:cNvPicPr>
          <p:nvPr/>
        </p:nvPicPr>
        <p:blipFill>
          <a:blip r:embed="rId2"/>
          <a:stretch>
            <a:fillRect/>
          </a:stretch>
        </p:blipFill>
        <p:spPr>
          <a:xfrm>
            <a:off x="777240" y="1463040"/>
            <a:ext cx="10607040" cy="4563229"/>
          </a:xfrm>
          <a:prstGeom prst="rect">
            <a:avLst/>
          </a:prstGeom>
        </p:spPr>
      </p:pic>
      <p:sp>
        <p:nvSpPr>
          <p:cNvPr id="8" name="TextBox 7"/>
          <p:cNvSpPr txBox="1"/>
          <p:nvPr/>
        </p:nvSpPr>
        <p:spPr>
          <a:xfrm>
            <a:off x="777240" y="5806440"/>
            <a:ext cx="10789920" cy="822960"/>
          </a:xfrm>
          <a:prstGeom prst="rect">
            <a:avLst/>
          </a:prstGeom>
          <a:noFill/>
        </p:spPr>
        <p:txBody>
          <a:bodyPr wrap="square">
            <a:spAutoFit/>
          </a:bodyPr>
          <a:lstStyle/>
          <a:p>
            <a:pPr algn="l">
              <a:lnSpc>
                <a:spcPct val="100000"/>
              </a:lnSpc>
            </a:pPr>
            <a:r>
              <a:rPr sz="1300" b="0">
                <a:solidFill>
                  <a:srgbClr val="9AA6C4"/>
                </a:solidFill>
                <a:latin typeface="Segoe UI"/>
              </a:rPr>
              <a:t>Honest findings: cross-encoder reranking HURT domain retrieval (removed) · weak categories identified (APT, C2 recall) · over-refusal regex flagged 8/35 but manual verification showed 0 true refusals — metrics need human validation.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2194560" cy="1463040"/>
          </a:xfrm>
          <a:prstGeom prst="rect">
            <a:avLst/>
          </a:prstGeom>
          <a:noFill/>
        </p:spPr>
        <p:txBody>
          <a:bodyPr wrap="square">
            <a:spAutoFit/>
          </a:bodyPr>
          <a:lstStyle/>
          <a:p>
            <a:pPr algn="l">
              <a:lnSpc>
                <a:spcPct val="100000"/>
              </a:lnSpc>
            </a:pPr>
            <a:r>
              <a:rPr sz="9000" b="1">
                <a:solidFill>
                  <a:srgbClr val="FBBF24"/>
                </a:solidFill>
                <a:latin typeface="Segoe UI"/>
              </a:rPr>
              <a:t>03</a:t>
            </a:r>
          </a:p>
        </p:txBody>
      </p:sp>
      <p:sp>
        <p:nvSpPr>
          <p:cNvPr id="6" name="TextBox 5"/>
          <p:cNvSpPr txBox="1"/>
          <p:nvPr/>
        </p:nvSpPr>
        <p:spPr>
          <a:xfrm>
            <a:off x="3108960" y="2514600"/>
            <a:ext cx="8229600" cy="2011680"/>
          </a:xfrm>
          <a:prstGeom prst="rect">
            <a:avLst/>
          </a:prstGeom>
          <a:noFill/>
        </p:spPr>
        <p:txBody>
          <a:bodyPr wrap="square">
            <a:spAutoFit/>
          </a:bodyPr>
          <a:lstStyle/>
          <a:p>
            <a:r>
              <a:rPr sz="1500">
                <a:solidFill>
                  <a:srgbClr val="9AA6C4"/>
                </a:solidFill>
                <a:latin typeface="Segoe UI"/>
              </a:rPr>
              <a:t>PART THREE · the knowledge base maintains itself</a:t>
            </a:r>
          </a:p>
          <a:p>
            <a:r>
              <a:rPr sz="4600" b="1">
                <a:solidFill>
                  <a:srgbClr val="E8ECF8"/>
                </a:solidFill>
                <a:latin typeface="Segoe UI"/>
              </a:rPr>
              <a:t>Agentic CVE Ingestion</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BF24"/>
                </a:solidFill>
              </a:rPr>
              <a:t>21</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Agentic Workflow — </a:t>
            </a:r>
            <a:r>
              <a:rPr sz="3200" b="1">
                <a:solidFill>
                  <a:srgbClr val="FBBF24"/>
                </a:solidFill>
                <a:latin typeface="Segoe UI"/>
              </a:rPr>
              <a:t>autonomous CVE ingestion</a:t>
            </a:r>
          </a:p>
          <a:p>
            <a:r>
              <a:rPr sz="1400" i="1">
                <a:solidFill>
                  <a:srgbClr val="9AA6C4"/>
                </a:solidFill>
              </a:rPr>
              <a:t>the knowledge base updates itself daily — with bounded reasoning and full audit</a:t>
            </a:r>
          </a:p>
        </p:txBody>
      </p:sp>
      <p:pic>
        <p:nvPicPr>
          <p:cNvPr id="7" name="Picture 6" descr="agent.png"/>
          <p:cNvPicPr>
            <a:picLocks noChangeAspect="1"/>
          </p:cNvPicPr>
          <p:nvPr/>
        </p:nvPicPr>
        <p:blipFill>
          <a:blip r:embed="rId2"/>
          <a:stretch>
            <a:fillRect/>
          </a:stretch>
        </p:blipFill>
        <p:spPr>
          <a:xfrm>
            <a:off x="1051560" y="1371600"/>
            <a:ext cx="10058400" cy="5125957"/>
          </a:xfrm>
          <a:prstGeom prst="rect">
            <a:avLst/>
          </a:prstGeom>
        </p:spPr>
      </p:pic>
      <p:sp>
        <p:nvSpPr>
          <p:cNvPr id="8" name="TextBox 7"/>
          <p:cNvSpPr txBox="1"/>
          <p:nvPr/>
        </p:nvSpPr>
        <p:spPr>
          <a:xfrm>
            <a:off x="777240" y="5806440"/>
            <a:ext cx="10789920" cy="822960"/>
          </a:xfrm>
          <a:prstGeom prst="rect">
            <a:avLst/>
          </a:prstGeom>
          <a:noFill/>
        </p:spPr>
        <p:txBody>
          <a:bodyPr wrap="square">
            <a:spAutoFit/>
          </a:bodyPr>
          <a:lstStyle/>
          <a:p>
            <a:pPr algn="l">
              <a:lnSpc>
                <a:spcPct val="100000"/>
              </a:lnSpc>
            </a:pPr>
            <a:r>
              <a:rPr sz="1300" b="0">
                <a:solidFill>
                  <a:srgbClr val="9AA6C4"/>
                </a:solidFill>
                <a:latin typeface="Segoe UI"/>
              </a:rPr>
              <a:t>Design: fixed control flow, ONE bounded LLM step (relevance 0-10) · environment boost from local rules &amp; alert history · LLM failure → conservative score 5 → review queue, never silent drop · duplicates skipped against the Postgres ledger.</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22</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The Whole System — </a:t>
            </a:r>
            <a:r>
              <a:rPr sz="3200" b="1">
                <a:solidFill>
                  <a:srgbClr val="22D3EE"/>
                </a:solidFill>
                <a:latin typeface="Segoe UI"/>
              </a:rPr>
              <a:t>architecture</a:t>
            </a:r>
          </a:p>
        </p:txBody>
      </p:sp>
      <p:pic>
        <p:nvPicPr>
          <p:cNvPr id="7" name="Picture 6" descr="architecture.png"/>
          <p:cNvPicPr>
            <a:picLocks noChangeAspect="1"/>
          </p:cNvPicPr>
          <p:nvPr/>
        </p:nvPicPr>
        <p:blipFill>
          <a:blip r:embed="rId2"/>
          <a:stretch>
            <a:fillRect/>
          </a:stretch>
        </p:blipFill>
        <p:spPr>
          <a:xfrm>
            <a:off x="1234440" y="1325880"/>
            <a:ext cx="9692640" cy="6091569"/>
          </a:xfrm>
          <a:prstGeom prst="rect">
            <a:avLst/>
          </a:prstGeom>
        </p:spPr>
      </p:pic>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472B6"/>
                </a:solidFill>
              </a:rPr>
              <a:t>23</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Live Demo — </a:t>
            </a:r>
            <a:r>
              <a:rPr sz="3200" b="1">
                <a:solidFill>
                  <a:srgbClr val="F472B6"/>
                </a:solidFill>
                <a:latin typeface="Segoe UI"/>
              </a:rPr>
              <a:t>the system running</a:t>
            </a:r>
          </a:p>
          <a:p>
            <a:r>
              <a:rPr sz="1400" i="1">
                <a:solidFill>
                  <a:srgbClr val="9AA6C4"/>
                </a:solidFill>
              </a:rPr>
              <a:t>ordered most-important-first: real attack → detection → grounded explanation → the ML → the agent</a:t>
            </a:r>
          </a:p>
        </p:txBody>
      </p:sp>
      <p:sp>
        <p:nvSpPr>
          <p:cNvPr id="7" name="Oval 6"/>
          <p:cNvSpPr/>
          <p:nvPr/>
        </p:nvSpPr>
        <p:spPr>
          <a:xfrm>
            <a:off x="640080" y="1691640"/>
            <a:ext cx="10881360" cy="960120"/>
          </a:xfrm>
          <a:prstGeom prst="ellipse">
            <a:avLst/>
          </a:prstGeom>
          <a:solidFill>
            <a:srgbClr val="141A30"/>
          </a:solidFill>
          <a:ln w="1905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wrap="square" lIns="256032" tIns="146304"/>
          <a:lstStyle/>
          <a:p>
            <a:pPr algn="ctr"/>
            <a:r>
              <a:rPr sz="1800">
                <a:solidFill>
                  <a:srgbClr val="FB7185"/>
                </a:solidFill>
              </a:rPr>
              <a:t>▶   </a:t>
            </a:r>
            <a:r>
              <a:rPr sz="1700" b="1">
                <a:solidFill>
                  <a:srgbClr val="E8ECF8"/>
                </a:solidFill>
              </a:rPr>
              <a:t>Real attack + attack-origin map</a:t>
            </a:r>
          </a:p>
          <a:p>
            <a:r>
              <a:rPr sz="1300">
                <a:solidFill>
                  <a:srgbClr val="9AA6C4"/>
                </a:solidFill>
              </a:rPr>
              <a:t>     Populate Map + Test the Shield — 14 families through the real Wazuh pipeline, scored live</a:t>
            </a:r>
          </a:p>
        </p:txBody>
      </p:sp>
      <p:sp>
        <p:nvSpPr>
          <p:cNvPr id="8" name="Oval 7"/>
          <p:cNvSpPr/>
          <p:nvPr/>
        </p:nvSpPr>
        <p:spPr>
          <a:xfrm>
            <a:off x="640080" y="2743200"/>
            <a:ext cx="10881360" cy="960120"/>
          </a:xfrm>
          <a:prstGeom prst="ellipse">
            <a:avLst/>
          </a:prstGeom>
          <a:solidFill>
            <a:srgbClr val="141A30"/>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wrap="square" lIns="256032" tIns="146304"/>
          <a:lstStyle/>
          <a:p>
            <a:pPr algn="ctr"/>
            <a:r>
              <a:rPr sz="1800">
                <a:solidFill>
                  <a:srgbClr val="22D3EE"/>
                </a:solidFill>
              </a:rPr>
              <a:t>💬   </a:t>
            </a:r>
            <a:r>
              <a:rPr sz="1700" b="1">
                <a:solidFill>
                  <a:srgbClr val="E8ECF8"/>
                </a:solidFill>
              </a:rPr>
              <a:t>Grounded RAG explanation</a:t>
            </a:r>
          </a:p>
          <a:p>
            <a:r>
              <a:rPr sz="1300">
                <a:solidFill>
                  <a:srgbClr val="9AA6C4"/>
                </a:solidFill>
              </a:rPr>
              <a:t>     ask the analyst, click a source citation → open the exact indexed chunk in Qdrant</a:t>
            </a:r>
          </a:p>
        </p:txBody>
      </p:sp>
      <p:sp>
        <p:nvSpPr>
          <p:cNvPr id="9" name="Oval 8"/>
          <p:cNvSpPr/>
          <p:nvPr/>
        </p:nvSpPr>
        <p:spPr>
          <a:xfrm>
            <a:off x="640080" y="3794760"/>
            <a:ext cx="10881360" cy="960120"/>
          </a:xfrm>
          <a:prstGeom prst="ellipse">
            <a:avLst/>
          </a:prstGeom>
          <a:solidFill>
            <a:srgbClr val="141A30"/>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56032" tIns="146304"/>
          <a:lstStyle/>
          <a:p>
            <a:pPr algn="ctr"/>
            <a:r>
              <a:rPr sz="1800">
                <a:solidFill>
                  <a:srgbClr val="34D399"/>
                </a:solidFill>
              </a:rPr>
              <a:t>🧠   </a:t>
            </a:r>
            <a:r>
              <a:rPr sz="1700" b="1">
                <a:solidFill>
                  <a:srgbClr val="E8ECF8"/>
                </a:solidFill>
              </a:rPr>
              <a:t>How the score was made</a:t>
            </a:r>
          </a:p>
          <a:p>
            <a:r>
              <a:rPr sz="1300">
                <a:solidFill>
                  <a:srgbClr val="9AA6C4"/>
                </a:solidFill>
              </a:rPr>
              <a:t>     the ML Engine page: 16 features → Isolation Forest + Autoencoder → fused tier</a:t>
            </a:r>
          </a:p>
        </p:txBody>
      </p:sp>
      <p:sp>
        <p:nvSpPr>
          <p:cNvPr id="10" name="Oval 9"/>
          <p:cNvSpPr/>
          <p:nvPr/>
        </p:nvSpPr>
        <p:spPr>
          <a:xfrm>
            <a:off x="640080" y="4846320"/>
            <a:ext cx="10881360" cy="960120"/>
          </a:xfrm>
          <a:prstGeom prst="ellipse">
            <a:avLst/>
          </a:prstGeom>
          <a:solidFill>
            <a:srgbClr val="141A30"/>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56032" tIns="146304"/>
          <a:lstStyle/>
          <a:p>
            <a:pPr algn="ctr"/>
            <a:r>
              <a:rPr sz="1800">
                <a:solidFill>
                  <a:srgbClr val="FBBF24"/>
                </a:solidFill>
              </a:rPr>
              <a:t>🤖   </a:t>
            </a:r>
            <a:r>
              <a:rPr sz="1700" b="1">
                <a:solidFill>
                  <a:srgbClr val="E8ECF8"/>
                </a:solidFill>
              </a:rPr>
              <a:t>Autonomous CVE agent</a:t>
            </a:r>
          </a:p>
          <a:p>
            <a:r>
              <a:rPr sz="1300">
                <a:solidFill>
                  <a:srgbClr val="9AA6C4"/>
                </a:solidFill>
              </a:rPr>
              <a:t>     run it live — fetch → dedup → boost → LLM-score → index / queue / drop</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24</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Results at a </a:t>
            </a:r>
            <a:r>
              <a:rPr sz="3200" b="1">
                <a:solidFill>
                  <a:srgbClr val="34D399"/>
                </a:solidFill>
                <a:latin typeface="Segoe UI"/>
              </a:rPr>
              <a:t>glance</a:t>
            </a:r>
          </a:p>
        </p:txBody>
      </p:sp>
      <p:sp>
        <p:nvSpPr>
          <p:cNvPr id="7" name="Oval 6"/>
          <p:cNvSpPr/>
          <p:nvPr/>
        </p:nvSpPr>
        <p:spPr>
          <a:xfrm>
            <a:off x="640080" y="1554480"/>
            <a:ext cx="2651760" cy="1371600"/>
          </a:xfrm>
          <a:prstGeom prst="ellipse">
            <a:avLst/>
          </a:prstGeom>
          <a:solidFill>
            <a:srgbClr val="141A30"/>
          </a:solidFill>
          <a:ln w="203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34D399"/>
                </a:solidFill>
              </a:rPr>
              <a:t>95.9%</a:t>
            </a:r>
          </a:p>
          <a:p>
            <a:pPr algn="ctr"/>
            <a:r>
              <a:rPr sz="1100">
                <a:solidFill>
                  <a:srgbClr val="9AA6C4"/>
                </a:solidFill>
              </a:rPr>
              <a:t>ATTACK RECALL</a:t>
            </a:r>
          </a:p>
        </p:txBody>
      </p:sp>
      <p:sp>
        <p:nvSpPr>
          <p:cNvPr id="8" name="Oval 7"/>
          <p:cNvSpPr/>
          <p:nvPr/>
        </p:nvSpPr>
        <p:spPr>
          <a:xfrm>
            <a:off x="3474720" y="1554480"/>
            <a:ext cx="2651760" cy="1371600"/>
          </a:xfrm>
          <a:prstGeom prst="ellipse">
            <a:avLst/>
          </a:prstGeom>
          <a:solidFill>
            <a:srgbClr val="141A30"/>
          </a:solidFill>
          <a:ln w="203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22D3EE"/>
                </a:solidFill>
              </a:rPr>
              <a:t>89.2%</a:t>
            </a:r>
          </a:p>
          <a:p>
            <a:pPr algn="ctr"/>
            <a:r>
              <a:rPr sz="1100">
                <a:solidFill>
                  <a:srgbClr val="9AA6C4"/>
                </a:solidFill>
              </a:rPr>
              <a:t>ENSEMBLE F1</a:t>
            </a:r>
          </a:p>
        </p:txBody>
      </p:sp>
      <p:sp>
        <p:nvSpPr>
          <p:cNvPr id="9" name="Oval 8"/>
          <p:cNvSpPr/>
          <p:nvPr/>
        </p:nvSpPr>
        <p:spPr>
          <a:xfrm>
            <a:off x="6309360" y="1554480"/>
            <a:ext cx="2651760" cy="1371600"/>
          </a:xfrm>
          <a:prstGeom prst="ellipse">
            <a:avLst/>
          </a:prstGeom>
          <a:solidFill>
            <a:srgbClr val="141A30"/>
          </a:solidFill>
          <a:ln w="203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BBF24"/>
                </a:solidFill>
              </a:rPr>
              <a:t>8.0%</a:t>
            </a:r>
          </a:p>
          <a:p>
            <a:pPr algn="ctr"/>
            <a:r>
              <a:rPr sz="1100">
                <a:solidFill>
                  <a:srgbClr val="9AA6C4"/>
                </a:solidFill>
              </a:rPr>
              <a:t>FALSE-POSITIVE RATE</a:t>
            </a:r>
          </a:p>
        </p:txBody>
      </p:sp>
      <p:sp>
        <p:nvSpPr>
          <p:cNvPr id="10" name="Oval 9"/>
          <p:cNvSpPr/>
          <p:nvPr/>
        </p:nvSpPr>
        <p:spPr>
          <a:xfrm>
            <a:off x="9144000" y="1554480"/>
            <a:ext cx="2651760" cy="1371600"/>
          </a:xfrm>
          <a:prstGeom prst="ellipse">
            <a:avLst/>
          </a:prstGeom>
          <a:solidFill>
            <a:srgbClr val="141A30"/>
          </a:solidFill>
          <a:ln w="2032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A78BFA"/>
                </a:solidFill>
              </a:rPr>
              <a:t>75.1</a:t>
            </a:r>
          </a:p>
          <a:p>
            <a:pPr algn="ctr"/>
            <a:r>
              <a:rPr sz="1100">
                <a:solidFill>
                  <a:srgbClr val="9AA6C4"/>
                </a:solidFill>
              </a:rPr>
              <a:t>SCORE SEPARATION (PTS)</a:t>
            </a:r>
          </a:p>
        </p:txBody>
      </p:sp>
      <p:sp>
        <p:nvSpPr>
          <p:cNvPr id="11" name="Oval 10"/>
          <p:cNvSpPr/>
          <p:nvPr/>
        </p:nvSpPr>
        <p:spPr>
          <a:xfrm>
            <a:off x="640080" y="3246120"/>
            <a:ext cx="2651760" cy="1371600"/>
          </a:xfrm>
          <a:prstGeom prst="ellipse">
            <a:avLst/>
          </a:prstGeom>
          <a:solidFill>
            <a:srgbClr val="141A30"/>
          </a:solidFill>
          <a:ln w="2032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472B6"/>
                </a:solidFill>
              </a:rPr>
              <a:t>82.9%</a:t>
            </a:r>
          </a:p>
          <a:p>
            <a:pPr algn="ctr"/>
            <a:r>
              <a:rPr sz="1100">
                <a:solidFill>
                  <a:srgbClr val="9AA6C4"/>
                </a:solidFill>
              </a:rPr>
              <a:t>RAG HIT RATE@5</a:t>
            </a:r>
          </a:p>
        </p:txBody>
      </p:sp>
      <p:sp>
        <p:nvSpPr>
          <p:cNvPr id="12" name="Oval 11"/>
          <p:cNvSpPr/>
          <p:nvPr/>
        </p:nvSpPr>
        <p:spPr>
          <a:xfrm>
            <a:off x="3474720" y="3246120"/>
            <a:ext cx="2651760" cy="1371600"/>
          </a:xfrm>
          <a:prstGeom prst="ellipse">
            <a:avLst/>
          </a:prstGeom>
          <a:solidFill>
            <a:srgbClr val="141A30"/>
          </a:solidFill>
          <a:ln w="203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34D399"/>
                </a:solidFill>
              </a:rPr>
              <a:t>98.3%</a:t>
            </a:r>
          </a:p>
          <a:p>
            <a:pPr algn="ctr"/>
            <a:r>
              <a:rPr sz="1100">
                <a:solidFill>
                  <a:srgbClr val="9AA6C4"/>
                </a:solidFill>
              </a:rPr>
              <a:t>CITATION PRECISION</a:t>
            </a:r>
          </a:p>
        </p:txBody>
      </p:sp>
      <p:sp>
        <p:nvSpPr>
          <p:cNvPr id="13" name="Oval 12"/>
          <p:cNvSpPr/>
          <p:nvPr/>
        </p:nvSpPr>
        <p:spPr>
          <a:xfrm>
            <a:off x="6309360" y="3246120"/>
            <a:ext cx="2651760" cy="1371600"/>
          </a:xfrm>
          <a:prstGeom prst="ellipse">
            <a:avLst/>
          </a:prstGeom>
          <a:solidFill>
            <a:srgbClr val="141A30"/>
          </a:solidFill>
          <a:ln w="203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22D3EE"/>
                </a:solidFill>
              </a:rPr>
              <a:t>~12 ms</a:t>
            </a:r>
          </a:p>
          <a:p>
            <a:pPr algn="ctr"/>
            <a:r>
              <a:rPr sz="1100">
                <a:solidFill>
                  <a:srgbClr val="9AA6C4"/>
                </a:solidFill>
              </a:rPr>
              <a:t>SCORING LATENCY</a:t>
            </a:r>
          </a:p>
        </p:txBody>
      </p:sp>
      <p:sp>
        <p:nvSpPr>
          <p:cNvPr id="14" name="Oval 13"/>
          <p:cNvSpPr/>
          <p:nvPr/>
        </p:nvSpPr>
        <p:spPr>
          <a:xfrm>
            <a:off x="9144000" y="3246120"/>
            <a:ext cx="2651760" cy="1371600"/>
          </a:xfrm>
          <a:prstGeom prst="ellipse">
            <a:avLst/>
          </a:prstGeom>
          <a:solidFill>
            <a:srgbClr val="141A30"/>
          </a:solidFill>
          <a:ln w="2032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B7185"/>
                </a:solidFill>
              </a:rPr>
              <a:t>14/14</a:t>
            </a:r>
          </a:p>
          <a:p>
            <a:pPr algn="ctr"/>
            <a:r>
              <a:rPr sz="1100">
                <a:solidFill>
                  <a:srgbClr val="9AA6C4"/>
                </a:solidFill>
              </a:rPr>
              <a:t>ATTACK FAMILIES DETECTED</a:t>
            </a:r>
          </a:p>
        </p:txBody>
      </p:sp>
      <p:sp>
        <p:nvSpPr>
          <p:cNvPr id="15" name="TextBox 14"/>
          <p:cNvSpPr txBox="1"/>
          <p:nvPr/>
        </p:nvSpPr>
        <p:spPr>
          <a:xfrm>
            <a:off x="685800" y="5120640"/>
            <a:ext cx="10972800" cy="1371600"/>
          </a:xfrm>
          <a:prstGeom prst="rect">
            <a:avLst/>
          </a:prstGeom>
          <a:noFill/>
        </p:spPr>
        <p:txBody>
          <a:bodyPr wrap="square">
            <a:spAutoFit/>
          </a:bodyPr>
          <a:lstStyle/>
          <a:p>
            <a:pPr>
              <a:lnSpc>
                <a:spcPct val="108000"/>
              </a:lnSpc>
              <a:spcAft>
                <a:spcPts val="600"/>
              </a:spcAft>
            </a:pPr>
            <a:r>
              <a:rPr sz="1500" b="1">
                <a:solidFill>
                  <a:srgbClr val="34D399"/>
                </a:solidFill>
              </a:rPr>
              <a:t>▸ </a:t>
            </a:r>
            <a:r>
              <a:rPr sz="1500" b="1">
                <a:solidFill>
                  <a:srgbClr val="34D399"/>
                </a:solidFill>
              </a:rPr>
              <a:t>Every number is reproducible</a:t>
            </a:r>
            <a:r>
              <a:rPr sz="1500">
                <a:solidFill>
                  <a:srgbClr val="E8ECF8"/>
                </a:solidFill>
              </a:rPr>
              <a:t> — evaluation scripts, datasets and charts ship with the code</a:t>
            </a:r>
          </a:p>
          <a:p>
            <a:pPr>
              <a:lnSpc>
                <a:spcPct val="108000"/>
              </a:lnSpc>
              <a:spcAft>
                <a:spcPts val="600"/>
              </a:spcAft>
            </a:pPr>
            <a:r>
              <a:rPr sz="1500" b="1">
                <a:solidFill>
                  <a:srgbClr val="FBBF24"/>
                </a:solidFill>
              </a:rPr>
              <a:t>▸ </a:t>
            </a:r>
            <a:r>
              <a:rPr sz="1500" b="1">
                <a:solidFill>
                  <a:srgbClr val="FBBF24"/>
                </a:solidFill>
              </a:rPr>
              <a:t>Honest limitations</a:t>
            </a:r>
            <a:r>
              <a:rPr sz="1500">
                <a:solidFill>
                  <a:srgbClr val="E8ECF8"/>
                </a:solidFill>
              </a:rPr>
              <a:t> — PAM single-login detection 45% · faithfulness judged by same-family LLM · FP rate has headroom</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472B6"/>
                </a:solidFill>
              </a:rPr>
              <a:t>25</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Future Work &amp; </a:t>
            </a:r>
            <a:r>
              <a:rPr sz="3200" b="1">
                <a:solidFill>
                  <a:srgbClr val="F472B6"/>
                </a:solidFill>
                <a:latin typeface="Segoe UI"/>
              </a:rPr>
              <a:t>Conclusion</a:t>
            </a:r>
          </a:p>
        </p:txBody>
      </p:sp>
      <p:sp>
        <p:nvSpPr>
          <p:cNvPr id="7" name="TextBox 6"/>
          <p:cNvSpPr txBox="1"/>
          <p:nvPr/>
        </p:nvSpPr>
        <p:spPr>
          <a:xfrm>
            <a:off x="594360" y="1417320"/>
            <a:ext cx="11155680" cy="3108960"/>
          </a:xfrm>
          <a:prstGeom prst="rect">
            <a:avLst/>
          </a:prstGeom>
          <a:noFill/>
        </p:spPr>
        <p:txBody>
          <a:bodyPr wrap="square">
            <a:spAutoFit/>
          </a:bodyPr>
          <a:lstStyle/>
          <a:p>
            <a:pPr>
              <a:lnSpc>
                <a:spcPct val="108000"/>
              </a:lnSpc>
              <a:spcAft>
                <a:spcPts val="600"/>
              </a:spcAft>
            </a:pPr>
            <a:r>
              <a:rPr sz="1500" b="1">
                <a:solidFill>
                  <a:srgbClr val="22D3EE"/>
                </a:solidFill>
              </a:rPr>
              <a:t>▸ </a:t>
            </a:r>
            <a:r>
              <a:rPr sz="1500" b="1">
                <a:solidFill>
                  <a:srgbClr val="22D3EE"/>
                </a:solidFill>
              </a:rPr>
              <a:t>Temporal features</a:t>
            </a:r>
            <a:r>
              <a:rPr sz="1500">
                <a:solidFill>
                  <a:srgbClr val="E8ECF8"/>
                </a:solidFill>
              </a:rPr>
              <a:t> — rolling-window aggregates (failures/IP/10 min) to catch low-and-slow and single-event attacks</a:t>
            </a:r>
          </a:p>
          <a:p>
            <a:pPr>
              <a:lnSpc>
                <a:spcPct val="108000"/>
              </a:lnSpc>
              <a:spcAft>
                <a:spcPts val="600"/>
              </a:spcAft>
            </a:pPr>
            <a:r>
              <a:rPr sz="1500" b="1">
                <a:solidFill>
                  <a:srgbClr val="34D399"/>
                </a:solidFill>
              </a:rPr>
              <a:t>▸ </a:t>
            </a:r>
            <a:r>
              <a:rPr sz="1500" b="1">
                <a:solidFill>
                  <a:srgbClr val="34D399"/>
                </a:solidFill>
              </a:rPr>
              <a:t>Learned ensemble weights</a:t>
            </a:r>
            <a:r>
              <a:rPr sz="1500">
                <a:solidFill>
                  <a:srgbClr val="E8ECF8"/>
                </a:solidFill>
              </a:rPr>
              <a:t> — grid-search fusion weights on a validation split instead of fixed 0.45/0.55</a:t>
            </a:r>
          </a:p>
          <a:p>
            <a:pPr>
              <a:lnSpc>
                <a:spcPct val="108000"/>
              </a:lnSpc>
              <a:spcAft>
                <a:spcPts val="600"/>
              </a:spcAft>
            </a:pPr>
            <a:r>
              <a:rPr sz="1500" b="1">
                <a:solidFill>
                  <a:srgbClr val="A78BFA"/>
                </a:solidFill>
              </a:rPr>
              <a:t>▸ </a:t>
            </a:r>
            <a:r>
              <a:rPr sz="1500" b="1">
                <a:solidFill>
                  <a:srgbClr val="A78BFA"/>
                </a:solidFill>
              </a:rPr>
              <a:t>Stronger judge model</a:t>
            </a:r>
            <a:r>
              <a:rPr sz="1500">
                <a:solidFill>
                  <a:srgbClr val="E8ECF8"/>
                </a:solidFill>
              </a:rPr>
              <a:t> — independent LLM for generation eval; PR-curve driven threshold selection</a:t>
            </a:r>
          </a:p>
          <a:p>
            <a:pPr>
              <a:lnSpc>
                <a:spcPct val="108000"/>
              </a:lnSpc>
              <a:spcAft>
                <a:spcPts val="600"/>
              </a:spcAft>
            </a:pPr>
            <a:r>
              <a:rPr sz="1500" b="1">
                <a:solidFill>
                  <a:srgbClr val="FBBF24"/>
                </a:solidFill>
              </a:rPr>
              <a:t>▸ </a:t>
            </a:r>
            <a:r>
              <a:rPr sz="1500" b="1">
                <a:solidFill>
                  <a:srgbClr val="FBBF24"/>
                </a:solidFill>
              </a:rPr>
              <a:t>Query expansion for weak categories</a:t>
            </a:r>
            <a:r>
              <a:rPr sz="1500">
                <a:solidFill>
                  <a:srgbClr val="E8ECF8"/>
                </a:solidFill>
              </a:rPr>
              <a:t> — LLM-rewritten queries to lift APT / C2 retrieval recall</a:t>
            </a:r>
          </a:p>
          <a:p>
            <a:pPr>
              <a:lnSpc>
                <a:spcPct val="108000"/>
              </a:lnSpc>
              <a:spcAft>
                <a:spcPts val="600"/>
              </a:spcAft>
            </a:pPr>
            <a:r>
              <a:rPr sz="1500" b="1">
                <a:solidFill>
                  <a:srgbClr val="F472B6"/>
                </a:solidFill>
              </a:rPr>
              <a:t>▸ </a:t>
            </a:r>
            <a:r>
              <a:rPr sz="1500" b="1">
                <a:solidFill>
                  <a:srgbClr val="F472B6"/>
                </a:solidFill>
              </a:rPr>
              <a:t>Cloud deployment</a:t>
            </a:r>
            <a:r>
              <a:rPr sz="1500">
                <a:solidFill>
                  <a:srgbClr val="E8ECF8"/>
                </a:solidFill>
              </a:rPr>
              <a:t> — Oracle ARM VM · Docker Compose · API gateway with auth + rate limiting (designed)</a:t>
            </a:r>
          </a:p>
        </p:txBody>
      </p:sp>
      <p:sp>
        <p:nvSpPr>
          <p:cNvPr id="8" name="Oval 7"/>
          <p:cNvSpPr/>
          <p:nvPr/>
        </p:nvSpPr>
        <p:spPr>
          <a:xfrm>
            <a:off x="594360" y="4709160"/>
            <a:ext cx="11064240" cy="1371600"/>
          </a:xfrm>
          <a:prstGeom prst="ellipse">
            <a:avLst/>
          </a:prstGeom>
          <a:solidFill>
            <a:srgbClr val="141A30"/>
          </a:solidFill>
          <a:ln w="254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lIns="320040" tIns="201168"/>
          <a:lstStyle/>
          <a:p>
            <a:pPr algn="ctr"/>
            <a:r>
              <a:rPr sz="1900" b="1">
                <a:solidFill>
                  <a:srgbClr val="E8ECF8"/>
                </a:solidFill>
              </a:rPr>
              <a:t>A SIEM that detects without labels, explains with citations, and updates its own knowledge — </a:t>
            </a:r>
            <a:r>
              <a:rPr sz="1900" b="1">
                <a:solidFill>
                  <a:srgbClr val="F472B6"/>
                </a:solidFill>
              </a:rPr>
              <a:t>auditable, local, and reproducible end-to-end.</a:t>
            </a:r>
          </a:p>
          <a:p>
            <a:r>
              <a:rPr sz="1500">
                <a:solidFill>
                  <a:srgbClr val="9AA6C4"/>
                </a:solidFill>
              </a:rPr>
              <a:t>Thank you — questions welcome.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34D399"/>
                </a:solidFill>
              </a:rPr>
              <a:t>26</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Training Data — </a:t>
            </a:r>
            <a:r>
              <a:rPr sz="3200" b="1">
                <a:solidFill>
                  <a:srgbClr val="34D399"/>
                </a:solidFill>
                <a:latin typeface="Segoe UI"/>
              </a:rPr>
              <a:t>two complementary sources</a:t>
            </a:r>
          </a:p>
          <a:p>
            <a:r>
              <a:rPr sz="1400" i="1">
                <a:solidFill>
                  <a:srgbClr val="9AA6C4"/>
                </a:solidFill>
              </a:rPr>
              <a:t>the model learns 'normal' locally and 'malicious' from the real world</a:t>
            </a:r>
          </a:p>
        </p:txBody>
      </p:sp>
      <p:sp>
        <p:nvSpPr>
          <p:cNvPr id="7" name="TextBox 6"/>
          <p:cNvSpPr txBox="1"/>
          <p:nvPr/>
        </p:nvSpPr>
        <p:spPr>
          <a:xfrm>
            <a:off x="594360" y="1463040"/>
            <a:ext cx="5760720" cy="4206240"/>
          </a:xfrm>
          <a:prstGeom prst="rect">
            <a:avLst/>
          </a:prstGeom>
          <a:noFill/>
        </p:spPr>
        <p:txBody>
          <a:bodyPr wrap="square">
            <a:spAutoFit/>
          </a:bodyPr>
          <a:lstStyle/>
          <a:p>
            <a:pPr>
              <a:lnSpc>
                <a:spcPct val="108000"/>
              </a:lnSpc>
              <a:spcAft>
                <a:spcPts val="600"/>
              </a:spcAft>
            </a:pPr>
            <a:r>
              <a:rPr sz="1500" b="1">
                <a:solidFill>
                  <a:srgbClr val="22D3EE"/>
                </a:solidFill>
              </a:rPr>
              <a:t>▸ </a:t>
            </a:r>
            <a:r>
              <a:rPr sz="1500" b="1">
                <a:solidFill>
                  <a:srgbClr val="22D3EE"/>
                </a:solidFill>
              </a:rPr>
              <a:t>Source 1 — Daily Wazuh collection</a:t>
            </a:r>
            <a:r>
              <a:rPr sz="1500">
                <a:solidFill>
                  <a:srgbClr val="E8ECF8"/>
                </a:solidFill>
              </a:rPr>
              <a:t> — collect_training_data.py runs via cron: reads alerts.json, filters by date, dedups by fingerprint (ts+rule+agent+msg), merges daily snapshots</a:t>
            </a:r>
          </a:p>
          <a:p>
            <a:pPr>
              <a:lnSpc>
                <a:spcPct val="108000"/>
              </a:lnSpc>
              <a:spcAft>
                <a:spcPts val="600"/>
              </a:spcAft>
            </a:pPr>
            <a:r>
              <a:rPr sz="1500" b="1">
                <a:solidFill>
                  <a:srgbClr val="34D399"/>
                </a:solidFill>
              </a:rPr>
              <a:t>▸ </a:t>
            </a:r>
            <a:r>
              <a:rPr sz="1500" b="1">
                <a:solidFill>
                  <a:srgbClr val="34D399"/>
                </a:solidFill>
              </a:rPr>
              <a:t>Teaches the baseline</a:t>
            </a:r>
            <a:r>
              <a:rPr sz="1500">
                <a:solidFill>
                  <a:srgbClr val="E8ECF8"/>
                </a:solidFill>
              </a:rPr>
              <a:t> — authentication, rootcheck, SCA, network monitoring — what THIS deployment's normal looks like</a:t>
            </a:r>
          </a:p>
          <a:p>
            <a:pPr>
              <a:lnSpc>
                <a:spcPct val="108000"/>
              </a:lnSpc>
              <a:spcAft>
                <a:spcPts val="600"/>
              </a:spcAft>
            </a:pPr>
            <a:r>
              <a:rPr sz="1500" b="1">
                <a:solidFill>
                  <a:srgbClr val="F472B6"/>
                </a:solidFill>
              </a:rPr>
              <a:t>▸ </a:t>
            </a:r>
            <a:r>
              <a:rPr sz="1500" b="1">
                <a:solidFill>
                  <a:srgbClr val="F472B6"/>
                </a:solidFill>
              </a:rPr>
              <a:t>Source 2 — WordPress plugin</a:t>
            </a:r>
            <a:r>
              <a:rPr sz="1500">
                <a:solidFill>
                  <a:srgbClr val="E8ECF8"/>
                </a:solidFill>
              </a:rPr>
              <a:t> — a live site under real attack for 2 weeks: brute force, SQLi probes, XSS payloads, automated scanning</a:t>
            </a:r>
          </a:p>
          <a:p>
            <a:pPr>
              <a:lnSpc>
                <a:spcPct val="108000"/>
              </a:lnSpc>
              <a:spcAft>
                <a:spcPts val="600"/>
              </a:spcAft>
            </a:pPr>
            <a:r>
              <a:rPr sz="1500" b="1">
                <a:solidFill>
                  <a:srgbClr val="FB7185"/>
                </a:solidFill>
              </a:rPr>
              <a:t>▸ </a:t>
            </a:r>
            <a:r>
              <a:rPr sz="1500" b="1">
                <a:solidFill>
                  <a:srgbClr val="FB7185"/>
                </a:solidFill>
              </a:rPr>
              <a:t>Teaches malicious patterns</a:t>
            </a:r>
            <a:r>
              <a:rPr sz="1500">
                <a:solidFill>
                  <a:srgbClr val="E8ECF8"/>
                </a:solidFill>
              </a:rPr>
              <a:t> — genuine attack behavior the local host would rarely produce on its own</a:t>
            </a:r>
          </a:p>
        </p:txBody>
      </p:sp>
      <p:sp>
        <p:nvSpPr>
          <p:cNvPr id="8" name="Oval 7"/>
          <p:cNvSpPr/>
          <p:nvPr/>
        </p:nvSpPr>
        <p:spPr>
          <a:xfrm>
            <a:off x="6766560" y="1554480"/>
            <a:ext cx="4754880" cy="1371600"/>
          </a:xfrm>
          <a:prstGeom prst="ellipse">
            <a:avLst/>
          </a:prstGeom>
          <a:solidFill>
            <a:srgbClr val="141A30"/>
          </a:solidFill>
          <a:ln w="2032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34D399"/>
                </a:solidFill>
              </a:rPr>
              <a:t>2,171</a:t>
            </a:r>
          </a:p>
          <a:p>
            <a:pPr algn="ctr"/>
            <a:r>
              <a:rPr sz="1100">
                <a:solidFill>
                  <a:srgbClr val="9AA6C4"/>
                </a:solidFill>
              </a:rPr>
              <a:t>TOTAL ALERTS (D_train)</a:t>
            </a:r>
          </a:p>
        </p:txBody>
      </p:sp>
      <p:sp>
        <p:nvSpPr>
          <p:cNvPr id="9" name="Oval 8"/>
          <p:cNvSpPr/>
          <p:nvPr/>
        </p:nvSpPr>
        <p:spPr>
          <a:xfrm>
            <a:off x="6766560" y="3063240"/>
            <a:ext cx="2286000" cy="1371600"/>
          </a:xfrm>
          <a:prstGeom prst="ellipse">
            <a:avLst/>
          </a:prstGeom>
          <a:solidFill>
            <a:srgbClr val="141A30"/>
          </a:solidFill>
          <a:ln w="2032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22D3EE"/>
                </a:solidFill>
              </a:rPr>
              <a:t>1,534</a:t>
            </a:r>
          </a:p>
          <a:p>
            <a:pPr algn="ctr"/>
            <a:r>
              <a:rPr sz="1100">
                <a:solidFill>
                  <a:srgbClr val="9AA6C4"/>
                </a:solidFill>
              </a:rPr>
              <a:t>BENIGN</a:t>
            </a:r>
          </a:p>
        </p:txBody>
      </p:sp>
      <p:sp>
        <p:nvSpPr>
          <p:cNvPr id="10" name="Oval 9"/>
          <p:cNvSpPr/>
          <p:nvPr/>
        </p:nvSpPr>
        <p:spPr>
          <a:xfrm>
            <a:off x="9235440" y="3063240"/>
            <a:ext cx="2286000" cy="1371600"/>
          </a:xfrm>
          <a:prstGeom prst="ellipse">
            <a:avLst/>
          </a:prstGeom>
          <a:solidFill>
            <a:srgbClr val="141A30"/>
          </a:solidFill>
          <a:ln w="2032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B7185"/>
                </a:solidFill>
              </a:rPr>
              <a:t>637</a:t>
            </a:r>
          </a:p>
          <a:p>
            <a:pPr algn="ctr"/>
            <a:r>
              <a:rPr sz="1100">
                <a:solidFill>
                  <a:srgbClr val="9AA6C4"/>
                </a:solidFill>
              </a:rPr>
              <a:t>ATTACK</a:t>
            </a:r>
          </a:p>
        </p:txBody>
      </p:sp>
      <p:sp>
        <p:nvSpPr>
          <p:cNvPr id="11" name="Oval 10"/>
          <p:cNvSpPr/>
          <p:nvPr/>
        </p:nvSpPr>
        <p:spPr>
          <a:xfrm>
            <a:off x="6766560" y="4572000"/>
            <a:ext cx="4754880" cy="1371600"/>
          </a:xfrm>
          <a:prstGeom prst="ellipse">
            <a:avLst/>
          </a:prstGeom>
          <a:solidFill>
            <a:srgbClr val="141A30"/>
          </a:solidFill>
          <a:ln w="203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BBF24"/>
                </a:solidFill>
              </a:rPr>
              <a:t>182</a:t>
            </a:r>
          </a:p>
          <a:p>
            <a:pPr algn="ctr"/>
            <a:r>
              <a:rPr sz="1100">
                <a:solidFill>
                  <a:srgbClr val="9AA6C4"/>
                </a:solidFill>
              </a:rPr>
              <a:t>HELD-OUT TEST SET (D_test)</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A78BFA"/>
                </a:solidFill>
              </a:rPr>
              <a:t>27</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Why These Two — </a:t>
            </a:r>
            <a:r>
              <a:rPr sz="3200" b="1">
                <a:solidFill>
                  <a:srgbClr val="A78BFA"/>
                </a:solidFill>
                <a:latin typeface="Segoe UI"/>
              </a:rPr>
              <a:t>algorithm comparison</a:t>
            </a:r>
          </a:p>
          <a:p>
            <a:r>
              <a:rPr sz="1400" i="1">
                <a:solidFill>
                  <a:srgbClr val="9AA6C4"/>
                </a:solidFill>
              </a:rPr>
              <a:t>IF + AE were selected after evaluating the leading unsupervised alternatives for SIEM scoring</a:t>
            </a:r>
          </a:p>
        </p:txBody>
      </p:sp>
      <p:graphicFrame>
        <p:nvGraphicFramePr>
          <p:cNvPr id="7" name="Table 6"/>
          <p:cNvGraphicFramePr>
            <a:graphicFrameLocks noGrp="1"/>
          </p:cNvGraphicFramePr>
          <p:nvPr/>
        </p:nvGraphicFramePr>
        <p:xfrm>
          <a:off x="548640" y="1554480"/>
          <a:ext cx="11064240" cy="3968496"/>
        </p:xfrm>
        <a:graphic>
          <a:graphicData uri="http://schemas.openxmlformats.org/drawingml/2006/table">
            <a:tbl>
              <a:tblPr firstRow="1" bandRow="1">
                <a:tableStyleId>{5C22544A-7EE6-4342-B048-85BDC9FD1C3A}</a:tableStyleId>
              </a:tblPr>
              <a:tblGrid>
                <a:gridCol w="2377440"/>
                <a:gridCol w="5669280"/>
                <a:gridCol w="3017520"/>
              </a:tblGrid>
              <a:tr h="566928">
                <a:tc>
                  <a:txBody>
                    <a:bodyPr/>
                    <a:lstStyle/>
                    <a:p>
                      <a:r>
                        <a:rPr sz="1250" b="1">
                          <a:solidFill>
                            <a:srgbClr val="A78BFA"/>
                          </a:solidFill>
                        </a:rPr>
                        <a:t>Method</a:t>
                      </a:r>
                    </a:p>
                  </a:txBody>
                  <a:tcPr>
                    <a:solidFill>
                      <a:srgbClr val="141A30"/>
                    </a:solidFill>
                  </a:tcPr>
                </a:tc>
                <a:tc>
                  <a:txBody>
                    <a:bodyPr/>
                    <a:lstStyle/>
                    <a:p>
                      <a:r>
                        <a:rPr sz="1250" b="1">
                          <a:solidFill>
                            <a:srgbClr val="A78BFA"/>
                          </a:solidFill>
                        </a:rPr>
                        <a:t>Weakness for SIEM</a:t>
                      </a:r>
                    </a:p>
                  </a:txBody>
                  <a:tcPr>
                    <a:solidFill>
                      <a:srgbClr val="141A30"/>
                    </a:solidFill>
                  </a:tcPr>
                </a:tc>
                <a:tc>
                  <a:txBody>
                    <a:bodyPr/>
                    <a:lstStyle/>
                    <a:p>
                      <a:r>
                        <a:rPr sz="1250" b="1">
                          <a:solidFill>
                            <a:srgbClr val="A78BFA"/>
                          </a:solidFill>
                        </a:rPr>
                        <a:t>Verdict</a:t>
                      </a:r>
                    </a:p>
                  </a:txBody>
                  <a:tcPr>
                    <a:solidFill>
                      <a:srgbClr val="141A30"/>
                    </a:solidFill>
                  </a:tcPr>
                </a:tc>
              </a:tr>
              <a:tr h="566928">
                <a:tc>
                  <a:txBody>
                    <a:bodyPr/>
                    <a:lstStyle/>
                    <a:p>
                      <a:r>
                        <a:rPr sz="1200" b="1">
                          <a:solidFill>
                            <a:srgbClr val="E8ECF8"/>
                          </a:solidFill>
                        </a:rPr>
                        <a:t>Isolation Forest</a:t>
                      </a:r>
                    </a:p>
                  </a:txBody>
                  <a:tcPr>
                    <a:solidFill>
                      <a:srgbClr val="0B0E1A"/>
                    </a:solidFill>
                  </a:tcPr>
                </a:tc>
                <a:tc>
                  <a:txBody>
                    <a:bodyPr/>
                    <a:lstStyle/>
                    <a:p>
                      <a:r>
                        <a:rPr sz="1200">
                          <a:solidFill>
                            <a:srgbClr val="9AA6C4"/>
                          </a:solidFill>
                        </a:rPr>
                        <a:t>random splits can miss subtle low-dim patterns</a:t>
                      </a:r>
                    </a:p>
                  </a:txBody>
                  <a:tcPr>
                    <a:solidFill>
                      <a:srgbClr val="0B0E1A"/>
                    </a:solidFill>
                  </a:tcPr>
                </a:tc>
                <a:tc>
                  <a:txBody>
                    <a:bodyPr/>
                    <a:lstStyle/>
                    <a:p>
                      <a:r>
                        <a:rPr sz="1200">
                          <a:solidFill>
                            <a:srgbClr val="9AA6C4"/>
                          </a:solidFill>
                        </a:rPr>
                        <a:t>SELECTED — best in ensemble</a:t>
                      </a:r>
                    </a:p>
                  </a:txBody>
                  <a:tcPr>
                    <a:solidFill>
                      <a:srgbClr val="0B0E1A"/>
                    </a:solidFill>
                  </a:tcPr>
                </a:tc>
              </a:tr>
              <a:tr h="566928">
                <a:tc>
                  <a:txBody>
                    <a:bodyPr/>
                    <a:lstStyle/>
                    <a:p>
                      <a:r>
                        <a:rPr sz="1200" b="1">
                          <a:solidFill>
                            <a:srgbClr val="E8ECF8"/>
                          </a:solidFill>
                        </a:rPr>
                        <a:t>Autoencoder (MLP)</a:t>
                      </a:r>
                    </a:p>
                  </a:txBody>
                  <a:tcPr>
                    <a:solidFill>
                      <a:srgbClr val="0B0E1A"/>
                    </a:solidFill>
                  </a:tcPr>
                </a:tc>
                <a:tc>
                  <a:txBody>
                    <a:bodyPr/>
                    <a:lstStyle/>
                    <a:p>
                      <a:r>
                        <a:rPr sz="1200">
                          <a:solidFill>
                            <a:srgbClr val="9AA6C4"/>
                          </a:solidFill>
                        </a:rPr>
                        <a:t>needs GPU / tuning; interpretability is poor</a:t>
                      </a:r>
                    </a:p>
                  </a:txBody>
                  <a:tcPr>
                    <a:solidFill>
                      <a:srgbClr val="0B0E1A"/>
                    </a:solidFill>
                  </a:tcPr>
                </a:tc>
                <a:tc>
                  <a:txBody>
                    <a:bodyPr/>
                    <a:lstStyle/>
                    <a:p>
                      <a:r>
                        <a:rPr sz="1200">
                          <a:solidFill>
                            <a:srgbClr val="9AA6C4"/>
                          </a:solidFill>
                        </a:rPr>
                        <a:t>SELECTED — best in ensemble</a:t>
                      </a:r>
                    </a:p>
                  </a:txBody>
                  <a:tcPr>
                    <a:solidFill>
                      <a:srgbClr val="0B0E1A"/>
                    </a:solidFill>
                  </a:tcPr>
                </a:tc>
              </a:tr>
              <a:tr h="566928">
                <a:tc>
                  <a:txBody>
                    <a:bodyPr/>
                    <a:lstStyle/>
                    <a:p>
                      <a:r>
                        <a:rPr sz="1200" b="1">
                          <a:solidFill>
                            <a:srgbClr val="E8ECF8"/>
                          </a:solidFill>
                        </a:rPr>
                        <a:t>One-Class SVM</a:t>
                      </a:r>
                    </a:p>
                  </a:txBody>
                  <a:tcPr>
                    <a:solidFill>
                      <a:srgbClr val="0B0E1A"/>
                    </a:solidFill>
                  </a:tcPr>
                </a:tc>
                <a:tc>
                  <a:txBody>
                    <a:bodyPr/>
                    <a:lstStyle/>
                    <a:p>
                      <a:r>
                        <a:rPr sz="1200">
                          <a:solidFill>
                            <a:srgbClr val="9AA6C4"/>
                          </a:solidFill>
                        </a:rPr>
                        <a:t>O(n²)–O(n³) training; impractical at SIEM scale</a:t>
                      </a:r>
                    </a:p>
                  </a:txBody>
                  <a:tcPr>
                    <a:solidFill>
                      <a:srgbClr val="0B0E1A"/>
                    </a:solidFill>
                  </a:tcPr>
                </a:tc>
                <a:tc>
                  <a:txBody>
                    <a:bodyPr/>
                    <a:lstStyle/>
                    <a:p>
                      <a:r>
                        <a:rPr sz="1200">
                          <a:solidFill>
                            <a:srgbClr val="9AA6C4"/>
                          </a:solidFill>
                        </a:rPr>
                        <a:t>Rejected — scalability</a:t>
                      </a:r>
                    </a:p>
                  </a:txBody>
                  <a:tcPr>
                    <a:solidFill>
                      <a:srgbClr val="0B0E1A"/>
                    </a:solidFill>
                  </a:tcPr>
                </a:tc>
              </a:tr>
              <a:tr h="566928">
                <a:tc>
                  <a:txBody>
                    <a:bodyPr/>
                    <a:lstStyle/>
                    <a:p>
                      <a:r>
                        <a:rPr sz="1200" b="1">
                          <a:solidFill>
                            <a:srgbClr val="E8ECF8"/>
                          </a:solidFill>
                        </a:rPr>
                        <a:t>Local Outlier Factor</a:t>
                      </a:r>
                    </a:p>
                  </a:txBody>
                  <a:tcPr>
                    <a:solidFill>
                      <a:srgbClr val="0B0E1A"/>
                    </a:solidFill>
                  </a:tcPr>
                </a:tc>
                <a:tc>
                  <a:txBody>
                    <a:bodyPr/>
                    <a:lstStyle/>
                    <a:p>
                      <a:r>
                        <a:rPr sz="1200">
                          <a:solidFill>
                            <a:srgbClr val="9AA6C4"/>
                          </a:solidFill>
                        </a:rPr>
                        <a:t>O(n²) kNN; no persistable model to score new points</a:t>
                      </a:r>
                    </a:p>
                  </a:txBody>
                  <a:tcPr>
                    <a:solidFill>
                      <a:srgbClr val="0B0E1A"/>
                    </a:solidFill>
                  </a:tcPr>
                </a:tc>
                <a:tc>
                  <a:txBody>
                    <a:bodyPr/>
                    <a:lstStyle/>
                    <a:p>
                      <a:r>
                        <a:rPr sz="1200">
                          <a:solidFill>
                            <a:srgbClr val="9AA6C4"/>
                          </a:solidFill>
                        </a:rPr>
                        <a:t>Rejected — no persistence</a:t>
                      </a:r>
                    </a:p>
                  </a:txBody>
                  <a:tcPr>
                    <a:solidFill>
                      <a:srgbClr val="0B0E1A"/>
                    </a:solidFill>
                  </a:tcPr>
                </a:tc>
              </a:tr>
              <a:tr h="566928">
                <a:tc>
                  <a:txBody>
                    <a:bodyPr/>
                    <a:lstStyle/>
                    <a:p>
                      <a:r>
                        <a:rPr sz="1200" b="1">
                          <a:solidFill>
                            <a:srgbClr val="E8ECF8"/>
                          </a:solidFill>
                        </a:rPr>
                        <a:t>Gaussian Mixture</a:t>
                      </a:r>
                    </a:p>
                  </a:txBody>
                  <a:tcPr>
                    <a:solidFill>
                      <a:srgbClr val="0B0E1A"/>
                    </a:solidFill>
                  </a:tcPr>
                </a:tc>
                <a:tc>
                  <a:txBody>
                    <a:bodyPr/>
                    <a:lstStyle/>
                    <a:p>
                      <a:r>
                        <a:rPr sz="1200">
                          <a:solidFill>
                            <a:srgbClr val="9AA6C4"/>
                          </a:solidFill>
                        </a:rPr>
                        <a:t>assumes Gaussian; poor on non-Gaussian security data</a:t>
                      </a:r>
                    </a:p>
                  </a:txBody>
                  <a:tcPr>
                    <a:solidFill>
                      <a:srgbClr val="0B0E1A"/>
                    </a:solidFill>
                  </a:tcPr>
                </a:tc>
                <a:tc>
                  <a:txBody>
                    <a:bodyPr/>
                    <a:lstStyle/>
                    <a:p>
                      <a:r>
                        <a:rPr sz="1200">
                          <a:solidFill>
                            <a:srgbClr val="9AA6C4"/>
                          </a:solidFill>
                        </a:rPr>
                        <a:t>Rejected — distribution assumption</a:t>
                      </a:r>
                    </a:p>
                  </a:txBody>
                  <a:tcPr>
                    <a:solidFill>
                      <a:srgbClr val="0B0E1A"/>
                    </a:solidFill>
                  </a:tcPr>
                </a:tc>
              </a:tr>
              <a:tr h="566928">
                <a:tc>
                  <a:txBody>
                    <a:bodyPr/>
                    <a:lstStyle/>
                    <a:p>
                      <a:r>
                        <a:rPr sz="1200" b="1">
                          <a:solidFill>
                            <a:srgbClr val="E8ECF8"/>
                          </a:solidFill>
                        </a:rPr>
                        <a:t>DBSCAN</a:t>
                      </a:r>
                    </a:p>
                  </a:txBody>
                  <a:tcPr>
                    <a:solidFill>
                      <a:srgbClr val="0B0E1A"/>
                    </a:solidFill>
                  </a:tcPr>
                </a:tc>
                <a:tc>
                  <a:txBody>
                    <a:bodyPr/>
                    <a:lstStyle/>
                    <a:p>
                      <a:r>
                        <a:rPr sz="1200">
                          <a:solidFill>
                            <a:srgbClr val="9AA6C4"/>
                          </a:solidFill>
                        </a:rPr>
                        <a:t>eps/min_samples sensitive; produces no anomaly score</a:t>
                      </a:r>
                    </a:p>
                  </a:txBody>
                  <a:tcPr>
                    <a:solidFill>
                      <a:srgbClr val="0B0E1A"/>
                    </a:solidFill>
                  </a:tcPr>
                </a:tc>
                <a:tc>
                  <a:txBody>
                    <a:bodyPr/>
                    <a:lstStyle/>
                    <a:p>
                      <a:r>
                        <a:rPr sz="1200">
                          <a:solidFill>
                            <a:srgbClr val="9AA6C4"/>
                          </a:solidFill>
                        </a:rPr>
                        <a:t>Rejected — no scoring output</a:t>
                      </a:r>
                    </a:p>
                  </a:txBody>
                  <a:tcPr>
                    <a:solidFill>
                      <a:srgbClr val="0B0E1A"/>
                    </a:solidFill>
                  </a:tcPr>
                </a:tc>
              </a:tr>
            </a:tbl>
          </a:graphicData>
        </a:graphic>
      </p:graphicFrame>
      <p:sp>
        <p:nvSpPr>
          <p:cNvPr id="8" name="TextBox 7"/>
          <p:cNvSpPr txBox="1"/>
          <p:nvPr/>
        </p:nvSpPr>
        <p:spPr>
          <a:xfrm>
            <a:off x="594360" y="5989320"/>
            <a:ext cx="10972800" cy="548640"/>
          </a:xfrm>
          <a:prstGeom prst="rect">
            <a:avLst/>
          </a:prstGeom>
          <a:noFill/>
        </p:spPr>
        <p:txBody>
          <a:bodyPr wrap="square">
            <a:spAutoFit/>
          </a:bodyPr>
          <a:lstStyle/>
          <a:p>
            <a:pPr algn="l">
              <a:lnSpc>
                <a:spcPct val="100000"/>
              </a:lnSpc>
            </a:pPr>
            <a:r>
              <a:rPr sz="1300" b="0">
                <a:solidFill>
                  <a:srgbClr val="9AA6C4"/>
                </a:solidFill>
                <a:latin typeface="Segoe UI"/>
              </a:rPr>
              <a:t>Linear-time scoring, model persistence, no distribution assumptions, and native anomaly scores — only IF + AE satisfy all four.</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22D3EE"/>
                </a:solidFill>
              </a:rPr>
              <a:t>28</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Feature Ablation — </a:t>
            </a:r>
            <a:r>
              <a:rPr sz="3200" b="1">
                <a:solidFill>
                  <a:srgbClr val="22D3EE"/>
                </a:solidFill>
                <a:latin typeface="Segoe UI"/>
              </a:rPr>
              <a:t>which signals actually matter</a:t>
            </a:r>
          </a:p>
          <a:p>
            <a:r>
              <a:rPr sz="1400" i="1">
                <a:solidFill>
                  <a:srgbClr val="9AA6C4"/>
                </a:solidFill>
              </a:rPr>
              <a:t>each variant fully retrained (&lt;5 s on ~2,000 samples) and re-evaluated on the full unlabeled set</a:t>
            </a:r>
          </a:p>
        </p:txBody>
      </p:sp>
      <p:pic>
        <p:nvPicPr>
          <p:cNvPr id="7" name="Picture 6" descr="ablation.png"/>
          <p:cNvPicPr>
            <a:picLocks noChangeAspect="1"/>
          </p:cNvPicPr>
          <p:nvPr/>
        </p:nvPicPr>
        <p:blipFill>
          <a:blip r:embed="rId2"/>
          <a:stretch>
            <a:fillRect/>
          </a:stretch>
        </p:blipFill>
        <p:spPr>
          <a:xfrm>
            <a:off x="1371600" y="1417320"/>
            <a:ext cx="9418320" cy="4785299"/>
          </a:xfrm>
          <a:prstGeom prst="rect">
            <a:avLst/>
          </a:prstGeom>
        </p:spPr>
      </p:pic>
      <p:sp>
        <p:nvSpPr>
          <p:cNvPr id="8" name="TextBox 7"/>
          <p:cNvSpPr txBox="1"/>
          <p:nvPr/>
        </p:nvSpPr>
        <p:spPr>
          <a:xfrm>
            <a:off x="640080" y="5623560"/>
            <a:ext cx="11064240" cy="1097280"/>
          </a:xfrm>
          <a:prstGeom prst="rect">
            <a:avLst/>
          </a:prstGeom>
          <a:noFill/>
        </p:spPr>
        <p:txBody>
          <a:bodyPr wrap="square">
            <a:spAutoFit/>
          </a:bodyPr>
          <a:lstStyle/>
          <a:p>
            <a:pPr>
              <a:lnSpc>
                <a:spcPct val="108000"/>
              </a:lnSpc>
              <a:spcAft>
                <a:spcPts val="600"/>
              </a:spcAft>
            </a:pPr>
            <a:r>
              <a:rPr sz="1400" b="1">
                <a:solidFill>
                  <a:srgbClr val="34D399"/>
                </a:solidFill>
              </a:rPr>
              <a:t>▸ </a:t>
            </a:r>
            <a:r>
              <a:rPr sz="1400" b="1">
                <a:solidFill>
                  <a:srgbClr val="34D399"/>
                </a:solidFill>
              </a:rPr>
              <a:t>Top 3 features</a:t>
            </a:r>
            <a:r>
              <a:rPr sz="1400">
                <a:solidFill>
                  <a:srgbClr val="E8ECF8"/>
                </a:solidFill>
              </a:rPr>
              <a:t> — privileged_account_change (−6.3% F1) · failed_count (−5.7%) · rule_level (−4.1%)</a:t>
            </a:r>
          </a:p>
          <a:p>
            <a:pPr>
              <a:lnSpc>
                <a:spcPct val="108000"/>
              </a:lnSpc>
              <a:spcAft>
                <a:spcPts val="600"/>
              </a:spcAft>
            </a:pPr>
            <a:r>
              <a:rPr sz="1400" b="1">
                <a:solidFill>
                  <a:srgbClr val="FB7185"/>
                </a:solidFill>
              </a:rPr>
              <a:t>▸ </a:t>
            </a:r>
            <a:r>
              <a:rPr sz="1400" b="1">
                <a:solidFill>
                  <a:srgbClr val="FB7185"/>
                </a:solidFill>
              </a:rPr>
              <a:t>mitre_count REJECTED</a:t>
            </a:r>
            <a:r>
              <a:rPr sz="1400">
                <a:solidFill>
                  <a:srgbClr val="E8ECF8"/>
                </a:solidFill>
              </a:rPr>
              <a:t> — +8.9% FP rate — train/prod distribution mismatch (Wazuh tags benign SSH logins with MITRE IDs)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7185"/>
                </a:solidFill>
              </a:rPr>
              <a:t>29</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Attack Testing &amp; </a:t>
            </a:r>
            <a:r>
              <a:rPr sz="3200" b="1">
                <a:solidFill>
                  <a:srgbClr val="FB7185"/>
                </a:solidFill>
                <a:latin typeface="Segoe UI"/>
              </a:rPr>
              <a:t>live map population</a:t>
            </a:r>
          </a:p>
          <a:p>
            <a:r>
              <a:rPr sz="1400" i="1">
                <a:solidFill>
                  <a:srgbClr val="9AA6C4"/>
                </a:solidFill>
              </a:rPr>
              <a:t>the pipeline is validated end-to-end against real, executed attacks — not synthetic feature vectors</a:t>
            </a:r>
          </a:p>
        </p:txBody>
      </p:sp>
      <p:pic>
        <p:nvPicPr>
          <p:cNvPr id="7" name="Picture 6" descr="attack_sim.png"/>
          <p:cNvPicPr>
            <a:picLocks noChangeAspect="1"/>
          </p:cNvPicPr>
          <p:nvPr/>
        </p:nvPicPr>
        <p:blipFill>
          <a:blip r:embed="rId2"/>
          <a:stretch>
            <a:fillRect/>
          </a:stretch>
        </p:blipFill>
        <p:spPr>
          <a:xfrm>
            <a:off x="1097280" y="1371600"/>
            <a:ext cx="9966960" cy="5373380"/>
          </a:xfrm>
          <a:prstGeom prst="rect">
            <a:avLst/>
          </a:prstGeom>
        </p:spPr>
      </p:pic>
      <p:sp>
        <p:nvSpPr>
          <p:cNvPr id="8" name="TextBox 7"/>
          <p:cNvSpPr txBox="1"/>
          <p:nvPr/>
        </p:nvSpPr>
        <p:spPr>
          <a:xfrm>
            <a:off x="640080" y="5623560"/>
            <a:ext cx="11064240" cy="1097280"/>
          </a:xfrm>
          <a:prstGeom prst="rect">
            <a:avLst/>
          </a:prstGeom>
          <a:noFill/>
        </p:spPr>
        <p:txBody>
          <a:bodyPr wrap="square">
            <a:spAutoFit/>
          </a:bodyPr>
          <a:lstStyle/>
          <a:p>
            <a:pPr>
              <a:lnSpc>
                <a:spcPct val="108000"/>
              </a:lnSpc>
              <a:spcAft>
                <a:spcPts val="600"/>
              </a:spcAft>
            </a:pPr>
            <a:r>
              <a:rPr sz="1300" b="1">
                <a:solidFill>
                  <a:srgbClr val="FB7185"/>
                </a:solidFill>
              </a:rPr>
              <a:t>▸ </a:t>
            </a:r>
            <a:r>
              <a:rPr sz="1300" b="1">
                <a:solidFill>
                  <a:srgbClr val="FB7185"/>
                </a:solidFill>
              </a:rPr>
              <a:t>simulate_attack_for_wazuh.sh</a:t>
            </a:r>
            <a:r>
              <a:rPr sz="1300">
                <a:solidFill>
                  <a:srgbClr val="E8ECF8"/>
                </a:solidFill>
              </a:rPr>
              <a:t> — runs 14 attack families as real commands → Wazuh detects → ensemble scores (trojanized files, rootkit hidden files, PAM/SU failures, port changes, MITRE-tagged events T1548/T1078/T1110/T1014)</a:t>
            </a:r>
          </a:p>
          <a:p>
            <a:pPr>
              <a:lnSpc>
                <a:spcPct val="108000"/>
              </a:lnSpc>
              <a:spcAft>
                <a:spcPts val="600"/>
              </a:spcAft>
            </a:pPr>
            <a:r>
              <a:rPr sz="1300" b="1">
                <a:solidFill>
                  <a:srgbClr val="F472B6"/>
                </a:solidFill>
              </a:rPr>
              <a:t>▸ </a:t>
            </a:r>
            <a:r>
              <a:rPr sz="1300" b="1">
                <a:solidFill>
                  <a:srgbClr val="F472B6"/>
                </a:solidFill>
              </a:rPr>
              <a:t>populate_map.py</a:t>
            </a:r>
            <a:r>
              <a:rPr sz="1300">
                <a:solidFill>
                  <a:srgbClr val="E8ECF8"/>
                </a:solidFill>
              </a:rPr>
              <a:t> — injects synthetic alerts with real public source IPs → geolocated → Leaflet dark world map of attack origins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E1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6838950"/>
            <a:ext cx="12191695" cy="19050"/>
          </a:xfrm>
          <a:prstGeom prst="rect">
            <a:avLst/>
          </a:prstGeom>
          <a:solidFill>
            <a:srgbClr val="141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73952"/>
            <a:ext cx="5486400" cy="292608"/>
          </a:xfrm>
          <a:prstGeom prst="rect">
            <a:avLst/>
          </a:prstGeom>
          <a:noFill/>
        </p:spPr>
        <p:txBody>
          <a:bodyPr wrap="none">
            <a:spAutoFit/>
          </a:bodyPr>
          <a:lstStyle/>
          <a:p>
            <a:r>
              <a:rPr sz="900">
                <a:solidFill>
                  <a:srgbClr val="58627E"/>
                </a:solidFill>
              </a:rPr>
              <a:t>AI Threat Engine · Diana Maria Secarea</a:t>
            </a:r>
          </a:p>
        </p:txBody>
      </p:sp>
      <p:sp>
        <p:nvSpPr>
          <p:cNvPr id="5" name="TextBox 4"/>
          <p:cNvSpPr txBox="1"/>
          <p:nvPr/>
        </p:nvSpPr>
        <p:spPr>
          <a:xfrm>
            <a:off x="11002975" y="6473952"/>
            <a:ext cx="822960" cy="292608"/>
          </a:xfrm>
          <a:prstGeom prst="rect">
            <a:avLst/>
          </a:prstGeom>
          <a:noFill/>
        </p:spPr>
        <p:txBody>
          <a:bodyPr wrap="none">
            <a:spAutoFit/>
          </a:bodyPr>
          <a:lstStyle/>
          <a:p>
            <a:pPr algn="r"/>
            <a:r>
              <a:rPr sz="900" b="1">
                <a:solidFill>
                  <a:srgbClr val="FBBF24"/>
                </a:solidFill>
              </a:rPr>
              <a:t>30</a:t>
            </a:r>
          </a:p>
        </p:txBody>
      </p:sp>
      <p:sp>
        <p:nvSpPr>
          <p:cNvPr id="6" name="TextBox 5"/>
          <p:cNvSpPr txBox="1"/>
          <p:nvPr/>
        </p:nvSpPr>
        <p:spPr>
          <a:xfrm>
            <a:off x="502920" y="292608"/>
            <a:ext cx="11247120" cy="1005840"/>
          </a:xfrm>
          <a:prstGeom prst="rect">
            <a:avLst/>
          </a:prstGeom>
          <a:noFill/>
        </p:spPr>
        <p:txBody>
          <a:bodyPr wrap="square">
            <a:spAutoFit/>
          </a:bodyPr>
          <a:lstStyle/>
          <a:p>
            <a:r>
              <a:rPr sz="3200" b="1">
                <a:solidFill>
                  <a:srgbClr val="E8ECF8"/>
                </a:solidFill>
                <a:latin typeface="Segoe UI"/>
              </a:rPr>
              <a:t>Design Choices — </a:t>
            </a:r>
            <a:r>
              <a:rPr sz="3200" b="1">
                <a:solidFill>
                  <a:srgbClr val="FBBF24"/>
                </a:solidFill>
                <a:latin typeface="Segoe UI"/>
              </a:rPr>
              <a:t>RAG over fine-tuning</a:t>
            </a:r>
          </a:p>
          <a:p>
            <a:r>
              <a:rPr sz="1400" i="1">
                <a:solidFill>
                  <a:srgbClr val="9AA6C4"/>
                </a:solidFill>
              </a:rPr>
              <a:t>why retrieval, why MiniLM, why RRF instead of a cross-encoder</a:t>
            </a:r>
          </a:p>
        </p:txBody>
      </p:sp>
      <p:graphicFrame>
        <p:nvGraphicFramePr>
          <p:cNvPr id="7" name="Table 6"/>
          <p:cNvGraphicFramePr>
            <a:graphicFrameLocks noGrp="1"/>
          </p:cNvGraphicFramePr>
          <p:nvPr/>
        </p:nvGraphicFramePr>
        <p:xfrm>
          <a:off x="548640" y="1508760"/>
          <a:ext cx="5486400" cy="3017520"/>
        </p:xfrm>
        <a:graphic>
          <a:graphicData uri="http://schemas.openxmlformats.org/drawingml/2006/table">
            <a:tbl>
              <a:tblPr firstRow="1" bandRow="1">
                <a:tableStyleId>{5C22544A-7EE6-4342-B048-85BDC9FD1C3A}</a:tableStyleId>
              </a:tblPr>
              <a:tblGrid>
                <a:gridCol w="2011680"/>
                <a:gridCol w="1737360"/>
                <a:gridCol w="1737360"/>
              </a:tblGrid>
              <a:tr h="502920">
                <a:tc>
                  <a:txBody>
                    <a:bodyPr/>
                    <a:lstStyle/>
                    <a:p>
                      <a:r>
                        <a:rPr sz="1200" b="1">
                          <a:solidFill>
                            <a:srgbClr val="FBBF24"/>
                          </a:solidFill>
                        </a:rPr>
                        <a:t>Dimension</a:t>
                      </a:r>
                    </a:p>
                  </a:txBody>
                  <a:tcPr>
                    <a:solidFill>
                      <a:srgbClr val="141A30"/>
                    </a:solidFill>
                  </a:tcPr>
                </a:tc>
                <a:tc>
                  <a:txBody>
                    <a:bodyPr/>
                    <a:lstStyle/>
                    <a:p>
                      <a:r>
                        <a:rPr sz="1200" b="1">
                          <a:solidFill>
                            <a:srgbClr val="FBBF24"/>
                          </a:solidFill>
                        </a:rPr>
                        <a:t>Fine-tune</a:t>
                      </a:r>
                    </a:p>
                  </a:txBody>
                  <a:tcPr>
                    <a:solidFill>
                      <a:srgbClr val="141A30"/>
                    </a:solidFill>
                  </a:tcPr>
                </a:tc>
                <a:tc>
                  <a:txBody>
                    <a:bodyPr/>
                    <a:lstStyle/>
                    <a:p>
                      <a:r>
                        <a:rPr sz="1200" b="1">
                          <a:solidFill>
                            <a:srgbClr val="FBBF24"/>
                          </a:solidFill>
                        </a:rPr>
                        <a:t>RAG</a:t>
                      </a:r>
                    </a:p>
                  </a:txBody>
                  <a:tcPr>
                    <a:solidFill>
                      <a:srgbClr val="141A30"/>
                    </a:solidFill>
                  </a:tcPr>
                </a:tc>
              </a:tr>
              <a:tr h="502920">
                <a:tc>
                  <a:txBody>
                    <a:bodyPr/>
                    <a:lstStyle/>
                    <a:p>
                      <a:r>
                        <a:rPr sz="1150" b="1">
                          <a:solidFill>
                            <a:srgbClr val="E8ECF8"/>
                          </a:solidFill>
                        </a:rPr>
                        <a:t>Knowledge update</a:t>
                      </a:r>
                    </a:p>
                  </a:txBody>
                  <a:tcPr>
                    <a:solidFill>
                      <a:srgbClr val="0B0E1A"/>
                    </a:solidFill>
                  </a:tcPr>
                </a:tc>
                <a:tc>
                  <a:txBody>
                    <a:bodyPr/>
                    <a:lstStyle/>
                    <a:p>
                      <a:r>
                        <a:rPr sz="1150">
                          <a:solidFill>
                            <a:srgbClr val="9AA6C4"/>
                          </a:solidFill>
                        </a:rPr>
                        <a:t>hours–days</a:t>
                      </a:r>
                    </a:p>
                  </a:txBody>
                  <a:tcPr>
                    <a:solidFill>
                      <a:srgbClr val="0B0E1A"/>
                    </a:solidFill>
                  </a:tcPr>
                </a:tc>
                <a:tc>
                  <a:txBody>
                    <a:bodyPr/>
                    <a:lstStyle/>
                    <a:p>
                      <a:r>
                        <a:rPr sz="1150">
                          <a:solidFill>
                            <a:srgbClr val="9AA6C4"/>
                          </a:solidFill>
                        </a:rPr>
                        <a:t>seconds</a:t>
                      </a:r>
                    </a:p>
                  </a:txBody>
                  <a:tcPr>
                    <a:solidFill>
                      <a:srgbClr val="0B0E1A"/>
                    </a:solidFill>
                  </a:tcPr>
                </a:tc>
              </a:tr>
              <a:tr h="502920">
                <a:tc>
                  <a:txBody>
                    <a:bodyPr/>
                    <a:lstStyle/>
                    <a:p>
                      <a:r>
                        <a:rPr sz="1150" b="1">
                          <a:solidFill>
                            <a:srgbClr val="E8ECF8"/>
                          </a:solidFill>
                        </a:rPr>
                        <a:t>Freshness</a:t>
                      </a:r>
                    </a:p>
                  </a:txBody>
                  <a:tcPr>
                    <a:solidFill>
                      <a:srgbClr val="0B0E1A"/>
                    </a:solidFill>
                  </a:tcPr>
                </a:tc>
                <a:tc>
                  <a:txBody>
                    <a:bodyPr/>
                    <a:lstStyle/>
                    <a:p>
                      <a:r>
                        <a:rPr sz="1150">
                          <a:solidFill>
                            <a:srgbClr val="9AA6C4"/>
                          </a:solidFill>
                        </a:rPr>
                        <a:t>frozen</a:t>
                      </a:r>
                    </a:p>
                  </a:txBody>
                  <a:tcPr>
                    <a:solidFill>
                      <a:srgbClr val="0B0E1A"/>
                    </a:solidFill>
                  </a:tcPr>
                </a:tc>
                <a:tc>
                  <a:txBody>
                    <a:bodyPr/>
                    <a:lstStyle/>
                    <a:p>
                      <a:r>
                        <a:rPr sz="1150">
                          <a:solidFill>
                            <a:srgbClr val="9AA6C4"/>
                          </a:solidFill>
                        </a:rPr>
                        <a:t>live</a:t>
                      </a:r>
                    </a:p>
                  </a:txBody>
                  <a:tcPr>
                    <a:solidFill>
                      <a:srgbClr val="0B0E1A"/>
                    </a:solidFill>
                  </a:tcPr>
                </a:tc>
              </a:tr>
              <a:tr h="502920">
                <a:tc>
                  <a:txBody>
                    <a:bodyPr/>
                    <a:lstStyle/>
                    <a:p>
                      <a:r>
                        <a:rPr sz="1150" b="1">
                          <a:solidFill>
                            <a:srgbClr val="E8ECF8"/>
                          </a:solidFill>
                        </a:rPr>
                        <a:t>Traceability</a:t>
                      </a:r>
                    </a:p>
                  </a:txBody>
                  <a:tcPr>
                    <a:solidFill>
                      <a:srgbClr val="0B0E1A"/>
                    </a:solidFill>
                  </a:tcPr>
                </a:tc>
                <a:tc>
                  <a:txBody>
                    <a:bodyPr/>
                    <a:lstStyle/>
                    <a:p>
                      <a:r>
                        <a:rPr sz="1150">
                          <a:solidFill>
                            <a:srgbClr val="9AA6C4"/>
                          </a:solidFill>
                        </a:rPr>
                        <a:t>opaque</a:t>
                      </a:r>
                    </a:p>
                  </a:txBody>
                  <a:tcPr>
                    <a:solidFill>
                      <a:srgbClr val="0B0E1A"/>
                    </a:solidFill>
                  </a:tcPr>
                </a:tc>
                <a:tc>
                  <a:txBody>
                    <a:bodyPr/>
                    <a:lstStyle/>
                    <a:p>
                      <a:r>
                        <a:rPr sz="1150">
                          <a:solidFill>
                            <a:srgbClr val="9AA6C4"/>
                          </a:solidFill>
                        </a:rPr>
                        <a:t>cited</a:t>
                      </a:r>
                    </a:p>
                  </a:txBody>
                  <a:tcPr>
                    <a:solidFill>
                      <a:srgbClr val="0B0E1A"/>
                    </a:solidFill>
                  </a:tcPr>
                </a:tc>
              </a:tr>
              <a:tr h="502920">
                <a:tc>
                  <a:txBody>
                    <a:bodyPr/>
                    <a:lstStyle/>
                    <a:p>
                      <a:r>
                        <a:rPr sz="1150" b="1">
                          <a:solidFill>
                            <a:srgbClr val="E8ECF8"/>
                          </a:solidFill>
                        </a:rPr>
                        <a:t>Privacy</a:t>
                      </a:r>
                    </a:p>
                  </a:txBody>
                  <a:tcPr>
                    <a:solidFill>
                      <a:srgbClr val="0B0E1A"/>
                    </a:solidFill>
                  </a:tcPr>
                </a:tc>
                <a:tc>
                  <a:txBody>
                    <a:bodyPr/>
                    <a:lstStyle/>
                    <a:p>
                      <a:r>
                        <a:rPr sz="1150">
                          <a:solidFill>
                            <a:srgbClr val="9AA6C4"/>
                          </a:solidFill>
                        </a:rPr>
                        <a:t>sent to model</a:t>
                      </a:r>
                    </a:p>
                  </a:txBody>
                  <a:tcPr>
                    <a:solidFill>
                      <a:srgbClr val="0B0E1A"/>
                    </a:solidFill>
                  </a:tcPr>
                </a:tc>
                <a:tc>
                  <a:txBody>
                    <a:bodyPr/>
                    <a:lstStyle/>
                    <a:p>
                      <a:r>
                        <a:rPr sz="1150">
                          <a:solidFill>
                            <a:srgbClr val="9AA6C4"/>
                          </a:solidFill>
                        </a:rPr>
                        <a:t>stays local</a:t>
                      </a:r>
                    </a:p>
                  </a:txBody>
                  <a:tcPr>
                    <a:solidFill>
                      <a:srgbClr val="0B0E1A"/>
                    </a:solidFill>
                  </a:tcPr>
                </a:tc>
              </a:tr>
              <a:tr h="502920">
                <a:tc>
                  <a:txBody>
                    <a:bodyPr/>
                    <a:lstStyle/>
                    <a:p>
                      <a:r>
                        <a:rPr sz="1150" b="1">
                          <a:solidFill>
                            <a:srgbClr val="E8ECF8"/>
                          </a:solidFill>
                        </a:rPr>
                        <a:t>Cost</a:t>
                      </a:r>
                    </a:p>
                  </a:txBody>
                  <a:tcPr>
                    <a:solidFill>
                      <a:srgbClr val="0B0E1A"/>
                    </a:solidFill>
                  </a:tcPr>
                </a:tc>
                <a:tc>
                  <a:txBody>
                    <a:bodyPr/>
                    <a:lstStyle/>
                    <a:p>
                      <a:r>
                        <a:rPr sz="1150">
                          <a:solidFill>
                            <a:srgbClr val="9AA6C4"/>
                          </a:solidFill>
                        </a:rPr>
                        <a:t>GPU training</a:t>
                      </a:r>
                    </a:p>
                  </a:txBody>
                  <a:tcPr>
                    <a:solidFill>
                      <a:srgbClr val="0B0E1A"/>
                    </a:solidFill>
                  </a:tcPr>
                </a:tc>
                <a:tc>
                  <a:txBody>
                    <a:bodyPr/>
                    <a:lstStyle/>
                    <a:p>
                      <a:r>
                        <a:rPr sz="1150">
                          <a:solidFill>
                            <a:srgbClr val="9AA6C4"/>
                          </a:solidFill>
                        </a:rPr>
                        <a:t>embed + search</a:t>
                      </a:r>
                    </a:p>
                  </a:txBody>
                  <a:tcPr>
                    <a:solidFill>
                      <a:srgbClr val="0B0E1A"/>
                    </a:solidFill>
                  </a:tcPr>
                </a:tc>
              </a:tr>
            </a:tbl>
          </a:graphicData>
        </a:graphic>
      </p:graphicFrame>
      <p:sp>
        <p:nvSpPr>
          <p:cNvPr id="8" name="TextBox 7"/>
          <p:cNvSpPr txBox="1"/>
          <p:nvPr/>
        </p:nvSpPr>
        <p:spPr>
          <a:xfrm>
            <a:off x="6400800" y="1554480"/>
            <a:ext cx="5212080" cy="4572000"/>
          </a:xfrm>
          <a:prstGeom prst="rect">
            <a:avLst/>
          </a:prstGeom>
          <a:noFill/>
        </p:spPr>
        <p:txBody>
          <a:bodyPr wrap="square">
            <a:spAutoFit/>
          </a:bodyPr>
          <a:lstStyle/>
          <a:p>
            <a:pPr>
              <a:lnSpc>
                <a:spcPct val="108000"/>
              </a:lnSpc>
              <a:spcAft>
                <a:spcPts val="600"/>
              </a:spcAft>
            </a:pPr>
            <a:r>
              <a:rPr sz="1300" b="1">
                <a:solidFill>
                  <a:srgbClr val="22D3EE"/>
                </a:solidFill>
              </a:rPr>
              <a:t>▸ </a:t>
            </a:r>
            <a:r>
              <a:rPr sz="1300" b="1">
                <a:solidFill>
                  <a:srgbClr val="22D3EE"/>
                </a:solidFill>
              </a:rPr>
              <a:t>Embedding: all-MiniLM-L6-v2</a:t>
            </a:r>
            <a:r>
              <a:rPr sz="1300">
                <a:solidFill>
                  <a:srgbClr val="E8ECF8"/>
                </a:solidFill>
              </a:rPr>
              <a:t> — 384-dim, ~8 ms CPU — 5× faster than mpnet, keeps 90%+ quality; bigger models impractical on CPU</a:t>
            </a:r>
          </a:p>
          <a:p>
            <a:pPr>
              <a:lnSpc>
                <a:spcPct val="108000"/>
              </a:lnSpc>
              <a:spcAft>
                <a:spcPts val="600"/>
              </a:spcAft>
            </a:pPr>
            <a:r>
              <a:rPr sz="1300" b="1">
                <a:solidFill>
                  <a:srgbClr val="A78BFA"/>
                </a:solidFill>
              </a:rPr>
              <a:t>▸ </a:t>
            </a:r>
            <a:r>
              <a:rPr sz="1300" b="1">
                <a:solidFill>
                  <a:srgbClr val="A78BFA"/>
                </a:solidFill>
              </a:rPr>
              <a:t>Chunking: 512 tokens, 25% overlap</a:t>
            </a:r>
            <a:r>
              <a:rPr sz="1300">
                <a:solidFill>
                  <a:srgbClr val="E8ECF8"/>
                </a:solidFill>
              </a:rPr>
              <a:t> — won a [128/256/512/1024] sweep on Recall@5 — smaller fragments concepts, larger dilutes the vector</a:t>
            </a:r>
          </a:p>
          <a:p>
            <a:pPr>
              <a:lnSpc>
                <a:spcPct val="108000"/>
              </a:lnSpc>
              <a:spcAft>
                <a:spcPts val="600"/>
              </a:spcAft>
            </a:pPr>
            <a:r>
              <a:rPr sz="1300" b="1">
                <a:solidFill>
                  <a:srgbClr val="34D399"/>
                </a:solidFill>
              </a:rPr>
              <a:t>▸ </a:t>
            </a:r>
            <a:r>
              <a:rPr sz="1300" b="1">
                <a:solidFill>
                  <a:srgbClr val="34D399"/>
                </a:solidFill>
              </a:rPr>
              <a:t>RRF, not cross-encoder</a:t>
            </a:r>
            <a:r>
              <a:rPr sz="1300">
                <a:solidFill>
                  <a:srgbClr val="E8ECF8"/>
                </a:solidFill>
              </a:rPr>
              <a:t> — ms-marco reranker HURT the domain (doesn't know rule 5710 ↔ SSH); RRF trusts rank position, no learned bias</a:t>
            </a:r>
          </a:p>
          <a:p>
            <a:pPr>
              <a:lnSpc>
                <a:spcPct val="108000"/>
              </a:lnSpc>
              <a:spcAft>
                <a:spcPts val="600"/>
              </a:spcAft>
            </a:pPr>
            <a:r>
              <a:rPr sz="1300" b="1">
                <a:solidFill>
                  <a:srgbClr val="F472B6"/>
                </a:solidFill>
              </a:rPr>
              <a:t>▸ </a:t>
            </a:r>
            <a:r>
              <a:rPr sz="1300" b="1">
                <a:solidFill>
                  <a:srgbClr val="F472B6"/>
                </a:solidFill>
              </a:rPr>
              <a:t>k = 5 retrieved</a:t>
            </a:r>
            <a:r>
              <a:rPr sz="1300">
                <a:solidFill>
                  <a:srgbClr val="E8ECF8"/>
                </a:solidFill>
              </a:rPr>
              <a:t> — maximizes Hit Rate within llama3.2's 8K window; k≥10 triggers 'lost in the middle'</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