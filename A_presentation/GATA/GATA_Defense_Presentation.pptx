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I will present my thesis: an AI threat-hunting engine built on the Wazuh SIEM — unsupervised anomaly detection plus a knowledge-grounded LLM copilot. Everything I show is implemented, deployed and evaluated; there will also be a short live demo.</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problems motivate the work: alert fatigue (most alerts never get looked at), the structural blindness of signature detection to novel attacks, and the missing context when an alert does fire. My research question: can unsupervised ML plus grounded RAG fix triage on a real deployment — not a toy dataset.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architecture figure from the thesis. Left half is standard Wazuh: agents, manager, rule engine. Everything else is my contribution — the AI Threat Hunting Engine with the ensemble scorer, the RAG system with LLM, the CVE collector agent, a storage layer with Qdrant vectors + PostgreSQL audit, and the visualisation layer with dashboards. Three cooperating layers: score, explain, stay current.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Deliberately boring, deliberately local stack. Detection: scikit-learn ensemble. Explanation: Qdrant with hybrid dense+sparse retrieval and a local llama3.2 through Ollama — because SIEM alerts are confidential, nothing goes to external APIs. Platform: fork of Wazuh, Flask dashboards, Postgres for auditability, all in Docker on one Linux box.</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design: one alert, sixteen features, two unsupervised models with opposite failure modes. IF isolates extreme single features fast; the AE learns to reconstruct normal alerts, so unusual combinations reconstruct badly even when no single feature is extreme. Fusion is weighted 45/55 with tier logic from the binary decisions. Key defense point: the evasion strategies against the two models contradict each other — you cannot be statistically average and statistically common at the same time.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 engineering was validated, not guessed: remove one feature, retrain fully, measure. Privileged-account-change is the strongest signal — attacker persistence. The honest part examiners like: a feature that looked obviously useful, MITRE technique count, made the model worse — Wazuh tags benign events with MITRE in production but not in my training data, so I removed it. Distribution shift, addressed empirically.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training story is the methodological heart. Production logs are never guaranteed clean, so I train on everything: IF with contamination auto, AE with three rounds of iterative trimming — train, drop the worst-reconstructed quarter, retrain, drop 15%, final fit and percentile calibration. Right table: versus the supervised-ish baseline I lose some recall but gain precision and cut the FPR to 6.2% — and it needs no labels, which is the honest production scenario.</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Results on the full evaluation set. The exhibit is the ensemble confusion matrix: 596 attacks caught, 41 missed — versus 62 missed by IF alone and 208 by AE alone. That is the number that matters for a security system. Precision 82%, so roughly one in five flags is a false alarm — acceptable for triage where the cost asymmetry favours recall. Data is real: my own deployment plus a genuinely attacked WordPress site.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explanation side. Hybrid retrieval: the same query runs through dense semantic search and sparse BM25 keyword search — semantics matches 'SSH brute force' to 'multiple failed authentications', BM25 nails exact CVE IDs and rule numbers — fused with reciprocal rank fusion. The LLM is forced to answer only from retrieved context with citations, and to refuse when the context is empty. Every knob was ablated: chunk size, k, and the re-ranker I removed because it hurt. The corpus self-updates through the scheduled CVE agent with a human review queue for mid-confidence items.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deliberate two-database design, because they answer different questions. Qdrant is the vector store: text becomes 384-dimensional embeddings plus sparse BM25 vectors, indexed with HNSW for fast approximate nearest-neighbour, queried as a hybrid fused by reciprocal rank fusion — it answers 'what is semantically similar'. PostgreSQL is the relational audit layer: five tables plus raw JSONB snapshots, with ACID guarantees and constraints — it answers 'what exactly happened and is the record consistent'. Similarity search can't run on a B-tree, and audit guarantees can't run on a vector index — so I use both. The bridge is one column: cve_decisions dot qdrant_id links an audited decision to its vector point — effectively a foreign key that crosses the two paradigms. And governance: only verified intelligence reaches Qdrant; medium-confidence items are quarantined in Postgres.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generation, does retrieval even find the right evidence? On 82 human-annotated queries, hit-rate 82.9%, MRR 0.695 — the correct source is usually at or near the top. The chart breaks it down by category: CVEs and APT profiles are essentially perfect because their vocabulary is distinctive. The weak spot is MITRE technique queries at 46% recall — one query legitimately maps to many overlapping sub-techniques, so 'the' relevant chunk is ambiguous. The honest engineering finding: I tried a cross-encoder re-ranker and it made domain queries worse — a model trained on web search doesn't know rule 5710 relates to SSH — so I removed it. RRF just trusts rank position from two independent retrievers and needs no learned judgement.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the copilot actually stay grounded? Citation precision 98.3% — of 119 citations the model produced, 117 point at a chunk that really supports the sentence. Faithfulness 0.71 — the rest is mostly generic background, not contradictions. The security-critical result: on purpose-built unanswerable probes — a fake CVE, an invented APT group — it refused every fabricated-intelligence question rather than making threat intel up, and it never refused a question it could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third contribution: the knowledge base maintains itself. A scheduled agent runs daily with a deliberately fixed control flow — Fetch new CVEs from NVD and CISA-KEV since the last cursor, Dedup against the Postgres ledger, Boost relevance with local evidence (my own Wazuh rules and alert history), then exactly ONE bounded LLM step that scores relevance 0 to 10. The score routes the CVE: 7 or above auto-indexes into Qdrant and Postgres, 4 to 6 is held OUT of the RAG and queued for a human, below 4 is dropped but its reasoning is logged. The safety properties matter: only one LLM call so it can't spiral, and if the LLM fails it defaults to a conservative 5 which routes to human review — never a silent drop. Every decision is written to the cve_decisions audit ledger, so the whole thing is reversible and there's no silent pollution of the knowledge base.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takeaways. One: unsupervised anomaly detection is viable on real SIEM telemetry — best recall of the three configurations, no labels needed. Two: LLM explanation can be held to measurable grounding standards — and passes. Three: the knowledge base stays fresh autonomously, with humans only where confidence is medium. Full implementation is public on GitHub. I'll stop here — happy to take questions.  [This slide stays on screen during Q&amp;A.]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Appendix slide — navigate here only if a reference question comes up.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822960" y="685800"/>
            <a:ext cx="10515600" cy="457200"/>
          </a:xfrm>
          <a:prstGeom prst="rect">
            <a:avLst/>
          </a:prstGeom>
          <a:noFill/>
        </p:spPr>
        <p:txBody>
          <a:bodyPr wrap="square" anchor="t">
            <a:spAutoFit/>
          </a:bodyPr>
          <a:lstStyle/>
          <a:p>
            <a:pPr algn="l">
              <a:lnSpc>
                <a:spcPct val="100000"/>
              </a:lnSpc>
            </a:pPr>
            <a:r>
              <a:rPr sz="1500" b="0" i="0">
                <a:solidFill>
                  <a:srgbClr val="A0BBDD"/>
                </a:solidFill>
                <a:latin typeface="Calibri"/>
              </a:rPr>
              <a:t>BACHELOR THESIS DEFENSE</a:t>
            </a:r>
          </a:p>
        </p:txBody>
      </p:sp>
      <p:sp>
        <p:nvSpPr>
          <p:cNvPr id="3" name="TextBox 2"/>
          <p:cNvSpPr txBox="1"/>
          <p:nvPr/>
        </p:nvSpPr>
        <p:spPr>
          <a:xfrm>
            <a:off x="822960" y="1371600"/>
            <a:ext cx="10607040" cy="2377440"/>
          </a:xfrm>
          <a:prstGeom prst="rect">
            <a:avLst/>
          </a:prstGeom>
          <a:noFill/>
        </p:spPr>
        <p:txBody>
          <a:bodyPr wrap="square" anchor="t">
            <a:spAutoFit/>
          </a:bodyPr>
          <a:lstStyle/>
          <a:p>
            <a:pPr algn="l">
              <a:lnSpc>
                <a:spcPct val="108000"/>
              </a:lnSpc>
            </a:pPr>
            <a:r>
              <a:rPr sz="3300" b="1" i="0">
                <a:solidFill>
                  <a:srgbClr val="FFFFFF"/>
                </a:solidFill>
                <a:latin typeface="Calibri"/>
              </a:rPr>
              <a:t>Architecture and Evaluation of a SIEM</a:t>
            </a:r>
          </a:p>
          <a:p>
            <a:pPr algn="l">
              <a:lnSpc>
                <a:spcPct val="108000"/>
              </a:lnSpc>
            </a:pPr>
            <a:r>
              <a:rPr sz="3300" b="1" i="0">
                <a:solidFill>
                  <a:srgbClr val="FFFFFF"/>
                </a:solidFill>
                <a:latin typeface="Calibri"/>
              </a:rPr>
              <a:t>Integrating Unsupervised Anomaly Detection</a:t>
            </a:r>
          </a:p>
          <a:p>
            <a:pPr algn="l">
              <a:lnSpc>
                <a:spcPct val="108000"/>
              </a:lnSpc>
            </a:pPr>
            <a:r>
              <a:rPr sz="3300" b="1" i="0">
                <a:solidFill>
                  <a:srgbClr val="FFFFFF"/>
                </a:solidFill>
                <a:latin typeface="Calibri"/>
              </a:rPr>
              <a:t>and Knowledge-Grounded Language Models</a:t>
            </a:r>
          </a:p>
        </p:txBody>
      </p:sp>
      <p:sp>
        <p:nvSpPr>
          <p:cNvPr id="4" name="Rectangle 3"/>
          <p:cNvSpPr/>
          <p:nvPr/>
        </p:nvSpPr>
        <p:spPr>
          <a:xfrm>
            <a:off x="822960" y="3977639"/>
            <a:ext cx="2011680" cy="45720"/>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4206240"/>
            <a:ext cx="10058400" cy="411480"/>
          </a:xfrm>
          <a:prstGeom prst="rect">
            <a:avLst/>
          </a:prstGeom>
          <a:noFill/>
        </p:spPr>
        <p:txBody>
          <a:bodyPr wrap="square" anchor="t">
            <a:spAutoFit/>
          </a:bodyPr>
          <a:lstStyle/>
          <a:p>
            <a:pPr algn="l">
              <a:lnSpc>
                <a:spcPct val="100000"/>
              </a:lnSpc>
            </a:pPr>
            <a:r>
              <a:rPr sz="2100" b="1" i="0">
                <a:solidFill>
                  <a:srgbClr val="FFFFFF"/>
                </a:solidFill>
                <a:latin typeface="Calibri"/>
              </a:rPr>
              <a:t>Secărea Diana Maria</a:t>
            </a:r>
          </a:p>
        </p:txBody>
      </p:sp>
      <p:sp>
        <p:nvSpPr>
          <p:cNvPr id="6" name="TextBox 5"/>
          <p:cNvSpPr txBox="1"/>
          <p:nvPr/>
        </p:nvSpPr>
        <p:spPr>
          <a:xfrm>
            <a:off x="822960" y="4681728"/>
            <a:ext cx="10607040" cy="914400"/>
          </a:xfrm>
          <a:prstGeom prst="rect">
            <a:avLst/>
          </a:prstGeom>
          <a:noFill/>
        </p:spPr>
        <p:txBody>
          <a:bodyPr wrap="square" anchor="t">
            <a:spAutoFit/>
          </a:bodyPr>
          <a:lstStyle/>
          <a:p>
            <a:pPr algn="l">
              <a:lnSpc>
                <a:spcPct val="100000"/>
              </a:lnSpc>
            </a:pPr>
            <a:r>
              <a:rPr sz="1500" b="0" i="0">
                <a:solidFill>
                  <a:srgbClr val="A0BBDD"/>
                </a:solidFill>
                <a:latin typeface="Calibri"/>
              </a:rPr>
              <a:t>Coordinator: prof. univ. dr. Cătălin Boja</a:t>
            </a:r>
          </a:p>
          <a:p>
            <a:pPr algn="l">
              <a:lnSpc>
                <a:spcPct val="100000"/>
              </a:lnSpc>
            </a:pPr>
            <a:r>
              <a:rPr sz="1500" b="0" i="0">
                <a:solidFill>
                  <a:srgbClr val="A0BBDD"/>
                </a:solidFill>
                <a:latin typeface="Calibri"/>
              </a:rPr>
              <a:t>Bucharest University of Economic Studies · Faculty of Cybernetics, Statistics and Economic Informatics</a:t>
            </a:r>
          </a:p>
        </p:txBody>
      </p:sp>
      <p:sp>
        <p:nvSpPr>
          <p:cNvPr id="7" name="TextBox 6"/>
          <p:cNvSpPr txBox="1"/>
          <p:nvPr/>
        </p:nvSpPr>
        <p:spPr>
          <a:xfrm>
            <a:off x="822960" y="5897880"/>
            <a:ext cx="10058400" cy="365760"/>
          </a:xfrm>
          <a:prstGeom prst="rect">
            <a:avLst/>
          </a:prstGeom>
          <a:noFill/>
        </p:spPr>
        <p:txBody>
          <a:bodyPr wrap="square" anchor="t">
            <a:spAutoFit/>
          </a:bodyPr>
          <a:lstStyle/>
          <a:p>
            <a:pPr algn="l">
              <a:lnSpc>
                <a:spcPct val="100000"/>
              </a:lnSpc>
            </a:pPr>
            <a:r>
              <a:rPr sz="1300" b="0" i="0">
                <a:solidFill>
                  <a:srgbClr val="A0BBDD"/>
                </a:solidFill>
                <a:latin typeface="Calibri"/>
              </a:rPr>
              <a:t>Economic Informatics Program · Bucharest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Rule-based SIEMs leave analysts drowning in alerts while novel attacks pass undetected</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417320"/>
            <a:ext cx="6492240" cy="4023360"/>
          </a:xfrm>
          <a:prstGeom prst="rect">
            <a:avLst/>
          </a:prstGeom>
          <a:noFill/>
        </p:spPr>
        <p:txBody>
          <a:bodyPr wrap="square">
            <a:spAutoFit/>
          </a:bodyPr>
          <a:lstStyle/>
          <a:p>
            <a:pPr>
              <a:lnSpc>
                <a:spcPct val="108000"/>
              </a:lnSpc>
              <a:spcAft>
                <a:spcPts val="1400"/>
              </a:spcAft>
            </a:pPr>
            <a:r>
              <a:rPr sz="1900">
                <a:solidFill>
                  <a:srgbClr val="2E75B6"/>
                </a:solidFill>
                <a:latin typeface="Calibri"/>
              </a:rPr>
              <a:t>▪  </a:t>
            </a:r>
            <a:r>
              <a:rPr sz="1900" b="1">
                <a:solidFill>
                  <a:srgbClr val="2D2D2D"/>
                </a:solidFill>
                <a:latin typeface="Calibri"/>
              </a:rPr>
              <a:t>Alert fatigue is structural:</a:t>
            </a:r>
            <a:r>
              <a:rPr sz="1900">
                <a:solidFill>
                  <a:srgbClr val="2D2D2D"/>
                </a:solidFill>
                <a:latin typeface="Calibri"/>
              </a:rPr>
              <a:t> SOCs average ~4,490 alerts/day; ~67% are never investigated for lack of analyst bandwidth.</a:t>
            </a:r>
          </a:p>
          <a:p>
            <a:pPr>
              <a:lnSpc>
                <a:spcPct val="108000"/>
              </a:lnSpc>
              <a:spcAft>
                <a:spcPts val="1400"/>
              </a:spcAft>
            </a:pPr>
            <a:r>
              <a:rPr sz="1900">
                <a:solidFill>
                  <a:srgbClr val="2E75B6"/>
                </a:solidFill>
                <a:latin typeface="Calibri"/>
              </a:rPr>
              <a:t>▪  </a:t>
            </a:r>
            <a:r>
              <a:rPr sz="1900" b="1">
                <a:solidFill>
                  <a:srgbClr val="2D2D2D"/>
                </a:solidFill>
                <a:latin typeface="Calibri"/>
              </a:rPr>
              <a:t>Rules only match the known.</a:t>
            </a:r>
            <a:r>
              <a:rPr sz="1900">
                <a:solidFill>
                  <a:srgbClr val="2D2D2D"/>
                </a:solidFill>
                <a:latin typeface="Calibri"/>
              </a:rPr>
              <a:t> A zero-day or custom tool produces events no rule ID covers — detection is reactive by design.</a:t>
            </a:r>
          </a:p>
          <a:p>
            <a:pPr>
              <a:lnSpc>
                <a:spcPct val="108000"/>
              </a:lnSpc>
              <a:spcAft>
                <a:spcPts val="1400"/>
              </a:spcAft>
            </a:pPr>
            <a:r>
              <a:rPr sz="1900">
                <a:solidFill>
                  <a:srgbClr val="2E75B6"/>
                </a:solidFill>
                <a:latin typeface="Calibri"/>
              </a:rPr>
              <a:t>▪  </a:t>
            </a:r>
            <a:r>
              <a:rPr sz="1900" b="1">
                <a:solidFill>
                  <a:srgbClr val="2D2D2D"/>
                </a:solidFill>
                <a:latin typeface="Calibri"/>
              </a:rPr>
              <a:t>Static thresholds misfire.</a:t>
            </a:r>
            <a:r>
              <a:rPr sz="1900">
                <a:solidFill>
                  <a:srgbClr val="2D2D2D"/>
                </a:solidFill>
                <a:latin typeface="Calibri"/>
              </a:rPr>
              <a:t> “8 failed logins in 120 s” fits no specific environment → false-positive floods.</a:t>
            </a:r>
          </a:p>
          <a:p>
            <a:pPr>
              <a:lnSpc>
                <a:spcPct val="108000"/>
              </a:lnSpc>
              <a:spcAft>
                <a:spcPts val="1400"/>
              </a:spcAft>
            </a:pPr>
            <a:r>
              <a:rPr sz="1900">
                <a:solidFill>
                  <a:srgbClr val="2E75B6"/>
                </a:solidFill>
                <a:latin typeface="Calibri"/>
              </a:rPr>
              <a:t>▪  </a:t>
            </a:r>
            <a:r>
              <a:rPr sz="1900" b="1">
                <a:solidFill>
                  <a:srgbClr val="2D2D2D"/>
                </a:solidFill>
                <a:latin typeface="Calibri"/>
              </a:rPr>
              <a:t>Alerts arrive context-free.</a:t>
            </a:r>
            <a:r>
              <a:rPr sz="1900">
                <a:solidFill>
                  <a:srgbClr val="2D2D2D"/>
                </a:solidFill>
                <a:latin typeface="Calibri"/>
              </a:rPr>
              <a:t> “Possible kernel rootkit (rule 521)” still requires manual research into T1014, indicators, remediation.</a:t>
            </a:r>
          </a:p>
        </p:txBody>
      </p:sp>
      <p:sp>
        <p:nvSpPr>
          <p:cNvPr id="5" name="Rounded Rectangle 4"/>
          <p:cNvSpPr/>
          <p:nvPr/>
        </p:nvSpPr>
        <p:spPr>
          <a:xfrm>
            <a:off x="7406640" y="1554480"/>
            <a:ext cx="4160520" cy="3200400"/>
          </a:xfrm>
          <a:prstGeom prst="roundRect">
            <a:avLst>
              <a:gd name="adj" fmla="val 12000"/>
            </a:avLst>
          </a:prstGeom>
          <a:solidFill>
            <a:srgbClr val="EBF3FA"/>
          </a:solidFill>
          <a:ln w="1905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800" b="1">
                <a:solidFill>
                  <a:srgbClr val="1F4E79"/>
                </a:solidFill>
                <a:latin typeface="Calibri"/>
              </a:rPr>
              <a:t>Research question</a:t>
            </a:r>
          </a:p>
          <a:p>
            <a:pPr algn="ctr"/>
            <a:r>
              <a:rPr sz="1600" b="0">
                <a:solidFill>
                  <a:srgbClr val="1F4E79"/>
                </a:solidFill>
                <a:latin typeface="Calibri"/>
              </a:rPr>
              <a:t/>
            </a:r>
          </a:p>
          <a:p>
            <a:pPr algn="ctr"/>
            <a:r>
              <a:rPr sz="1600" b="0">
                <a:solidFill>
                  <a:srgbClr val="1F4E79"/>
                </a:solidFill>
                <a:latin typeface="Calibri"/>
              </a:rPr>
              <a:t>Can unsupervised anomaly scoring</a:t>
            </a:r>
          </a:p>
          <a:p>
            <a:pPr algn="ctr"/>
            <a:r>
              <a:rPr sz="1600" b="0">
                <a:solidFill>
                  <a:srgbClr val="1F4E79"/>
                </a:solidFill>
                <a:latin typeface="Calibri"/>
              </a:rPr>
              <a:t>+ retrieval-grounded reasoning</a:t>
            </a:r>
          </a:p>
          <a:p>
            <a:pPr algn="ctr"/>
            <a:r>
              <a:rPr sz="1600" b="0">
                <a:solidFill>
                  <a:srgbClr val="1F4E79"/>
                </a:solidFill>
                <a:latin typeface="Calibri"/>
              </a:rPr>
              <a:t>reduce triage time and improve</a:t>
            </a:r>
          </a:p>
          <a:p>
            <a:pPr algn="ctr"/>
            <a:r>
              <a:rPr sz="1600" b="0">
                <a:solidFill>
                  <a:srgbClr val="1F4E79"/>
                </a:solidFill>
                <a:latin typeface="Calibri"/>
              </a:rPr>
              <a:t>analyst trust — on a real,</a:t>
            </a:r>
          </a:p>
          <a:p>
            <a:pPr algn="ctr"/>
            <a:r>
              <a:rPr sz="1600" b="0">
                <a:solidFill>
                  <a:srgbClr val="1F4E79"/>
                </a:solidFill>
                <a:latin typeface="Calibri"/>
              </a:rPr>
              <a:t>running Wazuh deployment?</a:t>
            </a:r>
          </a:p>
        </p:txBody>
      </p:sp>
      <p:sp>
        <p:nvSpPr>
          <p:cNvPr id="6" name="Rounded Rectangle 5"/>
          <p:cNvSpPr/>
          <p:nvPr/>
        </p:nvSpPr>
        <p:spPr>
          <a:xfrm>
            <a:off x="7406640" y="4983480"/>
            <a:ext cx="4160520" cy="566928"/>
          </a:xfrm>
          <a:prstGeom prst="roundRect">
            <a:avLst>
              <a:gd name="adj" fmla="val 12000"/>
            </a:avLst>
          </a:prstGeom>
          <a:solidFill>
            <a:srgbClr val="FFF2CC"/>
          </a:solidFill>
          <a:ln w="12700">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7A5200"/>
                </a:solidFill>
                <a:latin typeface="Calibri"/>
              </a:rPr>
              <a:t>Approach: score every alert, explain every score</a:t>
            </a:r>
          </a:p>
        </p:txBody>
      </p:sp>
      <p:sp>
        <p:nvSpPr>
          <p:cNvPr id="7" name="TextBox 6"/>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Industry SOC statistics [7]; WEF Global Risks Report 2024 [4]; Wazuh documentation [2] — thesis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The AI Threat-Hunting Engine extends Wazuh end-to-end: score → explain → keep knowledge fresh</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hitecture_thesis.png"/>
          <p:cNvPicPr>
            <a:picLocks noChangeAspect="1"/>
          </p:cNvPicPr>
          <p:nvPr/>
        </p:nvPicPr>
        <p:blipFill>
          <a:blip r:embed="rId2"/>
          <a:stretch>
            <a:fillRect/>
          </a:stretch>
        </p:blipFill>
        <p:spPr>
          <a:xfrm>
            <a:off x="548640" y="1371600"/>
            <a:ext cx="6903720" cy="5080956"/>
          </a:xfrm>
          <a:prstGeom prst="rect">
            <a:avLst/>
          </a:prstGeom>
        </p:spPr>
      </p:pic>
      <p:sp>
        <p:nvSpPr>
          <p:cNvPr id="5" name="Rounded Rectangle 4"/>
          <p:cNvSpPr/>
          <p:nvPr/>
        </p:nvSpPr>
        <p:spPr>
          <a:xfrm>
            <a:off x="7726679" y="1600200"/>
            <a:ext cx="3886200" cy="1298448"/>
          </a:xfrm>
          <a:prstGeom prst="roundRect">
            <a:avLst>
              <a:gd name="adj" fmla="val 12000"/>
            </a:avLst>
          </a:prstGeom>
          <a:solidFill>
            <a:srgbClr val="EBF3FA"/>
          </a:solidFill>
          <a:ln w="1778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700" b="1">
                <a:solidFill>
                  <a:srgbClr val="1F4E79"/>
                </a:solidFill>
                <a:latin typeface="Calibri"/>
              </a:rPr>
              <a:t>1 · Anomaly ensemble</a:t>
            </a:r>
          </a:p>
          <a:p>
            <a:r>
              <a:rPr sz="1350">
                <a:solidFill>
                  <a:srgbClr val="2D2D2D"/>
                </a:solidFill>
                <a:latin typeface="Calibri"/>
              </a:rPr>
              <a:t>Isolation Forest + Autoencoder score every alert 0–100, fused into confidence tiers</a:t>
            </a:r>
          </a:p>
        </p:txBody>
      </p:sp>
      <p:sp>
        <p:nvSpPr>
          <p:cNvPr id="6" name="Rounded Rectangle 5"/>
          <p:cNvSpPr/>
          <p:nvPr/>
        </p:nvSpPr>
        <p:spPr>
          <a:xfrm>
            <a:off x="7726679" y="3081528"/>
            <a:ext cx="3886200" cy="1298448"/>
          </a:xfrm>
          <a:prstGeom prst="roundRect">
            <a:avLst>
              <a:gd name="adj" fmla="val 12000"/>
            </a:avLst>
          </a:prstGeom>
          <a:solidFill>
            <a:srgbClr val="EBF3FA"/>
          </a:solidFill>
          <a:ln w="1778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700" b="1">
                <a:solidFill>
                  <a:srgbClr val="2E75B6"/>
                </a:solidFill>
                <a:latin typeface="Calibri"/>
              </a:rPr>
              <a:t>2 · RAG copilot</a:t>
            </a:r>
          </a:p>
          <a:p>
            <a:r>
              <a:rPr sz="1350">
                <a:solidFill>
                  <a:srgbClr val="2D2D2D"/>
                </a:solidFill>
                <a:latin typeface="Calibri"/>
              </a:rPr>
              <a:t>local LLM grounded in MITRE ATT&amp;CK, YARA, Sigma, CVEs — cited answers in the dashboard</a:t>
            </a:r>
          </a:p>
        </p:txBody>
      </p:sp>
      <p:sp>
        <p:nvSpPr>
          <p:cNvPr id="7" name="Rounded Rectangle 6"/>
          <p:cNvSpPr/>
          <p:nvPr/>
        </p:nvSpPr>
        <p:spPr>
          <a:xfrm>
            <a:off x="7726679" y="4562856"/>
            <a:ext cx="3886200" cy="1298448"/>
          </a:xfrm>
          <a:prstGeom prst="roundRect">
            <a:avLst>
              <a:gd name="adj" fmla="val 12000"/>
            </a:avLst>
          </a:prstGeom>
          <a:solidFill>
            <a:srgbClr val="EBF3FA"/>
          </a:solidFill>
          <a:ln w="1778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109728"/>
          <a:lstStyle/>
          <a:p>
            <a:pPr algn="ctr"/>
            <a:r>
              <a:rPr sz="1700" b="1">
                <a:solidFill>
                  <a:srgbClr val="2E7D5B"/>
                </a:solidFill>
                <a:latin typeface="Calibri"/>
              </a:rPr>
              <a:t>3 · CVE ingestion agent</a:t>
            </a:r>
          </a:p>
          <a:p>
            <a:r>
              <a:rPr sz="1350">
                <a:solidFill>
                  <a:srgbClr val="2D2D2D"/>
                </a:solidFill>
                <a:latin typeface="Calibri"/>
              </a:rPr>
              <a:t>scheduled agent fetches, scores and routes new CVEs; PostgreSQL keeps the audit ledger</a:t>
            </a:r>
          </a:p>
        </p:txBody>
      </p:sp>
      <p:sp>
        <p:nvSpPr>
          <p:cNvPr id="8" name="TextBox 7"/>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Figure 3.1.1 — Architecture of the proposed system (thesis, p. 9). Endpoint &amp; manager layers = Wazuh; engine, storage, visualisation layers = this work.</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A fully local, open-source stack: security data never leaves the machine</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63040"/>
            <a:ext cx="3566160" cy="47548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a:solidFill>
                  <a:srgbClr val="FFFFFF"/>
                </a:solidFill>
                <a:latin typeface="Calibri"/>
              </a:rPr>
              <a:t>Detection (ML)</a:t>
            </a:r>
          </a:p>
        </p:txBody>
      </p:sp>
      <p:sp>
        <p:nvSpPr>
          <p:cNvPr id="5" name="Rectangle 4"/>
          <p:cNvSpPr/>
          <p:nvPr/>
        </p:nvSpPr>
        <p:spPr>
          <a:xfrm>
            <a:off x="548640" y="1938528"/>
            <a:ext cx="3566160" cy="3017520"/>
          </a:xfrm>
          <a:prstGeom prst="rect">
            <a:avLst/>
          </a:prstGeom>
          <a:solidFill>
            <a:srgbClr val="EBF3FA"/>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109728"/>
          <a:lstStyle/>
          <a:p>
            <a:pPr algn="ctr">
              <a:spcAft>
                <a:spcPts val="900"/>
              </a:spcAft>
            </a:pPr>
            <a:r>
              <a:rPr sz="1550">
                <a:solidFill>
                  <a:srgbClr val="2D2D2D"/>
                </a:solidFill>
                <a:latin typeface="Calibri"/>
              </a:rPr>
              <a:t>▪ scikit-learn — Isolation Forest</a:t>
            </a:r>
          </a:p>
          <a:p>
            <a:pPr>
              <a:spcAft>
                <a:spcPts val="900"/>
              </a:spcAft>
            </a:pPr>
            <a:r>
              <a:rPr sz="1550">
                <a:solidFill>
                  <a:srgbClr val="2D2D2D"/>
                </a:solidFill>
                <a:latin typeface="Calibri"/>
              </a:rPr>
              <a:t>▪ MLP Autoencoder 16→8→4→8→16</a:t>
            </a:r>
          </a:p>
          <a:p>
            <a:pPr>
              <a:spcAft>
                <a:spcPts val="900"/>
              </a:spcAft>
            </a:pPr>
            <a:r>
              <a:rPr sz="1550">
                <a:solidFill>
                  <a:srgbClr val="2D2D2D"/>
                </a:solidFill>
                <a:latin typeface="Calibri"/>
              </a:rPr>
              <a:t>▪ NumPy · pandas · joblib artefacts</a:t>
            </a:r>
          </a:p>
          <a:p>
            <a:pPr>
              <a:spcAft>
                <a:spcPts val="900"/>
              </a:spcAft>
            </a:pPr>
            <a:r>
              <a:rPr sz="1550">
                <a:solidFill>
                  <a:srgbClr val="2D2D2D"/>
                </a:solidFill>
                <a:latin typeface="Calibri"/>
              </a:rPr>
              <a:t>▪ 16-feature extractor (custom)</a:t>
            </a:r>
          </a:p>
        </p:txBody>
      </p:sp>
      <p:sp>
        <p:nvSpPr>
          <p:cNvPr id="6" name="Rounded Rectangle 5"/>
          <p:cNvSpPr/>
          <p:nvPr/>
        </p:nvSpPr>
        <p:spPr>
          <a:xfrm>
            <a:off x="4315968" y="1463040"/>
            <a:ext cx="3566160" cy="475488"/>
          </a:xfrm>
          <a:prstGeom prst="roundRect">
            <a:avLst>
              <a:gd name="adj" fmla="val 12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a:solidFill>
                  <a:srgbClr val="FFFFFF"/>
                </a:solidFill>
                <a:latin typeface="Calibri"/>
              </a:rPr>
              <a:t>Explanation (RAG)</a:t>
            </a:r>
          </a:p>
        </p:txBody>
      </p:sp>
      <p:sp>
        <p:nvSpPr>
          <p:cNvPr id="7" name="Rectangle 6"/>
          <p:cNvSpPr/>
          <p:nvPr/>
        </p:nvSpPr>
        <p:spPr>
          <a:xfrm>
            <a:off x="4315968" y="1938528"/>
            <a:ext cx="3566160" cy="3017520"/>
          </a:xfrm>
          <a:prstGeom prst="rect">
            <a:avLst/>
          </a:prstGeom>
          <a:solidFill>
            <a:srgbClr val="EBF3FA"/>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109728"/>
          <a:lstStyle/>
          <a:p>
            <a:pPr algn="ctr">
              <a:spcAft>
                <a:spcPts val="900"/>
              </a:spcAft>
            </a:pPr>
            <a:r>
              <a:rPr sz="1550">
                <a:solidFill>
                  <a:srgbClr val="2D2D2D"/>
                </a:solidFill>
                <a:latin typeface="Calibri"/>
              </a:rPr>
              <a:t>▪ Qdrant vector DB — HNSW</a:t>
            </a:r>
          </a:p>
          <a:p>
            <a:pPr>
              <a:spcAft>
                <a:spcPts val="900"/>
              </a:spcAft>
            </a:pPr>
            <a:r>
              <a:rPr sz="1550">
                <a:solidFill>
                  <a:srgbClr val="2D2D2D"/>
                </a:solidFill>
                <a:latin typeface="Calibri"/>
              </a:rPr>
              <a:t>▪ all-MiniLM-L6-v2 embeddings (384-d)</a:t>
            </a:r>
          </a:p>
          <a:p>
            <a:pPr>
              <a:spcAft>
                <a:spcPts val="900"/>
              </a:spcAft>
            </a:pPr>
            <a:r>
              <a:rPr sz="1550">
                <a:solidFill>
                  <a:srgbClr val="2D2D2D"/>
                </a:solidFill>
                <a:latin typeface="Calibri"/>
              </a:rPr>
              <a:t>▪ BM25 sparse (fastembed) + RRF</a:t>
            </a:r>
          </a:p>
          <a:p>
            <a:pPr>
              <a:spcAft>
                <a:spcPts val="900"/>
              </a:spcAft>
            </a:pPr>
            <a:r>
              <a:rPr sz="1550">
                <a:solidFill>
                  <a:srgbClr val="2D2D2D"/>
                </a:solidFill>
                <a:latin typeface="Calibri"/>
              </a:rPr>
              <a:t>▪ Ollama · llama3.2 — local LLM</a:t>
            </a:r>
          </a:p>
        </p:txBody>
      </p:sp>
      <p:sp>
        <p:nvSpPr>
          <p:cNvPr id="8" name="Rounded Rectangle 7"/>
          <p:cNvSpPr/>
          <p:nvPr/>
        </p:nvSpPr>
        <p:spPr>
          <a:xfrm>
            <a:off x="8083296" y="1463040"/>
            <a:ext cx="3566160" cy="475488"/>
          </a:xfrm>
          <a:prstGeom prst="roundRect">
            <a:avLst>
              <a:gd name="adj" fmla="val 12000"/>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700" b="1">
                <a:solidFill>
                  <a:srgbClr val="FFFFFF"/>
                </a:solidFill>
                <a:latin typeface="Calibri"/>
              </a:rPr>
              <a:t>Platform</a:t>
            </a:r>
          </a:p>
        </p:txBody>
      </p:sp>
      <p:sp>
        <p:nvSpPr>
          <p:cNvPr id="9" name="Rectangle 8"/>
          <p:cNvSpPr/>
          <p:nvPr/>
        </p:nvSpPr>
        <p:spPr>
          <a:xfrm>
            <a:off x="8083296" y="1938528"/>
            <a:ext cx="3566160" cy="3017520"/>
          </a:xfrm>
          <a:prstGeom prst="rect">
            <a:avLst/>
          </a:prstGeom>
          <a:solidFill>
            <a:srgbClr val="EBF3FA"/>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tIns="109728"/>
          <a:lstStyle/>
          <a:p>
            <a:pPr algn="ctr">
              <a:spcAft>
                <a:spcPts val="900"/>
              </a:spcAft>
            </a:pPr>
            <a:r>
              <a:rPr sz="1550">
                <a:solidFill>
                  <a:srgbClr val="2D2D2D"/>
                </a:solidFill>
                <a:latin typeface="Calibri"/>
              </a:rPr>
              <a:t>▪ Wazuh 4.14.1 SIEM (fork base)</a:t>
            </a:r>
          </a:p>
          <a:p>
            <a:pPr>
              <a:spcAft>
                <a:spcPts val="900"/>
              </a:spcAft>
            </a:pPr>
            <a:r>
              <a:rPr sz="1550">
                <a:solidFill>
                  <a:srgbClr val="2D2D2D"/>
                </a:solidFill>
                <a:latin typeface="Calibri"/>
              </a:rPr>
              <a:t>▪ Flask API + dashboards :5000</a:t>
            </a:r>
          </a:p>
          <a:p>
            <a:pPr>
              <a:spcAft>
                <a:spcPts val="900"/>
              </a:spcAft>
            </a:pPr>
            <a:r>
              <a:rPr sz="1550">
                <a:solidFill>
                  <a:srgbClr val="2D2D2D"/>
                </a:solidFill>
                <a:latin typeface="Calibri"/>
              </a:rPr>
              <a:t>▪ PostgreSQL 17 — audit ledger</a:t>
            </a:r>
          </a:p>
          <a:p>
            <a:pPr>
              <a:spcAft>
                <a:spcPts val="900"/>
              </a:spcAft>
            </a:pPr>
            <a:r>
              <a:rPr sz="1550">
                <a:solidFill>
                  <a:srgbClr val="2D2D2D"/>
                </a:solidFill>
                <a:latin typeface="Calibri"/>
              </a:rPr>
              <a:t>▪ Docker Compose · Python 3.13 · WSL2</a:t>
            </a:r>
          </a:p>
        </p:txBody>
      </p:sp>
      <p:sp>
        <p:nvSpPr>
          <p:cNvPr id="10" name="Rounded Rectangle 9"/>
          <p:cNvSpPr/>
          <p:nvPr/>
        </p:nvSpPr>
        <p:spPr>
          <a:xfrm>
            <a:off x="2148840" y="5257800"/>
            <a:ext cx="7863840" cy="621792"/>
          </a:xfrm>
          <a:prstGeom prst="roundRect">
            <a:avLst>
              <a:gd name="adj" fmla="val 12000"/>
            </a:avLst>
          </a:prstGeom>
          <a:solidFill>
            <a:srgbClr val="FFF2CC"/>
          </a:solidFill>
          <a:ln w="12700">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7A5200"/>
                </a:solidFill>
                <a:latin typeface="Calibri"/>
              </a:rPr>
              <a:t>Why local? Alerts contain confidential system data — no third-party API, no per-token cost</a:t>
            </a:r>
          </a:p>
        </p:txBody>
      </p:sp>
      <p:sp>
        <p:nvSpPr>
          <p:cNvPr id="11" name="TextBox 10"/>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Thesis §4.1 Technologies Used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Two models that fail differently: extremes get isolated, unusual combinations fail to reconstruct</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2377440"/>
            <a:ext cx="1965960" cy="1051560"/>
          </a:xfrm>
          <a:prstGeom prst="roundRect">
            <a:avLst>
              <a:gd name="adj" fmla="val 12000"/>
            </a:avLst>
          </a:prstGeom>
          <a:solidFill>
            <a:srgbClr val="EBF3FA"/>
          </a:solidFill>
          <a:ln w="1524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4E79"/>
                </a:solidFill>
                <a:latin typeface="Calibri"/>
              </a:rPr>
              <a:t>Wazuh alert</a:t>
            </a:r>
          </a:p>
          <a:p>
            <a:pPr algn="ctr"/>
            <a:r>
              <a:rPr sz="1300" b="0">
                <a:solidFill>
                  <a:srgbClr val="1F4E79"/>
                </a:solidFill>
                <a:latin typeface="Calibri"/>
              </a:rPr>
              <a:t>16 features</a:t>
            </a:r>
          </a:p>
          <a:p>
            <a:pPr algn="ctr"/>
            <a:r>
              <a:rPr sz="1300" b="0">
                <a:solidFill>
                  <a:srgbClr val="1F4E79"/>
                </a:solidFill>
                <a:latin typeface="Calibri"/>
              </a:rPr>
              <a:t>z-scaled</a:t>
            </a:r>
          </a:p>
        </p:txBody>
      </p:sp>
      <p:sp>
        <p:nvSpPr>
          <p:cNvPr id="5" name="Rounded Rectangle 4"/>
          <p:cNvSpPr/>
          <p:nvPr/>
        </p:nvSpPr>
        <p:spPr>
          <a:xfrm>
            <a:off x="3291840" y="1600200"/>
            <a:ext cx="2651760" cy="1143000"/>
          </a:xfrm>
          <a:prstGeom prst="roundRect">
            <a:avLst>
              <a:gd name="adj" fmla="val 12000"/>
            </a:avLst>
          </a:prstGeom>
          <a:solidFill>
            <a:srgbClr val="EBF3FA"/>
          </a:solidFill>
          <a:ln w="1778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4E79"/>
                </a:solidFill>
                <a:latin typeface="Calibri"/>
              </a:rPr>
              <a:t>Isolation Forest</a:t>
            </a:r>
          </a:p>
          <a:p>
            <a:pPr algn="ctr"/>
            <a:r>
              <a:rPr sz="1300" b="0">
                <a:solidFill>
                  <a:srgbClr val="1F4E79"/>
                </a:solidFill>
                <a:latin typeface="Calibri"/>
              </a:rPr>
              <a:t>random cuts isolate</a:t>
            </a:r>
          </a:p>
          <a:p>
            <a:pPr algn="ctr"/>
            <a:r>
              <a:rPr sz="1300" b="0">
                <a:solidFill>
                  <a:srgbClr val="1F4E79"/>
                </a:solidFill>
                <a:latin typeface="Calibri"/>
              </a:rPr>
              <a:t>extreme features</a:t>
            </a:r>
          </a:p>
        </p:txBody>
      </p:sp>
      <p:sp>
        <p:nvSpPr>
          <p:cNvPr id="6" name="Rounded Rectangle 5"/>
          <p:cNvSpPr/>
          <p:nvPr/>
        </p:nvSpPr>
        <p:spPr>
          <a:xfrm>
            <a:off x="3291840" y="3200400"/>
            <a:ext cx="2651760" cy="1143000"/>
          </a:xfrm>
          <a:prstGeom prst="roundRect">
            <a:avLst>
              <a:gd name="adj" fmla="val 12000"/>
            </a:avLst>
          </a:prstGeom>
          <a:solidFill>
            <a:srgbClr val="EBF3FA"/>
          </a:solidFill>
          <a:ln w="1778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2E75B6"/>
                </a:solidFill>
                <a:latin typeface="Calibri"/>
              </a:rPr>
              <a:t>Autoencoder 16→8→4→8→16</a:t>
            </a:r>
          </a:p>
          <a:p>
            <a:pPr algn="ctr"/>
            <a:r>
              <a:rPr sz="1300" b="0">
                <a:solidFill>
                  <a:srgbClr val="2E75B6"/>
                </a:solidFill>
                <a:latin typeface="Calibri"/>
              </a:rPr>
              <a:t>reconstruction error flags</a:t>
            </a:r>
          </a:p>
          <a:p>
            <a:pPr algn="ctr"/>
            <a:r>
              <a:rPr sz="1300" b="0">
                <a:solidFill>
                  <a:srgbClr val="2E75B6"/>
                </a:solidFill>
                <a:latin typeface="Calibri"/>
              </a:rPr>
              <a:t>odd combinations</a:t>
            </a:r>
          </a:p>
        </p:txBody>
      </p:sp>
      <p:sp>
        <p:nvSpPr>
          <p:cNvPr id="7" name="Rounded Rectangle 6"/>
          <p:cNvSpPr/>
          <p:nvPr/>
        </p:nvSpPr>
        <p:spPr>
          <a:xfrm>
            <a:off x="6675120" y="2377440"/>
            <a:ext cx="2103120" cy="105156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FFFFFF"/>
                </a:solidFill>
                <a:latin typeface="Calibri"/>
              </a:rPr>
              <a:t>Fusion</a:t>
            </a:r>
          </a:p>
          <a:p>
            <a:pPr algn="ctr"/>
            <a:r>
              <a:rPr sz="1300" b="0">
                <a:solidFill>
                  <a:srgbClr val="FFFFFF"/>
                </a:solidFill>
                <a:latin typeface="Calibri"/>
              </a:rPr>
              <a:t>0.45·IF + 0.55·AE</a:t>
            </a:r>
          </a:p>
          <a:p>
            <a:pPr algn="ctr"/>
            <a:r>
              <a:rPr sz="1300" b="0">
                <a:solidFill>
                  <a:srgbClr val="FFFFFF"/>
                </a:solidFill>
                <a:latin typeface="Calibri"/>
              </a:rPr>
              <a:t>calibrated 0–100</a:t>
            </a:r>
          </a:p>
        </p:txBody>
      </p:sp>
      <p:cxnSp>
        <p:nvCxnSpPr>
          <p:cNvPr id="8" name="Connector 7"/>
          <p:cNvCxnSpPr/>
          <p:nvPr/>
        </p:nvCxnSpPr>
        <p:spPr>
          <a:xfrm flipV="1">
            <a:off x="2514600" y="2167128"/>
            <a:ext cx="777240" cy="731520"/>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2514600" y="2898648"/>
            <a:ext cx="777240" cy="868680"/>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5943600" y="2167128"/>
            <a:ext cx="731520" cy="621792"/>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5943600" y="3063240"/>
            <a:ext cx="731520" cy="704088"/>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9235440" y="1691640"/>
            <a:ext cx="2331720" cy="603504"/>
          </a:xfrm>
          <a:prstGeom prst="roundRect">
            <a:avLst>
              <a:gd name="adj" fmla="val 12000"/>
            </a:avLst>
          </a:prstGeom>
          <a:solidFill>
            <a:srgbClr val="FFFFFF"/>
          </a:solidFill>
          <a:ln w="20320">
            <a:solidFill>
              <a:srgbClr val="B0352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B0352F"/>
                </a:solidFill>
                <a:latin typeface="Calibri"/>
              </a:rPr>
              <a:t>CRITICAL  ·  both flag</a:t>
            </a:r>
          </a:p>
        </p:txBody>
      </p:sp>
      <p:sp>
        <p:nvSpPr>
          <p:cNvPr id="13" name="Rounded Rectangle 12"/>
          <p:cNvSpPr/>
          <p:nvPr/>
        </p:nvSpPr>
        <p:spPr>
          <a:xfrm>
            <a:off x="9235440" y="2404872"/>
            <a:ext cx="2331720" cy="603504"/>
          </a:xfrm>
          <a:prstGeom prst="roundRect">
            <a:avLst>
              <a:gd name="adj" fmla="val 12000"/>
            </a:avLst>
          </a:prstGeom>
          <a:solidFill>
            <a:srgbClr val="FFFFFF"/>
          </a:solidFill>
          <a:ln w="20320">
            <a:solidFill>
              <a:srgbClr val="C57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C57A00"/>
                </a:solidFill>
                <a:latin typeface="Calibri"/>
              </a:rPr>
              <a:t>HIGH  ·  only AE</a:t>
            </a:r>
          </a:p>
        </p:txBody>
      </p:sp>
      <p:sp>
        <p:nvSpPr>
          <p:cNvPr id="14" name="Rounded Rectangle 13"/>
          <p:cNvSpPr/>
          <p:nvPr/>
        </p:nvSpPr>
        <p:spPr>
          <a:xfrm>
            <a:off x="9235440" y="3118104"/>
            <a:ext cx="2331720" cy="603504"/>
          </a:xfrm>
          <a:prstGeom prst="roundRect">
            <a:avLst>
              <a:gd name="adj" fmla="val 12000"/>
            </a:avLst>
          </a:prstGeom>
          <a:solidFill>
            <a:srgbClr val="FFFFFF"/>
          </a:solidFill>
          <a:ln w="2032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E75B6"/>
                </a:solidFill>
                <a:latin typeface="Calibri"/>
              </a:rPr>
              <a:t>POSSIBLE  ·  only IF ×0.65</a:t>
            </a:r>
          </a:p>
        </p:txBody>
      </p:sp>
      <p:sp>
        <p:nvSpPr>
          <p:cNvPr id="15" name="Rounded Rectangle 14"/>
          <p:cNvSpPr/>
          <p:nvPr/>
        </p:nvSpPr>
        <p:spPr>
          <a:xfrm>
            <a:off x="9235440" y="3831336"/>
            <a:ext cx="2331720" cy="603504"/>
          </a:xfrm>
          <a:prstGeom prst="roundRect">
            <a:avLst>
              <a:gd name="adj" fmla="val 12000"/>
            </a:avLst>
          </a:prstGeom>
          <a:solidFill>
            <a:srgbClr val="FFFFFF"/>
          </a:solidFill>
          <a:ln w="2032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2E7D5B"/>
                </a:solidFill>
                <a:latin typeface="Calibri"/>
              </a:rPr>
              <a:t>NORMAL  ·  neither</a:t>
            </a:r>
          </a:p>
        </p:txBody>
      </p:sp>
      <p:cxnSp>
        <p:nvCxnSpPr>
          <p:cNvPr id="16" name="Connector 15"/>
          <p:cNvCxnSpPr/>
          <p:nvPr/>
        </p:nvCxnSpPr>
        <p:spPr>
          <a:xfrm>
            <a:off x="8778240" y="2898648"/>
            <a:ext cx="457200" cy="0"/>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48640" y="4617720"/>
            <a:ext cx="11064240" cy="1463040"/>
          </a:xfrm>
          <a:prstGeom prst="rect">
            <a:avLst/>
          </a:prstGeom>
          <a:noFill/>
        </p:spPr>
        <p:txBody>
          <a:bodyPr wrap="square">
            <a:spAutoFit/>
          </a:bodyPr>
          <a:lstStyle/>
          <a:p>
            <a:pPr>
              <a:lnSpc>
                <a:spcPct val="108000"/>
              </a:lnSpc>
              <a:spcAft>
                <a:spcPts val="800"/>
              </a:spcAft>
            </a:pPr>
            <a:r>
              <a:rPr sz="1700">
                <a:solidFill>
                  <a:srgbClr val="2E75B6"/>
                </a:solidFill>
                <a:latin typeface="Calibri"/>
              </a:rPr>
              <a:t>▪  </a:t>
            </a:r>
            <a:r>
              <a:rPr sz="1700" b="1">
                <a:solidFill>
                  <a:srgbClr val="2D2D2D"/>
                </a:solidFill>
                <a:latin typeface="Calibri"/>
              </a:rPr>
              <a:t>Evading both is contradictory:</a:t>
            </a:r>
            <a:r>
              <a:rPr sz="1700">
                <a:solidFill>
                  <a:srgbClr val="2D2D2D"/>
                </a:solidFill>
                <a:latin typeface="Calibri"/>
              </a:rPr>
              <a:t> blending into density (fools IF) makes you statistically average — easy to reconstruct; mimicking the normal manifold (fools AE) needs common feature values — easy to isolate.</a:t>
            </a:r>
          </a:p>
          <a:p>
            <a:pPr>
              <a:lnSpc>
                <a:spcPct val="108000"/>
              </a:lnSpc>
              <a:spcAft>
                <a:spcPts val="800"/>
              </a:spcAft>
            </a:pPr>
            <a:r>
              <a:rPr sz="1700">
                <a:solidFill>
                  <a:srgbClr val="2E75B6"/>
                </a:solidFill>
                <a:latin typeface="Calibri"/>
              </a:rPr>
              <a:t>▪  </a:t>
            </a:r>
            <a:r>
              <a:rPr sz="1700" b="1">
                <a:solidFill>
                  <a:srgbClr val="2D2D2D"/>
                </a:solidFill>
                <a:latin typeface="Calibri"/>
              </a:rPr>
              <a:t>Tiers carry meaning, not just a number:</a:t>
            </a:r>
            <a:r>
              <a:rPr sz="1700">
                <a:solidFill>
                  <a:srgbClr val="2D2D2D"/>
                </a:solidFill>
                <a:latin typeface="Calibri"/>
              </a:rPr>
              <a:t> agreement = act now; single-model flags = review when time allows. 91.3% of detected attacks land in CRITICAL.</a:t>
            </a:r>
          </a:p>
        </p:txBody>
      </p:sp>
      <p:sp>
        <p:nvSpPr>
          <p:cNvPr id="18" name="TextBox 17"/>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Isolation Forest: Liu, Ting &amp; Zhou (2008) [20]; autoencoders: Michelucci (2022) [23] — thesis §3.2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All 16 features are ablation-tested: privilege changes, failed logins and rule severity carry the signal</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blation_light.png"/>
          <p:cNvPicPr>
            <a:picLocks noChangeAspect="1"/>
          </p:cNvPicPr>
          <p:nvPr/>
        </p:nvPicPr>
        <p:blipFill>
          <a:blip r:embed="rId2"/>
          <a:stretch>
            <a:fillRect/>
          </a:stretch>
        </p:blipFill>
        <p:spPr>
          <a:xfrm>
            <a:off x="548640" y="1417320"/>
            <a:ext cx="6675120" cy="3496491"/>
          </a:xfrm>
          <a:prstGeom prst="rect">
            <a:avLst/>
          </a:prstGeom>
        </p:spPr>
      </p:pic>
      <p:sp>
        <p:nvSpPr>
          <p:cNvPr id="5" name="TextBox 4"/>
          <p:cNvSpPr txBox="1"/>
          <p:nvPr/>
        </p:nvSpPr>
        <p:spPr>
          <a:xfrm>
            <a:off x="7589520" y="1417320"/>
            <a:ext cx="4023360" cy="365760"/>
          </a:xfrm>
          <a:prstGeom prst="rect">
            <a:avLst/>
          </a:prstGeom>
          <a:noFill/>
        </p:spPr>
        <p:txBody>
          <a:bodyPr wrap="square" anchor="t">
            <a:spAutoFit/>
          </a:bodyPr>
          <a:lstStyle/>
          <a:p>
            <a:pPr algn="l">
              <a:lnSpc>
                <a:spcPct val="100000"/>
              </a:lnSpc>
            </a:pPr>
            <a:r>
              <a:rPr sz="2000" b="1" i="0">
                <a:solidFill>
                  <a:srgbClr val="2E75B6"/>
                </a:solidFill>
                <a:latin typeface="Calibri"/>
              </a:rPr>
              <a:t>What the ablation shows</a:t>
            </a:r>
          </a:p>
        </p:txBody>
      </p:sp>
      <p:sp>
        <p:nvSpPr>
          <p:cNvPr id="6" name="TextBox 5"/>
          <p:cNvSpPr txBox="1"/>
          <p:nvPr/>
        </p:nvSpPr>
        <p:spPr>
          <a:xfrm>
            <a:off x="7589520" y="1874519"/>
            <a:ext cx="4023360" cy="2926080"/>
          </a:xfrm>
          <a:prstGeom prst="rect">
            <a:avLst/>
          </a:prstGeom>
          <a:noFill/>
        </p:spPr>
        <p:txBody>
          <a:bodyPr wrap="square">
            <a:spAutoFit/>
          </a:bodyPr>
          <a:lstStyle/>
          <a:p>
            <a:pPr>
              <a:lnSpc>
                <a:spcPct val="108000"/>
              </a:lnSpc>
              <a:spcAft>
                <a:spcPts val="1000"/>
              </a:spcAft>
            </a:pPr>
            <a:r>
              <a:rPr sz="1600">
                <a:solidFill>
                  <a:srgbClr val="2E75B6"/>
                </a:solidFill>
                <a:latin typeface="Calibri"/>
              </a:rPr>
              <a:t>▪  </a:t>
            </a:r>
            <a:r>
              <a:rPr sz="1600" b="1">
                <a:solidFill>
                  <a:srgbClr val="2D2D2D"/>
                </a:solidFill>
                <a:latin typeface="Calibri"/>
              </a:rPr>
              <a:t>Retrain from scratch per variant</a:t>
            </a:r>
            <a:r>
              <a:rPr sz="1600">
                <a:solidFill>
                  <a:srgbClr val="2D2D2D"/>
                </a:solidFill>
                <a:latin typeface="Calibri"/>
              </a:rPr>
              <a:t> (&lt; 5 s on ~2,200 alerts) — not approximated.</a:t>
            </a:r>
          </a:p>
          <a:p>
            <a:pPr>
              <a:lnSpc>
                <a:spcPct val="108000"/>
              </a:lnSpc>
              <a:spcAft>
                <a:spcPts val="1000"/>
              </a:spcAft>
            </a:pPr>
            <a:r>
              <a:rPr sz="1600">
                <a:solidFill>
                  <a:srgbClr val="2E75B6"/>
                </a:solidFill>
                <a:latin typeface="Calibri"/>
              </a:rPr>
              <a:t>▪  </a:t>
            </a:r>
            <a:r>
              <a:rPr sz="1600" b="1">
                <a:solidFill>
                  <a:srgbClr val="2D2D2D"/>
                </a:solidFill>
                <a:latin typeface="Calibri"/>
              </a:rPr>
              <a:t>privileged_account_change:</a:t>
            </a:r>
            <a:r>
              <a:rPr sz="1600">
                <a:solidFill>
                  <a:srgbClr val="2D2D2D"/>
                </a:solidFill>
                <a:latin typeface="Calibri"/>
              </a:rPr>
              <a:t> without it, new-user/promiscuous-mode attacks drop to 0% detection.</a:t>
            </a:r>
          </a:p>
          <a:p>
            <a:pPr>
              <a:lnSpc>
                <a:spcPct val="108000"/>
              </a:lnSpc>
              <a:spcAft>
                <a:spcPts val="1000"/>
              </a:spcAft>
            </a:pPr>
            <a:r>
              <a:rPr sz="1600">
                <a:solidFill>
                  <a:srgbClr val="2E75B6"/>
                </a:solidFill>
                <a:latin typeface="Calibri"/>
              </a:rPr>
              <a:t>▪  </a:t>
            </a:r>
            <a:r>
              <a:rPr sz="1600" b="1">
                <a:solidFill>
                  <a:srgbClr val="2D2D2D"/>
                </a:solidFill>
                <a:latin typeface="Calibri"/>
              </a:rPr>
              <a:t>failed_count:</a:t>
            </a:r>
            <a:r>
              <a:rPr sz="1600">
                <a:solidFill>
                  <a:srgbClr val="2D2D2D"/>
                </a:solidFill>
                <a:latin typeface="Calibri"/>
              </a:rPr>
              <a:t> the brute-force burst signal; CIS-aware zeroing avoids compliance-scan false positives.</a:t>
            </a:r>
          </a:p>
        </p:txBody>
      </p:sp>
      <p:sp>
        <p:nvSpPr>
          <p:cNvPr id="7" name="Rounded Rectangle 6"/>
          <p:cNvSpPr/>
          <p:nvPr/>
        </p:nvSpPr>
        <p:spPr>
          <a:xfrm>
            <a:off x="7589520" y="4892040"/>
            <a:ext cx="4023360" cy="1051560"/>
          </a:xfrm>
          <a:prstGeom prst="roundRect">
            <a:avLst>
              <a:gd name="adj" fmla="val 12000"/>
            </a:avLst>
          </a:prstGeom>
          <a:solidFill>
            <a:srgbClr val="FFF2CC"/>
          </a:solidFill>
          <a:ln w="12700">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7A5200"/>
                </a:solidFill>
                <a:latin typeface="Calibri"/>
              </a:rPr>
              <a:t>Counter-example: adding mitre_count → +8.9% false positives (training/production drift) — removed</a:t>
            </a:r>
          </a:p>
        </p:txBody>
      </p:sp>
      <p:sp>
        <p:nvSpPr>
          <p:cNvPr id="8" name="TextBox 7"/>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Ablation study — thesis §3.2 and Appendix 5 (baseline: 16 features, F1 = 89.2%, FPR = 8.0%)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Zero labels, contaminated data: iterative trimming makes ~30% attack contamination trainable</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45920"/>
            <a:ext cx="6309360" cy="914400"/>
          </a:xfrm>
          <a:prstGeom prst="roundRect">
            <a:avLst>
              <a:gd name="adj" fmla="val 12000"/>
            </a:avLst>
          </a:prstGeom>
          <a:solidFill>
            <a:srgbClr val="EBF3FA"/>
          </a:solidFill>
          <a:ln w="1651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r>
              <a:rPr sz="1600" b="1">
                <a:solidFill>
                  <a:srgbClr val="1F4E79"/>
                </a:solidFill>
                <a:latin typeface="Calibri"/>
              </a:rPr>
              <a:t>Round 1 — </a:t>
            </a:r>
            <a:r>
              <a:rPr sz="1550">
                <a:solidFill>
                  <a:srgbClr val="2D2D2D"/>
                </a:solidFill>
                <a:latin typeface="Calibri"/>
              </a:rPr>
              <a:t>train AE on ALL 2,171 alerts → drop top 25% reconstruction errors</a:t>
            </a:r>
          </a:p>
        </p:txBody>
      </p:sp>
      <p:cxnSp>
        <p:nvCxnSpPr>
          <p:cNvPr id="5" name="Connector 4"/>
          <p:cNvCxnSpPr/>
          <p:nvPr/>
        </p:nvCxnSpPr>
        <p:spPr>
          <a:xfrm>
            <a:off x="3657600" y="2560320"/>
            <a:ext cx="0" cy="256032"/>
          </a:xfrm>
          <a:prstGeom prst="bentConnector3">
            <a:avLst/>
          </a:prstGeom>
          <a:ln w="2286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548640" y="2816352"/>
            <a:ext cx="6309360" cy="914400"/>
          </a:xfrm>
          <a:prstGeom prst="roundRect">
            <a:avLst>
              <a:gd name="adj" fmla="val 12000"/>
            </a:avLst>
          </a:prstGeom>
          <a:solidFill>
            <a:srgbClr val="EBF3FA"/>
          </a:solidFill>
          <a:ln w="1651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r>
              <a:rPr sz="1600" b="1">
                <a:solidFill>
                  <a:srgbClr val="2E75B6"/>
                </a:solidFill>
                <a:latin typeface="Calibri"/>
              </a:rPr>
              <a:t>Round 2 — </a:t>
            </a:r>
            <a:r>
              <a:rPr sz="1550">
                <a:solidFill>
                  <a:srgbClr val="2D2D2D"/>
                </a:solidFill>
                <a:latin typeface="Calibri"/>
              </a:rPr>
              <a:t>retrain on the remainder → drop top 15% errors</a:t>
            </a:r>
          </a:p>
        </p:txBody>
      </p:sp>
      <p:cxnSp>
        <p:nvCxnSpPr>
          <p:cNvPr id="7" name="Connector 6"/>
          <p:cNvCxnSpPr/>
          <p:nvPr/>
        </p:nvCxnSpPr>
        <p:spPr>
          <a:xfrm>
            <a:off x="3657600" y="3730752"/>
            <a:ext cx="0" cy="256032"/>
          </a:xfrm>
          <a:prstGeom prst="bentConnector3">
            <a:avLst/>
          </a:prstGeom>
          <a:ln w="2286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548640" y="3986784"/>
            <a:ext cx="6309360" cy="914400"/>
          </a:xfrm>
          <a:prstGeom prst="roundRect">
            <a:avLst>
              <a:gd name="adj" fmla="val 12000"/>
            </a:avLst>
          </a:prstGeom>
          <a:solidFill>
            <a:srgbClr val="EBF3FA"/>
          </a:solidFill>
          <a:ln w="1651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lIns="128016"/>
          <a:lstStyle/>
          <a:p>
            <a:pPr algn="ctr"/>
            <a:r>
              <a:rPr sz="1600" b="1">
                <a:solidFill>
                  <a:srgbClr val="2E7D5B"/>
                </a:solidFill>
                <a:latin typeface="Calibri"/>
              </a:rPr>
              <a:t>Round 3 — </a:t>
            </a:r>
            <a:r>
              <a:rPr sz="1550">
                <a:solidFill>
                  <a:srgbClr val="2D2D2D"/>
                </a:solidFill>
                <a:latin typeface="Calibri"/>
              </a:rPr>
              <a:t>final fit on the clean estimate → calibrate on 2nd–98th percentiles → 0–100</a:t>
            </a:r>
          </a:p>
        </p:txBody>
      </p:sp>
      <p:sp>
        <p:nvSpPr>
          <p:cNvPr id="9" name="TextBox 8"/>
          <p:cNvSpPr txBox="1"/>
          <p:nvPr/>
        </p:nvSpPr>
        <p:spPr>
          <a:xfrm>
            <a:off x="548640" y="5257800"/>
            <a:ext cx="6309360" cy="822960"/>
          </a:xfrm>
          <a:prstGeom prst="rect">
            <a:avLst/>
          </a:prstGeom>
          <a:noFill/>
        </p:spPr>
        <p:txBody>
          <a:bodyPr wrap="square" anchor="t">
            <a:spAutoFit/>
          </a:bodyPr>
          <a:lstStyle/>
          <a:p>
            <a:pPr algn="l">
              <a:lnSpc>
                <a:spcPct val="100000"/>
              </a:lnSpc>
            </a:pPr>
            <a:r>
              <a:rPr sz="1450" b="0" i="1">
                <a:solidFill>
                  <a:srgbClr val="777777"/>
                </a:solidFill>
                <a:latin typeface="Calibri"/>
              </a:rPr>
              <a:t>Rationale: attacks reconstruct badly, so the worst-reconstructed tail is where they hide. The model bootstraps its own clean set — no analyst labelling, self-correcting on retrain.</a:t>
            </a:r>
          </a:p>
        </p:txBody>
      </p:sp>
      <p:sp>
        <p:nvSpPr>
          <p:cNvPr id="10" name="TextBox 9"/>
          <p:cNvSpPr txBox="1"/>
          <p:nvPr/>
        </p:nvSpPr>
        <p:spPr>
          <a:xfrm>
            <a:off x="7269480" y="1417320"/>
            <a:ext cx="4297680" cy="365760"/>
          </a:xfrm>
          <a:prstGeom prst="rect">
            <a:avLst/>
          </a:prstGeom>
          <a:noFill/>
        </p:spPr>
        <p:txBody>
          <a:bodyPr wrap="square" anchor="t">
            <a:spAutoFit/>
          </a:bodyPr>
          <a:lstStyle/>
          <a:p>
            <a:pPr algn="l">
              <a:lnSpc>
                <a:spcPct val="100000"/>
              </a:lnSpc>
            </a:pPr>
            <a:r>
              <a:rPr sz="2000" b="1" i="0">
                <a:solidFill>
                  <a:srgbClr val="2E75B6"/>
                </a:solidFill>
                <a:latin typeface="Calibri"/>
              </a:rPr>
              <a:t>Baseline vs. label-free</a:t>
            </a:r>
          </a:p>
        </p:txBody>
      </p:sp>
      <p:sp>
        <p:nvSpPr>
          <p:cNvPr id="11" name="Rectangle 10"/>
          <p:cNvSpPr/>
          <p:nvPr/>
        </p:nvSpPr>
        <p:spPr>
          <a:xfrm>
            <a:off x="7269480" y="1965960"/>
            <a:ext cx="1600200" cy="457200"/>
          </a:xfrm>
          <a:prstGeom prst="rect">
            <a:avLst/>
          </a:prstGeom>
          <a:solidFill>
            <a:srgbClr val="1F4E79"/>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
            </a:r>
          </a:p>
        </p:txBody>
      </p:sp>
      <p:sp>
        <p:nvSpPr>
          <p:cNvPr id="12" name="Rectangle 11"/>
          <p:cNvSpPr/>
          <p:nvPr/>
        </p:nvSpPr>
        <p:spPr>
          <a:xfrm>
            <a:off x="8869680" y="1965960"/>
            <a:ext cx="1371600" cy="457200"/>
          </a:xfrm>
          <a:prstGeom prst="rect">
            <a:avLst/>
          </a:prstGeom>
          <a:solidFill>
            <a:srgbClr val="1F4E79"/>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clean-only (baseline)</a:t>
            </a:r>
          </a:p>
        </p:txBody>
      </p:sp>
      <p:sp>
        <p:nvSpPr>
          <p:cNvPr id="13" name="Rectangle 12"/>
          <p:cNvSpPr/>
          <p:nvPr/>
        </p:nvSpPr>
        <p:spPr>
          <a:xfrm>
            <a:off x="10241280" y="1965960"/>
            <a:ext cx="1417320" cy="457200"/>
          </a:xfrm>
          <a:prstGeom prst="rect">
            <a:avLst/>
          </a:prstGeom>
          <a:solidFill>
            <a:srgbClr val="1F4E79"/>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00" b="1">
                <a:solidFill>
                  <a:srgbClr val="FFFFFF"/>
                </a:solidFill>
                <a:latin typeface="Calibri"/>
              </a:rPr>
              <a:t>unsupervised (final)</a:t>
            </a:r>
          </a:p>
        </p:txBody>
      </p:sp>
      <p:sp>
        <p:nvSpPr>
          <p:cNvPr id="14" name="Rectangle 13"/>
          <p:cNvSpPr/>
          <p:nvPr/>
        </p:nvSpPr>
        <p:spPr>
          <a:xfrm>
            <a:off x="7269480" y="2423160"/>
            <a:ext cx="1600200" cy="457200"/>
          </a:xfrm>
          <a:prstGeom prst="rect">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2D2D2D"/>
                </a:solidFill>
                <a:latin typeface="Calibri"/>
              </a:rPr>
              <a:t>False-positive rate</a:t>
            </a:r>
          </a:p>
        </p:txBody>
      </p:sp>
      <p:sp>
        <p:nvSpPr>
          <p:cNvPr id="15" name="Rectangle 14"/>
          <p:cNvSpPr/>
          <p:nvPr/>
        </p:nvSpPr>
        <p:spPr>
          <a:xfrm>
            <a:off x="8869680" y="2423160"/>
            <a:ext cx="1371600" cy="457200"/>
          </a:xfrm>
          <a:prstGeom prst="rect">
            <a:avLst/>
          </a:prstGeom>
          <a:solidFill>
            <a:srgbClr val="EBF3FA"/>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a:solidFill>
                  <a:srgbClr val="1F4E79"/>
                </a:solidFill>
                <a:latin typeface="Calibri"/>
              </a:rPr>
              <a:t>8.83%</a:t>
            </a:r>
          </a:p>
        </p:txBody>
      </p:sp>
      <p:sp>
        <p:nvSpPr>
          <p:cNvPr id="16" name="Rectangle 15"/>
          <p:cNvSpPr/>
          <p:nvPr/>
        </p:nvSpPr>
        <p:spPr>
          <a:xfrm>
            <a:off x="10241280" y="2423160"/>
            <a:ext cx="1417320" cy="457200"/>
          </a:xfrm>
          <a:prstGeom prst="rect">
            <a:avLst/>
          </a:prstGeom>
          <a:solidFill>
            <a:srgbClr val="EBF3FA"/>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a:solidFill>
                  <a:srgbClr val="1F4E79"/>
                </a:solidFill>
                <a:latin typeface="Calibri"/>
              </a:rPr>
              <a:t>6.2%  ▼</a:t>
            </a:r>
          </a:p>
        </p:txBody>
      </p:sp>
      <p:sp>
        <p:nvSpPr>
          <p:cNvPr id="17" name="Rectangle 16"/>
          <p:cNvSpPr/>
          <p:nvPr/>
        </p:nvSpPr>
        <p:spPr>
          <a:xfrm>
            <a:off x="7269480" y="2880360"/>
            <a:ext cx="1600200" cy="457200"/>
          </a:xfrm>
          <a:prstGeom prst="rect">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2D2D2D"/>
                </a:solidFill>
                <a:latin typeface="Calibri"/>
              </a:rPr>
              <a:t>Precision</a:t>
            </a:r>
          </a:p>
        </p:txBody>
      </p:sp>
      <p:sp>
        <p:nvSpPr>
          <p:cNvPr id="18" name="Rectangle 17"/>
          <p:cNvSpPr/>
          <p:nvPr/>
        </p:nvSpPr>
        <p:spPr>
          <a:xfrm>
            <a:off x="8869680" y="2880360"/>
            <a:ext cx="1371600" cy="457200"/>
          </a:xfrm>
          <a:prstGeom prst="rect">
            <a:avLst/>
          </a:prstGeom>
          <a:solidFill>
            <a:srgbClr val="EBF3FA"/>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a:solidFill>
                  <a:srgbClr val="1F4E79"/>
                </a:solidFill>
                <a:latin typeface="Calibri"/>
              </a:rPr>
              <a:t>83.7%</a:t>
            </a:r>
          </a:p>
        </p:txBody>
      </p:sp>
      <p:sp>
        <p:nvSpPr>
          <p:cNvPr id="19" name="Rectangle 18"/>
          <p:cNvSpPr/>
          <p:nvPr/>
        </p:nvSpPr>
        <p:spPr>
          <a:xfrm>
            <a:off x="10241280" y="2880360"/>
            <a:ext cx="1417320" cy="457200"/>
          </a:xfrm>
          <a:prstGeom prst="rect">
            <a:avLst/>
          </a:prstGeom>
          <a:solidFill>
            <a:srgbClr val="EBF3FA"/>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a:solidFill>
                  <a:srgbClr val="1F4E79"/>
                </a:solidFill>
                <a:latin typeface="Calibri"/>
              </a:rPr>
              <a:t>85.8%  ▲</a:t>
            </a:r>
          </a:p>
        </p:txBody>
      </p:sp>
      <p:sp>
        <p:nvSpPr>
          <p:cNvPr id="20" name="Rectangle 19"/>
          <p:cNvSpPr/>
          <p:nvPr/>
        </p:nvSpPr>
        <p:spPr>
          <a:xfrm>
            <a:off x="7269480" y="3337560"/>
            <a:ext cx="1600200" cy="457200"/>
          </a:xfrm>
          <a:prstGeom prst="rect">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2D2D2D"/>
                </a:solidFill>
                <a:latin typeface="Calibri"/>
              </a:rPr>
              <a:t>Recall</a:t>
            </a:r>
          </a:p>
        </p:txBody>
      </p:sp>
      <p:sp>
        <p:nvSpPr>
          <p:cNvPr id="21" name="Rectangle 20"/>
          <p:cNvSpPr/>
          <p:nvPr/>
        </p:nvSpPr>
        <p:spPr>
          <a:xfrm>
            <a:off x="8869680" y="3337560"/>
            <a:ext cx="1371600" cy="457200"/>
          </a:xfrm>
          <a:prstGeom prst="rect">
            <a:avLst/>
          </a:prstGeom>
          <a:solidFill>
            <a:srgbClr val="EBF3FA"/>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a:solidFill>
                  <a:srgbClr val="1F4E79"/>
                </a:solidFill>
                <a:latin typeface="Calibri"/>
              </a:rPr>
              <a:t>95.7%</a:t>
            </a:r>
          </a:p>
        </p:txBody>
      </p:sp>
      <p:sp>
        <p:nvSpPr>
          <p:cNvPr id="22" name="Rectangle 21"/>
          <p:cNvSpPr/>
          <p:nvPr/>
        </p:nvSpPr>
        <p:spPr>
          <a:xfrm>
            <a:off x="10241280" y="3337560"/>
            <a:ext cx="1417320" cy="457200"/>
          </a:xfrm>
          <a:prstGeom prst="rect">
            <a:avLst/>
          </a:prstGeom>
          <a:solidFill>
            <a:srgbClr val="EBF3FA"/>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a:solidFill>
                  <a:srgbClr val="1F4E79"/>
                </a:solidFill>
                <a:latin typeface="Calibri"/>
              </a:rPr>
              <a:t>90.3%</a:t>
            </a:r>
          </a:p>
        </p:txBody>
      </p:sp>
      <p:sp>
        <p:nvSpPr>
          <p:cNvPr id="23" name="Rectangle 22"/>
          <p:cNvSpPr/>
          <p:nvPr/>
        </p:nvSpPr>
        <p:spPr>
          <a:xfrm>
            <a:off x="7269480" y="3794760"/>
            <a:ext cx="1600200" cy="457200"/>
          </a:xfrm>
          <a:prstGeom prst="rect">
            <a:avLst/>
          </a:prstGeom>
          <a:solidFill>
            <a:srgbClr val="FFFFFF"/>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2D2D2D"/>
                </a:solidFill>
                <a:latin typeface="Calibri"/>
              </a:rPr>
              <a:t>F1-score</a:t>
            </a:r>
          </a:p>
        </p:txBody>
      </p:sp>
      <p:sp>
        <p:nvSpPr>
          <p:cNvPr id="24" name="Rectangle 23"/>
          <p:cNvSpPr/>
          <p:nvPr/>
        </p:nvSpPr>
        <p:spPr>
          <a:xfrm>
            <a:off x="8869680" y="3794760"/>
            <a:ext cx="1371600" cy="457200"/>
          </a:xfrm>
          <a:prstGeom prst="rect">
            <a:avLst/>
          </a:prstGeom>
          <a:solidFill>
            <a:srgbClr val="EBF3FA"/>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a:solidFill>
                  <a:srgbClr val="1F4E79"/>
                </a:solidFill>
                <a:latin typeface="Calibri"/>
              </a:rPr>
              <a:t>89.3%</a:t>
            </a:r>
          </a:p>
        </p:txBody>
      </p:sp>
      <p:sp>
        <p:nvSpPr>
          <p:cNvPr id="25" name="Rectangle 24"/>
          <p:cNvSpPr/>
          <p:nvPr/>
        </p:nvSpPr>
        <p:spPr>
          <a:xfrm>
            <a:off x="10241280" y="3794760"/>
            <a:ext cx="1417320" cy="457200"/>
          </a:xfrm>
          <a:prstGeom prst="rect">
            <a:avLst/>
          </a:prstGeom>
          <a:solidFill>
            <a:srgbClr val="EBF3FA"/>
          </a:solidFill>
          <a:ln w="9525">
            <a:solidFill>
              <a:srgbClr val="CCCCCC"/>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0">
                <a:solidFill>
                  <a:srgbClr val="1F4E79"/>
                </a:solidFill>
                <a:latin typeface="Calibri"/>
              </a:rPr>
              <a:t>88.0%</a:t>
            </a:r>
          </a:p>
        </p:txBody>
      </p:sp>
      <p:sp>
        <p:nvSpPr>
          <p:cNvPr id="26" name="TextBox 25"/>
          <p:cNvSpPr txBox="1"/>
          <p:nvPr/>
        </p:nvSpPr>
        <p:spPr>
          <a:xfrm>
            <a:off x="7269480" y="4434840"/>
            <a:ext cx="4297680" cy="1463040"/>
          </a:xfrm>
          <a:prstGeom prst="rect">
            <a:avLst/>
          </a:prstGeom>
          <a:noFill/>
        </p:spPr>
        <p:txBody>
          <a:bodyPr wrap="square" anchor="t">
            <a:spAutoFit/>
          </a:bodyPr>
          <a:lstStyle/>
          <a:p>
            <a:pPr algn="l">
              <a:lnSpc>
                <a:spcPct val="100000"/>
              </a:lnSpc>
            </a:pPr>
            <a:r>
              <a:rPr sz="1450" b="0" i="1">
                <a:solidFill>
                  <a:srgbClr val="777777"/>
                </a:solidFill>
                <a:latin typeface="Calibri"/>
              </a:rPr>
              <a:t>Training only on “verified clean” data assumes a labelling capability production does not have. The final model trades ~5 pts of recall for fewer false alarms and zero labelling cost.</a:t>
            </a:r>
          </a:p>
        </p:txBody>
      </p:sp>
      <p:sp>
        <p:nvSpPr>
          <p:cNvPr id="27" name="TextBox 26"/>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Tables 4.2.1–4.2.2, D_train = 2,171 alerts (1,534 benign / 637 attack) — thesis §4.2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The ensemble misses the fewest attacks: 41 vs 62 (IF alone) and 208 (AE alone)</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onfusion_light.png"/>
          <p:cNvPicPr>
            <a:picLocks noChangeAspect="1"/>
          </p:cNvPicPr>
          <p:nvPr/>
        </p:nvPicPr>
        <p:blipFill>
          <a:blip r:embed="rId2"/>
          <a:stretch>
            <a:fillRect/>
          </a:stretch>
        </p:blipFill>
        <p:spPr>
          <a:xfrm>
            <a:off x="548640" y="1371600"/>
            <a:ext cx="5914339" cy="4480560"/>
          </a:xfrm>
          <a:prstGeom prst="rect">
            <a:avLst/>
          </a:prstGeom>
        </p:spPr>
      </p:pic>
      <p:sp>
        <p:nvSpPr>
          <p:cNvPr id="5" name="TextBox 4"/>
          <p:cNvSpPr txBox="1"/>
          <p:nvPr/>
        </p:nvSpPr>
        <p:spPr>
          <a:xfrm>
            <a:off x="6949440" y="1417320"/>
            <a:ext cx="4663440" cy="365760"/>
          </a:xfrm>
          <a:prstGeom prst="rect">
            <a:avLst/>
          </a:prstGeom>
          <a:noFill/>
        </p:spPr>
        <p:txBody>
          <a:bodyPr wrap="square" anchor="t">
            <a:spAutoFit/>
          </a:bodyPr>
          <a:lstStyle/>
          <a:p>
            <a:pPr algn="l">
              <a:lnSpc>
                <a:spcPct val="100000"/>
              </a:lnSpc>
            </a:pPr>
            <a:r>
              <a:rPr sz="2000" b="1" i="0">
                <a:solidFill>
                  <a:srgbClr val="2E75B6"/>
                </a:solidFill>
                <a:latin typeface="Calibri"/>
              </a:rPr>
              <a:t>On 2,171 real alerts</a:t>
            </a:r>
          </a:p>
        </p:txBody>
      </p:sp>
      <p:sp>
        <p:nvSpPr>
          <p:cNvPr id="6" name="TextBox 5"/>
          <p:cNvSpPr txBox="1"/>
          <p:nvPr/>
        </p:nvSpPr>
        <p:spPr>
          <a:xfrm>
            <a:off x="6949440" y="1874519"/>
            <a:ext cx="4663440" cy="2743200"/>
          </a:xfrm>
          <a:prstGeom prst="rect">
            <a:avLst/>
          </a:prstGeom>
          <a:noFill/>
        </p:spPr>
        <p:txBody>
          <a:bodyPr wrap="square">
            <a:spAutoFit/>
          </a:bodyPr>
          <a:lstStyle/>
          <a:p>
            <a:pPr>
              <a:lnSpc>
                <a:spcPct val="108000"/>
              </a:lnSpc>
              <a:spcAft>
                <a:spcPts val="1200"/>
              </a:spcAft>
            </a:pPr>
            <a:r>
              <a:rPr sz="1650">
                <a:solidFill>
                  <a:srgbClr val="2E75B6"/>
                </a:solidFill>
                <a:latin typeface="Calibri"/>
              </a:rPr>
              <a:t>▪  </a:t>
            </a:r>
            <a:r>
              <a:rPr sz="1650" b="1">
                <a:solidFill>
                  <a:srgbClr val="2D2D2D"/>
                </a:solidFill>
                <a:latin typeface="Calibri"/>
              </a:rPr>
              <a:t>Ensemble:</a:t>
            </a:r>
            <a:r>
              <a:rPr sz="1650">
                <a:solidFill>
                  <a:srgbClr val="2D2D2D"/>
                </a:solidFill>
                <a:latin typeface="Calibri"/>
              </a:rPr>
              <a:t> precision 82.1% · recall 93.6% · F1 87.5%</a:t>
            </a:r>
          </a:p>
          <a:p>
            <a:pPr>
              <a:lnSpc>
                <a:spcPct val="108000"/>
              </a:lnSpc>
              <a:spcAft>
                <a:spcPts val="1200"/>
              </a:spcAft>
            </a:pPr>
            <a:r>
              <a:rPr sz="1650">
                <a:solidFill>
                  <a:srgbClr val="2E75B6"/>
                </a:solidFill>
                <a:latin typeface="Calibri"/>
              </a:rPr>
              <a:t>▪  </a:t>
            </a:r>
            <a:r>
              <a:rPr sz="1650" b="1">
                <a:solidFill>
                  <a:srgbClr val="2D2D2D"/>
                </a:solidFill>
                <a:latin typeface="Calibri"/>
              </a:rPr>
              <a:t>Standalone AUC:</a:t>
            </a:r>
            <a:r>
              <a:rPr sz="1650">
                <a:solidFill>
                  <a:srgbClr val="2D2D2D"/>
                </a:solidFill>
                <a:latin typeface="Calibri"/>
              </a:rPr>
              <a:t> IF 0.942 — the workhorse; AE 0.748 — the second opinion that cuts false alarms.</a:t>
            </a:r>
          </a:p>
          <a:p>
            <a:pPr>
              <a:lnSpc>
                <a:spcPct val="108000"/>
              </a:lnSpc>
              <a:spcAft>
                <a:spcPts val="1200"/>
              </a:spcAft>
            </a:pPr>
            <a:r>
              <a:rPr sz="1650">
                <a:solidFill>
                  <a:srgbClr val="2E75B6"/>
                </a:solidFill>
                <a:latin typeface="Calibri"/>
              </a:rPr>
              <a:t>▪  </a:t>
            </a:r>
            <a:r>
              <a:rPr sz="1650" b="1">
                <a:solidFill>
                  <a:srgbClr val="2D2D2D"/>
                </a:solidFill>
                <a:latin typeface="Calibri"/>
              </a:rPr>
              <a:t>Real data, real attacks:</a:t>
            </a:r>
            <a:r>
              <a:rPr sz="1650">
                <a:solidFill>
                  <a:srgbClr val="2D2D2D"/>
                </a:solidFill>
                <a:latin typeface="Calibri"/>
              </a:rPr>
              <a:t> months of live Wazuh telemetry + a WordPress site attacked in the wild for two months.</a:t>
            </a:r>
          </a:p>
        </p:txBody>
      </p:sp>
      <p:sp>
        <p:nvSpPr>
          <p:cNvPr id="7" name="Rounded Rectangle 6"/>
          <p:cNvSpPr/>
          <p:nvPr/>
        </p:nvSpPr>
        <p:spPr>
          <a:xfrm>
            <a:off x="6949440" y="4846320"/>
            <a:ext cx="4663440" cy="1005840"/>
          </a:xfrm>
          <a:prstGeom prst="roundRect">
            <a:avLst>
              <a:gd name="adj" fmla="val 12000"/>
            </a:avLst>
          </a:prstGeom>
          <a:solidFill>
            <a:srgbClr val="FFF2CC"/>
          </a:solidFill>
          <a:ln w="12700">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1">
                <a:solidFill>
                  <a:srgbClr val="7A5200"/>
                </a:solidFill>
                <a:latin typeface="Calibri"/>
              </a:rPr>
              <a:t>Design intent: fewest missed attacks beats the prettiest F1 — misses are what hurt a SOC</a:t>
            </a:r>
          </a:p>
        </p:txBody>
      </p:sp>
      <p:sp>
        <p:nvSpPr>
          <p:cNvPr id="8" name="TextBox 7"/>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Figure 4.2.7 (ensemble confusion matrix), Table 4.2.4, Figure 4.2.6 (ROC) — thesis §4.2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The RAG copilot grounds a local LLM in a self-updating threat knowledge base — every choice ablated</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91640"/>
            <a:ext cx="1417320" cy="960120"/>
          </a:xfrm>
          <a:prstGeom prst="roundRect">
            <a:avLst>
              <a:gd name="adj" fmla="val 12000"/>
            </a:avLst>
          </a:prstGeom>
          <a:solidFill>
            <a:srgbClr val="EBF3FA"/>
          </a:solidFill>
          <a:ln w="1651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1">
                <a:solidFill>
                  <a:srgbClr val="1F4E79"/>
                </a:solidFill>
                <a:latin typeface="Calibri"/>
              </a:rPr>
              <a:t>alert /</a:t>
            </a:r>
          </a:p>
          <a:p>
            <a:pPr algn="ctr"/>
            <a:r>
              <a:rPr sz="1150" b="0">
                <a:solidFill>
                  <a:srgbClr val="1F4E79"/>
                </a:solidFill>
                <a:latin typeface="Calibri"/>
              </a:rPr>
              <a:t>analyst query</a:t>
            </a:r>
          </a:p>
        </p:txBody>
      </p:sp>
      <p:cxnSp>
        <p:nvCxnSpPr>
          <p:cNvPr id="5" name="Connector 4"/>
          <p:cNvCxnSpPr/>
          <p:nvPr/>
        </p:nvCxnSpPr>
        <p:spPr>
          <a:xfrm>
            <a:off x="1965960" y="2148840"/>
            <a:ext cx="320040" cy="0"/>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2286000" y="1691640"/>
            <a:ext cx="1600200" cy="960120"/>
          </a:xfrm>
          <a:prstGeom prst="roundRect">
            <a:avLst>
              <a:gd name="adj" fmla="val 12000"/>
            </a:avLst>
          </a:prstGeom>
          <a:solidFill>
            <a:srgbClr val="EBF3FA"/>
          </a:solidFill>
          <a:ln w="1651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1">
                <a:solidFill>
                  <a:srgbClr val="1F4E79"/>
                </a:solidFill>
                <a:latin typeface="Calibri"/>
              </a:rPr>
              <a:t>MiniLM-L6-v2</a:t>
            </a:r>
          </a:p>
          <a:p>
            <a:pPr algn="ctr"/>
            <a:r>
              <a:rPr sz="1150" b="0">
                <a:solidFill>
                  <a:srgbClr val="1F4E79"/>
                </a:solidFill>
                <a:latin typeface="Calibri"/>
              </a:rPr>
              <a:t>384-d embedding</a:t>
            </a:r>
          </a:p>
        </p:txBody>
      </p:sp>
      <p:cxnSp>
        <p:nvCxnSpPr>
          <p:cNvPr id="7" name="Connector 6"/>
          <p:cNvCxnSpPr/>
          <p:nvPr/>
        </p:nvCxnSpPr>
        <p:spPr>
          <a:xfrm>
            <a:off x="3886200" y="2148840"/>
            <a:ext cx="411480" cy="0"/>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297680" y="1307592"/>
            <a:ext cx="1920240" cy="731520"/>
          </a:xfrm>
          <a:prstGeom prst="roundRect">
            <a:avLst>
              <a:gd name="adj" fmla="val 12000"/>
            </a:avLst>
          </a:prstGeom>
          <a:solidFill>
            <a:srgbClr val="EBF3FA"/>
          </a:solidFill>
          <a:ln w="1524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1">
                <a:solidFill>
                  <a:srgbClr val="2E75B6"/>
                </a:solidFill>
                <a:latin typeface="Calibri"/>
              </a:rPr>
              <a:t>dense · cosine</a:t>
            </a:r>
          </a:p>
        </p:txBody>
      </p:sp>
      <p:sp>
        <p:nvSpPr>
          <p:cNvPr id="9" name="Rounded Rectangle 8"/>
          <p:cNvSpPr/>
          <p:nvPr/>
        </p:nvSpPr>
        <p:spPr>
          <a:xfrm>
            <a:off x="4297680" y="2313432"/>
            <a:ext cx="1920240" cy="731520"/>
          </a:xfrm>
          <a:prstGeom prst="roundRect">
            <a:avLst>
              <a:gd name="adj" fmla="val 12000"/>
            </a:avLst>
          </a:prstGeom>
          <a:solidFill>
            <a:srgbClr val="EBF3FA"/>
          </a:solidFill>
          <a:ln w="1524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1">
                <a:solidFill>
                  <a:srgbClr val="2E75B6"/>
                </a:solidFill>
                <a:latin typeface="Calibri"/>
              </a:rPr>
              <a:t>sparse · BM25</a:t>
            </a:r>
          </a:p>
        </p:txBody>
      </p:sp>
      <p:cxnSp>
        <p:nvCxnSpPr>
          <p:cNvPr id="10" name="Connector 9"/>
          <p:cNvCxnSpPr/>
          <p:nvPr/>
        </p:nvCxnSpPr>
        <p:spPr>
          <a:xfrm>
            <a:off x="6217920" y="1673352"/>
            <a:ext cx="411480" cy="384048"/>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217920" y="2295144"/>
            <a:ext cx="411480" cy="384048"/>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6629400" y="1691640"/>
            <a:ext cx="1371600" cy="960120"/>
          </a:xfrm>
          <a:prstGeom prst="roundRect">
            <a:avLst>
              <a:gd name="adj" fmla="val 12000"/>
            </a:avLst>
          </a:prstGeom>
          <a:solidFill>
            <a:srgbClr val="EBF3FA"/>
          </a:solidFill>
          <a:ln w="1651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1">
                <a:solidFill>
                  <a:srgbClr val="1F4E79"/>
                </a:solidFill>
                <a:latin typeface="Calibri"/>
              </a:rPr>
              <a:t>RRF fusion</a:t>
            </a:r>
          </a:p>
          <a:p>
            <a:pPr algn="ctr"/>
            <a:r>
              <a:rPr sz="1150" b="0">
                <a:solidFill>
                  <a:srgbClr val="1F4E79"/>
                </a:solidFill>
                <a:latin typeface="Calibri"/>
              </a:rPr>
              <a:t>top k = 5</a:t>
            </a:r>
          </a:p>
        </p:txBody>
      </p:sp>
      <p:cxnSp>
        <p:nvCxnSpPr>
          <p:cNvPr id="13" name="Connector 12"/>
          <p:cNvCxnSpPr/>
          <p:nvPr/>
        </p:nvCxnSpPr>
        <p:spPr>
          <a:xfrm>
            <a:off x="8001000" y="2148840"/>
            <a:ext cx="411480" cy="0"/>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8412480" y="1691640"/>
            <a:ext cx="3154680" cy="960120"/>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350" b="1">
                <a:solidFill>
                  <a:srgbClr val="FFFFFF"/>
                </a:solidFill>
                <a:latin typeface="Calibri"/>
              </a:rPr>
              <a:t>llama3.2 · grounded prompt</a:t>
            </a:r>
          </a:p>
          <a:p>
            <a:pPr algn="ctr"/>
            <a:r>
              <a:rPr sz="1150" b="0">
                <a:solidFill>
                  <a:srgbClr val="FFFFFF"/>
                </a:solidFill>
                <a:latin typeface="Calibri"/>
              </a:rPr>
              <a:t>“answer ONLY from context, cite [Source], refuse if absent”</a:t>
            </a:r>
          </a:p>
        </p:txBody>
      </p:sp>
      <p:sp>
        <p:nvSpPr>
          <p:cNvPr id="15" name="TextBox 14"/>
          <p:cNvSpPr txBox="1"/>
          <p:nvPr/>
        </p:nvSpPr>
        <p:spPr>
          <a:xfrm>
            <a:off x="548640" y="3200400"/>
            <a:ext cx="10972800" cy="365760"/>
          </a:xfrm>
          <a:prstGeom prst="rect">
            <a:avLst/>
          </a:prstGeom>
          <a:noFill/>
        </p:spPr>
        <p:txBody>
          <a:bodyPr wrap="square" anchor="t">
            <a:spAutoFit/>
          </a:bodyPr>
          <a:lstStyle/>
          <a:p>
            <a:pPr algn="l">
              <a:lnSpc>
                <a:spcPct val="100000"/>
              </a:lnSpc>
            </a:pPr>
            <a:r>
              <a:rPr sz="2000" b="1" i="0">
                <a:solidFill>
                  <a:srgbClr val="1F4E79"/>
                </a:solidFill>
                <a:latin typeface="Calibri"/>
              </a:rPr>
              <a:t>Each design decision was measured, not assumed</a:t>
            </a:r>
          </a:p>
        </p:txBody>
      </p:sp>
      <p:sp>
        <p:nvSpPr>
          <p:cNvPr id="16" name="TextBox 15"/>
          <p:cNvSpPr txBox="1"/>
          <p:nvPr/>
        </p:nvSpPr>
        <p:spPr>
          <a:xfrm>
            <a:off x="548640" y="3657600"/>
            <a:ext cx="11155680" cy="566928"/>
          </a:xfrm>
          <a:prstGeom prst="rect">
            <a:avLst/>
          </a:prstGeom>
          <a:noFill/>
        </p:spPr>
        <p:txBody>
          <a:bodyPr wrap="square">
            <a:spAutoFit/>
          </a:bodyPr>
          <a:lstStyle/>
          <a:p>
            <a:r>
              <a:rPr sz="1500" b="1">
                <a:solidFill>
                  <a:srgbClr val="1F4E79"/>
                </a:solidFill>
                <a:latin typeface="Calibri"/>
              </a:rPr>
              <a:t>▪  Chunking: 512 tokens + 25% overlap — </a:t>
            </a:r>
            <a:r>
              <a:rPr sz="1500">
                <a:solidFill>
                  <a:srgbClr val="2D2D2D"/>
                </a:solidFill>
                <a:latin typeface="Calibri"/>
              </a:rPr>
              <a:t>beats 128/256/1024 — Recall@5 48.4%, Hit-Rate 82.9%, MRR 0.695</a:t>
            </a:r>
          </a:p>
        </p:txBody>
      </p:sp>
      <p:sp>
        <p:nvSpPr>
          <p:cNvPr id="17" name="TextBox 16"/>
          <p:cNvSpPr txBox="1"/>
          <p:nvPr/>
        </p:nvSpPr>
        <p:spPr>
          <a:xfrm>
            <a:off x="548640" y="4224528"/>
            <a:ext cx="11155680" cy="566928"/>
          </a:xfrm>
          <a:prstGeom prst="rect">
            <a:avLst/>
          </a:prstGeom>
          <a:noFill/>
        </p:spPr>
        <p:txBody>
          <a:bodyPr wrap="square">
            <a:spAutoFit/>
          </a:bodyPr>
          <a:lstStyle/>
          <a:p>
            <a:r>
              <a:rPr sz="1500" b="1">
                <a:solidFill>
                  <a:srgbClr val="1F4E79"/>
                </a:solidFill>
                <a:latin typeface="Calibri"/>
              </a:rPr>
              <a:t>▪  k = 5 context chunks — </a:t>
            </a:r>
            <a:r>
              <a:rPr sz="1500">
                <a:solidFill>
                  <a:srgbClr val="2D2D2D"/>
                </a:solidFill>
                <a:latin typeface="Calibri"/>
              </a:rPr>
              <a:t>best hit-rate inside llama3.2's 8K window; k=10+ dilutes attention (lost-in-the-middle)</a:t>
            </a:r>
          </a:p>
        </p:txBody>
      </p:sp>
      <p:sp>
        <p:nvSpPr>
          <p:cNvPr id="18" name="TextBox 17"/>
          <p:cNvSpPr txBox="1"/>
          <p:nvPr/>
        </p:nvSpPr>
        <p:spPr>
          <a:xfrm>
            <a:off x="548640" y="4791456"/>
            <a:ext cx="11155680" cy="566928"/>
          </a:xfrm>
          <a:prstGeom prst="rect">
            <a:avLst/>
          </a:prstGeom>
          <a:noFill/>
        </p:spPr>
        <p:txBody>
          <a:bodyPr wrap="square">
            <a:spAutoFit/>
          </a:bodyPr>
          <a:lstStyle/>
          <a:p>
            <a:r>
              <a:rPr sz="1500" b="1">
                <a:solidFill>
                  <a:srgbClr val="1F4E79"/>
                </a:solidFill>
                <a:latin typeface="Calibri"/>
              </a:rPr>
              <a:t>▪  RRF instead of a cross-encoder — </a:t>
            </a:r>
            <a:r>
              <a:rPr sz="1500">
                <a:solidFill>
                  <a:srgbClr val="2D2D2D"/>
                </a:solidFill>
                <a:latin typeface="Calibri"/>
              </a:rPr>
              <a:t>ms-marco re-ranker degraded domain queries; rank fusion needs no learned judgement</a:t>
            </a:r>
          </a:p>
        </p:txBody>
      </p:sp>
      <p:sp>
        <p:nvSpPr>
          <p:cNvPr id="19" name="TextBox 18"/>
          <p:cNvSpPr txBox="1"/>
          <p:nvPr/>
        </p:nvSpPr>
        <p:spPr>
          <a:xfrm>
            <a:off x="548640" y="5358384"/>
            <a:ext cx="11155680" cy="566928"/>
          </a:xfrm>
          <a:prstGeom prst="rect">
            <a:avLst/>
          </a:prstGeom>
          <a:noFill/>
        </p:spPr>
        <p:txBody>
          <a:bodyPr wrap="square">
            <a:spAutoFit/>
          </a:bodyPr>
          <a:lstStyle/>
          <a:p>
            <a:r>
              <a:rPr sz="1500" b="1">
                <a:solidFill>
                  <a:srgbClr val="1F4E79"/>
                </a:solidFill>
                <a:latin typeface="Calibri"/>
              </a:rPr>
              <a:t>▪  Self-updating corpus — </a:t>
            </a:r>
            <a:r>
              <a:rPr sz="1500">
                <a:solidFill>
                  <a:srgbClr val="2D2D2D"/>
                </a:solidFill>
                <a:latin typeface="Calibri"/>
              </a:rPr>
              <a:t>scheduled CVE agent: fetch NVD/CISA-KEV → dedup → LLM relevance 0–10 → ≥7 index · 4–6 human queue · &lt;4 drop</a:t>
            </a:r>
          </a:p>
        </p:txBody>
      </p:sp>
      <p:sp>
        <p:nvSpPr>
          <p:cNvPr id="20" name="TextBox 19"/>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Tables 3.3.2 (chunk ablation), 4.3.2 (top-k), §4.3 stage 5 (RRF vs cross-encoder), CVE agent §4.3 — thesis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Two stores, two questions: Qdrant finds what is similar, PostgreSQL records what is true</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417320"/>
            <a:ext cx="5349240" cy="475488"/>
          </a:xfrm>
          <a:prstGeom prst="roundRect">
            <a:avLst>
              <a:gd name="adj" fmla="val 12000"/>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FFFFFF"/>
                </a:solidFill>
                <a:latin typeface="Calibri"/>
              </a:rPr>
              <a:t>Qdrant — vector store · “what is similar?”</a:t>
            </a:r>
          </a:p>
        </p:txBody>
      </p:sp>
      <p:sp>
        <p:nvSpPr>
          <p:cNvPr id="5" name="Rounded Rectangle 4"/>
          <p:cNvSpPr/>
          <p:nvPr/>
        </p:nvSpPr>
        <p:spPr>
          <a:xfrm>
            <a:off x="6263640" y="1417320"/>
            <a:ext cx="5349240" cy="475488"/>
          </a:xfrm>
          <a:prstGeom prst="roundRect">
            <a:avLst>
              <a:gd name="adj" fmla="val 12000"/>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600" b="1">
                <a:solidFill>
                  <a:srgbClr val="FFFFFF"/>
                </a:solidFill>
                <a:latin typeface="Calibri"/>
              </a:rPr>
              <a:t>PostgreSQL — audit ledger · “what is true?”</a:t>
            </a:r>
          </a:p>
        </p:txBody>
      </p:sp>
      <p:sp>
        <p:nvSpPr>
          <p:cNvPr id="6" name="Rectangle 5"/>
          <p:cNvSpPr/>
          <p:nvPr/>
        </p:nvSpPr>
        <p:spPr>
          <a:xfrm>
            <a:off x="548640" y="1920240"/>
            <a:ext cx="5349240" cy="3246120"/>
          </a:xfrm>
          <a:prstGeom prst="rect">
            <a:avLst/>
          </a:prstGeom>
          <a:solidFill>
            <a:srgbClr val="EBF3FA"/>
          </a:solidFill>
          <a:ln w="1270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28016"/>
          <a:lstStyle/>
          <a:p>
            <a:pPr algn="ctr">
              <a:lnSpc>
                <a:spcPct val="105000"/>
              </a:lnSpc>
              <a:spcAft>
                <a:spcPts val="900"/>
              </a:spcAft>
            </a:pPr>
            <a:r>
              <a:rPr sz="1500" b="1">
                <a:solidFill>
                  <a:srgbClr val="2E75B6"/>
                </a:solidFill>
                <a:latin typeface="Calibri"/>
              </a:rPr>
              <a:t>▪ Data:</a:t>
            </a:r>
            <a:r>
              <a:rPr sz="1500">
                <a:solidFill>
                  <a:srgbClr val="2D2D2D"/>
                </a:solidFill>
                <a:latin typeface="Calibri"/>
              </a:rPr>
              <a:t> text → 384-d embeddings (MiniLM) + BM25 sparse vectors</a:t>
            </a:r>
          </a:p>
          <a:p>
            <a:pPr>
              <a:lnSpc>
                <a:spcPct val="105000"/>
              </a:lnSpc>
              <a:spcAft>
                <a:spcPts val="900"/>
              </a:spcAft>
            </a:pPr>
            <a:r>
              <a:rPr sz="1500" b="1">
                <a:solidFill>
                  <a:srgbClr val="2E75B6"/>
                </a:solidFill>
                <a:latin typeface="Calibri"/>
              </a:rPr>
              <a:t>▪ Index:</a:t>
            </a:r>
            <a:r>
              <a:rPr sz="1500">
                <a:solidFill>
                  <a:srgbClr val="2D2D2D"/>
                </a:solidFill>
                <a:latin typeface="Calibri"/>
              </a:rPr>
              <a:t> HNSW approximate nearest-neighbour, sub-linear</a:t>
            </a:r>
          </a:p>
          <a:p>
            <a:pPr>
              <a:lnSpc>
                <a:spcPct val="105000"/>
              </a:lnSpc>
              <a:spcAft>
                <a:spcPts val="900"/>
              </a:spcAft>
            </a:pPr>
            <a:r>
              <a:rPr sz="1500" b="1">
                <a:solidFill>
                  <a:srgbClr val="2E75B6"/>
                </a:solidFill>
                <a:latin typeface="Calibri"/>
              </a:rPr>
              <a:t>▪ Query:</a:t>
            </a:r>
            <a:r>
              <a:rPr sz="1500">
                <a:solidFill>
                  <a:srgbClr val="2D2D2D"/>
                </a:solidFill>
                <a:latin typeface="Calibri"/>
              </a:rPr>
              <a:t> hybrid dense + sparse, fused with RRF</a:t>
            </a:r>
          </a:p>
          <a:p>
            <a:pPr>
              <a:lnSpc>
                <a:spcPct val="105000"/>
              </a:lnSpc>
              <a:spcAft>
                <a:spcPts val="900"/>
              </a:spcAft>
            </a:pPr>
            <a:r>
              <a:rPr sz="1500" b="1">
                <a:solidFill>
                  <a:srgbClr val="2E75B6"/>
                </a:solidFill>
                <a:latin typeface="Calibri"/>
              </a:rPr>
              <a:t>▪ Holds:</a:t>
            </a:r>
            <a:r>
              <a:rPr sz="1500">
                <a:solidFill>
                  <a:srgbClr val="2D2D2D"/>
                </a:solidFill>
                <a:latin typeface="Calibri"/>
              </a:rPr>
              <a:t> verified threat intel + alert episodes only</a:t>
            </a:r>
          </a:p>
          <a:p>
            <a:pPr>
              <a:lnSpc>
                <a:spcPct val="105000"/>
              </a:lnSpc>
              <a:spcAft>
                <a:spcPts val="900"/>
              </a:spcAft>
            </a:pPr>
            <a:r>
              <a:rPr sz="1500" b="1">
                <a:solidFill>
                  <a:srgbClr val="2E75B6"/>
                </a:solidFill>
                <a:latin typeface="Calibri"/>
              </a:rPr>
              <a:t>▪ Answers:</a:t>
            </a:r>
            <a:r>
              <a:rPr sz="1500">
                <a:solidFill>
                  <a:srgbClr val="2D2D2D"/>
                </a:solidFill>
                <a:latin typeface="Calibri"/>
              </a:rPr>
              <a:t> “which knowledge means the same as this alert?”</a:t>
            </a:r>
          </a:p>
        </p:txBody>
      </p:sp>
      <p:sp>
        <p:nvSpPr>
          <p:cNvPr id="7" name="Rectangle 6"/>
          <p:cNvSpPr/>
          <p:nvPr/>
        </p:nvSpPr>
        <p:spPr>
          <a:xfrm>
            <a:off x="6263640" y="1920240"/>
            <a:ext cx="5349240" cy="3246120"/>
          </a:xfrm>
          <a:prstGeom prst="rect">
            <a:avLst/>
          </a:prstGeom>
          <a:solidFill>
            <a:srgbClr val="EBF3FA"/>
          </a:solidFill>
          <a:ln w="1270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146304" tIns="128016"/>
          <a:lstStyle/>
          <a:p>
            <a:pPr algn="ctr">
              <a:lnSpc>
                <a:spcPct val="105000"/>
              </a:lnSpc>
              <a:spcAft>
                <a:spcPts val="900"/>
              </a:spcAft>
            </a:pPr>
            <a:r>
              <a:rPr sz="1500" b="1">
                <a:solidFill>
                  <a:srgbClr val="1F4E79"/>
                </a:solidFill>
                <a:latin typeface="Calibri"/>
              </a:rPr>
              <a:t>▪ Data:</a:t>
            </a:r>
            <a:r>
              <a:rPr sz="1500">
                <a:solidFill>
                  <a:srgbClr val="2D2D2D"/>
                </a:solidFill>
                <a:latin typeface="Calibri"/>
              </a:rPr>
              <a:t> 5 relational tables + raw JSONB snapshots</a:t>
            </a:r>
          </a:p>
          <a:p>
            <a:pPr>
              <a:lnSpc>
                <a:spcPct val="105000"/>
              </a:lnSpc>
              <a:spcAft>
                <a:spcPts val="900"/>
              </a:spcAft>
            </a:pPr>
            <a:r>
              <a:rPr sz="1500" b="1">
                <a:solidFill>
                  <a:srgbClr val="1F4E79"/>
                </a:solidFill>
                <a:latin typeface="Calibri"/>
              </a:rPr>
              <a:t>▪ Guarantees:</a:t>
            </a:r>
            <a:r>
              <a:rPr sz="1500">
                <a:solidFill>
                  <a:srgbClr val="2D2D2D"/>
                </a:solidFill>
                <a:latin typeface="Calibri"/>
              </a:rPr>
              <a:t> ACID, keys, constraints — the cve_decisions ledger</a:t>
            </a:r>
          </a:p>
          <a:p>
            <a:pPr>
              <a:lnSpc>
                <a:spcPct val="105000"/>
              </a:lnSpc>
              <a:spcAft>
                <a:spcPts val="900"/>
              </a:spcAft>
            </a:pPr>
            <a:r>
              <a:rPr sz="1500" b="1">
                <a:solidFill>
                  <a:srgbClr val="1F4E79"/>
                </a:solidFill>
                <a:latin typeface="Calibri"/>
              </a:rPr>
              <a:t>▪ Governance:</a:t>
            </a:r>
            <a:r>
              <a:rPr sz="1500">
                <a:solidFill>
                  <a:srgbClr val="2D2D2D"/>
                </a:solidFill>
                <a:latin typeface="Calibri"/>
              </a:rPr>
              <a:t> medium-confidence CVEs quarantined, never in RAG</a:t>
            </a:r>
          </a:p>
          <a:p>
            <a:pPr>
              <a:lnSpc>
                <a:spcPct val="105000"/>
              </a:lnSpc>
              <a:spcAft>
                <a:spcPts val="900"/>
              </a:spcAft>
            </a:pPr>
            <a:r>
              <a:rPr sz="1500" b="1">
                <a:solidFill>
                  <a:srgbClr val="1F4E79"/>
                </a:solidFill>
                <a:latin typeface="Calibri"/>
              </a:rPr>
              <a:t>▪ Durability:</a:t>
            </a:r>
            <a:r>
              <a:rPr sz="1500">
                <a:solidFill>
                  <a:srgbClr val="2D2D2D"/>
                </a:solidFill>
                <a:latin typeface="Calibri"/>
              </a:rPr>
              <a:t> full original payload survives model/index change</a:t>
            </a:r>
          </a:p>
          <a:p>
            <a:pPr>
              <a:lnSpc>
                <a:spcPct val="105000"/>
              </a:lnSpc>
              <a:spcAft>
                <a:spcPts val="900"/>
              </a:spcAft>
            </a:pPr>
            <a:r>
              <a:rPr sz="1500" b="1">
                <a:solidFill>
                  <a:srgbClr val="1F4E79"/>
                </a:solidFill>
                <a:latin typeface="Calibri"/>
              </a:rPr>
              <a:t>▪ Answers:</a:t>
            </a:r>
            <a:r>
              <a:rPr sz="1500">
                <a:solidFill>
                  <a:srgbClr val="2D2D2D"/>
                </a:solidFill>
                <a:latin typeface="Calibri"/>
              </a:rPr>
              <a:t> “what exactly happened, and is it consistent?”</a:t>
            </a:r>
          </a:p>
        </p:txBody>
      </p:sp>
      <p:sp>
        <p:nvSpPr>
          <p:cNvPr id="8" name="Rounded Rectangle 7"/>
          <p:cNvSpPr/>
          <p:nvPr/>
        </p:nvSpPr>
        <p:spPr>
          <a:xfrm>
            <a:off x="2743200" y="5394960"/>
            <a:ext cx="6720840" cy="658368"/>
          </a:xfrm>
          <a:prstGeom prst="roundRect">
            <a:avLst>
              <a:gd name="adj" fmla="val 12000"/>
            </a:avLst>
          </a:prstGeom>
          <a:solidFill>
            <a:srgbClr val="FFF2CC"/>
          </a:solidFill>
          <a:ln w="12700">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50" b="1">
                <a:solidFill>
                  <a:srgbClr val="7A5200"/>
                </a:solidFill>
                <a:latin typeface="Calibri"/>
              </a:rPr>
              <a:t>Bridge: cve_decisions.qdrant_id links each audited fact to its searchable vector — a foreign key across paradigms</a:t>
            </a:r>
          </a:p>
        </p:txBody>
      </p:sp>
      <p:sp>
        <p:nvSpPr>
          <p:cNvPr id="9" name="TextBox 8"/>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Thesis §3.2 (embedding model, HNSW, PostgreSQL audit helper); schema.sql + scheduled_agent/schema_additions.sql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Retrieval works where it matters: CVEs and APT profiles near-perfect; MITRE techniques are the weak spot</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ag_retrieval_light.png"/>
          <p:cNvPicPr>
            <a:picLocks noChangeAspect="1"/>
          </p:cNvPicPr>
          <p:nvPr/>
        </p:nvPicPr>
        <p:blipFill>
          <a:blip r:embed="rId2"/>
          <a:stretch>
            <a:fillRect/>
          </a:stretch>
        </p:blipFill>
        <p:spPr>
          <a:xfrm>
            <a:off x="548640" y="1371600"/>
            <a:ext cx="6903720" cy="3821999"/>
          </a:xfrm>
          <a:prstGeom prst="rect">
            <a:avLst/>
          </a:prstGeom>
        </p:spPr>
      </p:pic>
      <p:sp>
        <p:nvSpPr>
          <p:cNvPr id="5" name="TextBox 4"/>
          <p:cNvSpPr txBox="1"/>
          <p:nvPr/>
        </p:nvSpPr>
        <p:spPr>
          <a:xfrm>
            <a:off x="7680960" y="1417320"/>
            <a:ext cx="3931920" cy="365760"/>
          </a:xfrm>
          <a:prstGeom prst="rect">
            <a:avLst/>
          </a:prstGeom>
          <a:noFill/>
        </p:spPr>
        <p:txBody>
          <a:bodyPr wrap="square" anchor="t">
            <a:spAutoFit/>
          </a:bodyPr>
          <a:lstStyle/>
          <a:p>
            <a:pPr algn="l">
              <a:lnSpc>
                <a:spcPct val="100000"/>
              </a:lnSpc>
            </a:pPr>
            <a:r>
              <a:rPr sz="2000" b="1" i="0">
                <a:solidFill>
                  <a:srgbClr val="2E75B6"/>
                </a:solidFill>
                <a:latin typeface="Calibri"/>
              </a:rPr>
              <a:t>Over 82 annotated queries</a:t>
            </a:r>
          </a:p>
        </p:txBody>
      </p:sp>
      <p:sp>
        <p:nvSpPr>
          <p:cNvPr id="6" name="TextBox 5"/>
          <p:cNvSpPr txBox="1"/>
          <p:nvPr/>
        </p:nvSpPr>
        <p:spPr>
          <a:xfrm>
            <a:off x="7680960" y="1965960"/>
            <a:ext cx="3931920" cy="3017520"/>
          </a:xfrm>
          <a:prstGeom prst="rect">
            <a:avLst/>
          </a:prstGeom>
          <a:noFill/>
        </p:spPr>
        <p:txBody>
          <a:bodyPr wrap="square">
            <a:spAutoFit/>
          </a:bodyPr>
          <a:lstStyle/>
          <a:p>
            <a:pPr>
              <a:lnSpc>
                <a:spcPct val="108000"/>
              </a:lnSpc>
              <a:spcAft>
                <a:spcPts val="1100"/>
              </a:spcAft>
            </a:pPr>
            <a:r>
              <a:rPr sz="1550">
                <a:solidFill>
                  <a:srgbClr val="2E75B6"/>
                </a:solidFill>
                <a:latin typeface="Calibri"/>
              </a:rPr>
              <a:t>▪  </a:t>
            </a:r>
            <a:r>
              <a:rPr sz="1550" b="1">
                <a:solidFill>
                  <a:srgbClr val="2D2D2D"/>
                </a:solidFill>
                <a:latin typeface="Calibri"/>
              </a:rPr>
              <a:t>Overall:</a:t>
            </a:r>
            <a:r>
              <a:rPr sz="1550">
                <a:solidFill>
                  <a:srgbClr val="2D2D2D"/>
                </a:solidFill>
                <a:latin typeface="Calibri"/>
              </a:rPr>
              <a:t> Hit-Rate 82.9% · MRR 0.695 at k=5 — the right source is usually ranked at or near the top.</a:t>
            </a:r>
          </a:p>
          <a:p>
            <a:pPr>
              <a:lnSpc>
                <a:spcPct val="108000"/>
              </a:lnSpc>
              <a:spcAft>
                <a:spcPts val="1100"/>
              </a:spcAft>
            </a:pPr>
            <a:r>
              <a:rPr sz="1550">
                <a:solidFill>
                  <a:srgbClr val="2E75B6"/>
                </a:solidFill>
                <a:latin typeface="Calibri"/>
              </a:rPr>
              <a:t>▪  </a:t>
            </a:r>
            <a:r>
              <a:rPr sz="1550" b="1">
                <a:solidFill>
                  <a:srgbClr val="2D2D2D"/>
                </a:solidFill>
                <a:latin typeface="Calibri"/>
              </a:rPr>
              <a:t>Strong:</a:t>
            </a:r>
            <a:r>
              <a:rPr sz="1550">
                <a:solidFill>
                  <a:srgbClr val="2D2D2D"/>
                </a:solidFill>
                <a:latin typeface="Calibri"/>
              </a:rPr>
              <a:t> CVEs &amp; APT profiles (100%) — distinctive, narrow vocabulary embeds cleanly.</a:t>
            </a:r>
          </a:p>
          <a:p>
            <a:pPr>
              <a:lnSpc>
                <a:spcPct val="108000"/>
              </a:lnSpc>
              <a:spcAft>
                <a:spcPts val="1100"/>
              </a:spcAft>
            </a:pPr>
            <a:r>
              <a:rPr sz="1550">
                <a:solidFill>
                  <a:srgbClr val="2E75B6"/>
                </a:solidFill>
                <a:latin typeface="Calibri"/>
              </a:rPr>
              <a:t>▪  </a:t>
            </a:r>
            <a:r>
              <a:rPr sz="1550" b="1">
                <a:solidFill>
                  <a:srgbClr val="2D2D2D"/>
                </a:solidFill>
                <a:latin typeface="Calibri"/>
              </a:rPr>
              <a:t>Weak:</a:t>
            </a:r>
            <a:r>
              <a:rPr sz="1550">
                <a:solidFill>
                  <a:srgbClr val="2D2D2D"/>
                </a:solidFill>
                <a:latin typeface="Calibri"/>
              </a:rPr>
              <a:t> MITRE techniques (46%) — one query maps to many overlapping sub-techniques.</a:t>
            </a:r>
          </a:p>
        </p:txBody>
      </p:sp>
      <p:sp>
        <p:nvSpPr>
          <p:cNvPr id="7" name="Rounded Rectangle 6"/>
          <p:cNvSpPr/>
          <p:nvPr/>
        </p:nvSpPr>
        <p:spPr>
          <a:xfrm>
            <a:off x="7680960" y="4892040"/>
            <a:ext cx="3931920" cy="1051560"/>
          </a:xfrm>
          <a:prstGeom prst="roundRect">
            <a:avLst>
              <a:gd name="adj" fmla="val 12000"/>
            </a:avLst>
          </a:prstGeom>
          <a:solidFill>
            <a:srgbClr val="FFF2CC"/>
          </a:solidFill>
          <a:ln w="12700">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400" b="1">
                <a:solidFill>
                  <a:srgbClr val="7A5200"/>
                </a:solidFill>
                <a:latin typeface="Calibri"/>
              </a:rPr>
              <a:t>Honest finding: a cross-encoder re-ranker HURT domain queries → removed. RRF needs no learned judgement.</a:t>
            </a:r>
          </a:p>
        </p:txBody>
      </p:sp>
      <p:sp>
        <p:nvSpPr>
          <p:cNvPr id="8" name="TextBox 7"/>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Appendix 3–4 (retrieval by category), §4.3 — thesis; hybrid dense+sparse+RRF over all 82 queries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Generation is verifiably grounded: 98.3% citation precision — and it refuses to invent threats</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rag_gen_light.png"/>
          <p:cNvPicPr>
            <a:picLocks noChangeAspect="1"/>
          </p:cNvPicPr>
          <p:nvPr/>
        </p:nvPicPr>
        <p:blipFill>
          <a:blip r:embed="rId2"/>
          <a:stretch>
            <a:fillRect/>
          </a:stretch>
        </p:blipFill>
        <p:spPr>
          <a:xfrm>
            <a:off x="548640" y="1463040"/>
            <a:ext cx="6858000" cy="3510643"/>
          </a:xfrm>
          <a:prstGeom prst="rect">
            <a:avLst/>
          </a:prstGeom>
        </p:spPr>
      </p:pic>
      <p:sp>
        <p:nvSpPr>
          <p:cNvPr id="5" name="TextBox 4"/>
          <p:cNvSpPr txBox="1"/>
          <p:nvPr/>
        </p:nvSpPr>
        <p:spPr>
          <a:xfrm>
            <a:off x="7772400" y="1463040"/>
            <a:ext cx="3840480" cy="365760"/>
          </a:xfrm>
          <a:prstGeom prst="rect">
            <a:avLst/>
          </a:prstGeom>
          <a:noFill/>
        </p:spPr>
        <p:txBody>
          <a:bodyPr wrap="square" anchor="t">
            <a:spAutoFit/>
          </a:bodyPr>
          <a:lstStyle/>
          <a:p>
            <a:pPr algn="l">
              <a:lnSpc>
                <a:spcPct val="100000"/>
              </a:lnSpc>
            </a:pPr>
            <a:r>
              <a:rPr sz="2000" b="1" i="0">
                <a:solidFill>
                  <a:srgbClr val="2E75B6"/>
                </a:solidFill>
                <a:latin typeface="Calibri"/>
              </a:rPr>
              <a:t>Why it matters</a:t>
            </a:r>
          </a:p>
        </p:txBody>
      </p:sp>
      <p:sp>
        <p:nvSpPr>
          <p:cNvPr id="6" name="TextBox 5"/>
          <p:cNvSpPr txBox="1"/>
          <p:nvPr/>
        </p:nvSpPr>
        <p:spPr>
          <a:xfrm>
            <a:off x="7772400" y="1965960"/>
            <a:ext cx="3840480" cy="3108960"/>
          </a:xfrm>
          <a:prstGeom prst="rect">
            <a:avLst/>
          </a:prstGeom>
          <a:noFill/>
        </p:spPr>
        <p:txBody>
          <a:bodyPr wrap="square">
            <a:spAutoFit/>
          </a:bodyPr>
          <a:lstStyle/>
          <a:p>
            <a:pPr>
              <a:lnSpc>
                <a:spcPct val="108000"/>
              </a:lnSpc>
              <a:spcAft>
                <a:spcPts val="1000"/>
              </a:spcAft>
            </a:pPr>
            <a:r>
              <a:rPr sz="1550">
                <a:solidFill>
                  <a:srgbClr val="2E75B6"/>
                </a:solidFill>
                <a:latin typeface="Calibri"/>
              </a:rPr>
              <a:t>▪  </a:t>
            </a:r>
            <a:r>
              <a:rPr sz="1550" b="1">
                <a:solidFill>
                  <a:srgbClr val="2D2D2D"/>
                </a:solidFill>
                <a:latin typeface="Calibri"/>
              </a:rPr>
              <a:t>Every claim is auditable:</a:t>
            </a:r>
            <a:r>
              <a:rPr sz="1550">
                <a:solidFill>
                  <a:srgbClr val="2D2D2D"/>
                </a:solidFill>
                <a:latin typeface="Calibri"/>
              </a:rPr>
              <a:t> inline [Source] tags map to retrieved chunks — 117/119 verified correct.</a:t>
            </a:r>
          </a:p>
          <a:p>
            <a:pPr>
              <a:lnSpc>
                <a:spcPct val="108000"/>
              </a:lnSpc>
              <a:spcAft>
                <a:spcPts val="1000"/>
              </a:spcAft>
            </a:pPr>
            <a:r>
              <a:rPr sz="1550">
                <a:solidFill>
                  <a:srgbClr val="2E75B6"/>
                </a:solidFill>
                <a:latin typeface="Calibri"/>
              </a:rPr>
              <a:t>▪  </a:t>
            </a:r>
            <a:r>
              <a:rPr sz="1550" b="1">
                <a:solidFill>
                  <a:srgbClr val="2D2D2D"/>
                </a:solidFill>
                <a:latin typeface="Calibri"/>
              </a:rPr>
              <a:t>Asked about a fake CVE / APT group:</a:t>
            </a:r>
            <a:r>
              <a:rPr sz="1550">
                <a:solidFill>
                  <a:srgbClr val="2D2D2D"/>
                </a:solidFill>
                <a:latin typeface="Calibri"/>
              </a:rPr>
              <a:t> refused all 6 fabricated-intelligence probes instead of hallucinating.</a:t>
            </a:r>
          </a:p>
          <a:p>
            <a:pPr>
              <a:lnSpc>
                <a:spcPct val="108000"/>
              </a:lnSpc>
              <a:spcAft>
                <a:spcPts val="1000"/>
              </a:spcAft>
            </a:pPr>
            <a:r>
              <a:rPr sz="1550">
                <a:solidFill>
                  <a:srgbClr val="2E75B6"/>
                </a:solidFill>
                <a:latin typeface="Calibri"/>
              </a:rPr>
              <a:t>▪  </a:t>
            </a:r>
            <a:r>
              <a:rPr sz="1550" b="1">
                <a:solidFill>
                  <a:srgbClr val="2D2D2D"/>
                </a:solidFill>
                <a:latin typeface="Calibri"/>
              </a:rPr>
              <a:t>Never over-refuses:</a:t>
            </a:r>
            <a:r>
              <a:rPr sz="1550">
                <a:solidFill>
                  <a:srgbClr val="2D2D2D"/>
                </a:solidFill>
                <a:latin typeface="Calibri"/>
              </a:rPr>
              <a:t> 0 of 82 answerable queries wrongly declined — calibrated, not just cautious.</a:t>
            </a:r>
          </a:p>
          <a:p>
            <a:pPr>
              <a:lnSpc>
                <a:spcPct val="108000"/>
              </a:lnSpc>
              <a:spcAft>
                <a:spcPts val="1000"/>
              </a:spcAft>
            </a:pPr>
            <a:r>
              <a:rPr sz="1550">
                <a:solidFill>
                  <a:srgbClr val="2E75B6"/>
                </a:solidFill>
                <a:latin typeface="Calibri"/>
              </a:rPr>
              <a:t>▪  </a:t>
            </a:r>
            <a:r>
              <a:rPr sz="1550" b="1">
                <a:solidFill>
                  <a:srgbClr val="2D2D2D"/>
                </a:solidFill>
                <a:latin typeface="Calibri"/>
              </a:rPr>
              <a:t>Retrieval base:</a:t>
            </a:r>
            <a:r>
              <a:rPr sz="1550">
                <a:solidFill>
                  <a:srgbClr val="2D2D2D"/>
                </a:solidFill>
                <a:latin typeface="Calibri"/>
              </a:rPr>
              <a:t> Hit-Rate 82.9% · MRR 0.695 at k=5 on 82 annotated queries.</a:t>
            </a:r>
          </a:p>
        </p:txBody>
      </p:sp>
      <p:sp>
        <p:nvSpPr>
          <p:cNvPr id="7" name="TextBox 6"/>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Figure 4.3.6 (generation evaluation), §4.3 refusal-behaviour set — thesis; RAGAS-style claim decomposition [27]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56032"/>
            <a:ext cx="11091672" cy="914400"/>
          </a:xfrm>
          <a:prstGeom prst="rect">
            <a:avLst/>
          </a:prstGeom>
          <a:noFill/>
        </p:spPr>
        <p:txBody>
          <a:bodyPr wrap="square" anchor="t">
            <a:spAutoFit/>
          </a:bodyPr>
          <a:lstStyle/>
          <a:p>
            <a:pPr algn="l">
              <a:lnSpc>
                <a:spcPct val="100000"/>
              </a:lnSpc>
            </a:pPr>
            <a:r>
              <a:rPr sz="2500" b="1" i="0">
                <a:solidFill>
                  <a:srgbClr val="1F4E79"/>
                </a:solidFill>
                <a:latin typeface="Calibri"/>
              </a:rPr>
              <a:t>The knowledge base updates itself: a bounded agent scores and routes every new CVE — daily, audited</a:t>
            </a:r>
          </a:p>
        </p:txBody>
      </p:sp>
      <p:sp>
        <p:nvSpPr>
          <p:cNvPr id="3" name="Rectangle 2"/>
          <p:cNvSpPr/>
          <p:nvPr/>
        </p:nvSpPr>
        <p:spPr>
          <a:xfrm>
            <a:off x="548640" y="1152144"/>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48640" y="1600200"/>
            <a:ext cx="2468880" cy="1078992"/>
          </a:xfrm>
          <a:prstGeom prst="roundRect">
            <a:avLst>
              <a:gd name="adj" fmla="val 12000"/>
            </a:avLst>
          </a:prstGeom>
          <a:solidFill>
            <a:srgbClr val="EBF3FA"/>
          </a:solidFill>
          <a:ln w="1778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4E79"/>
                </a:solidFill>
                <a:latin typeface="Calibri"/>
              </a:rPr>
              <a:t>Fetch</a:t>
            </a:r>
          </a:p>
          <a:p>
            <a:pPr algn="ctr"/>
            <a:r>
              <a:rPr sz="1300" b="0">
                <a:solidFill>
                  <a:srgbClr val="1F4E79"/>
                </a:solidFill>
                <a:latin typeface="Calibri"/>
              </a:rPr>
              <a:t>NVD + CISA-KEV</a:t>
            </a:r>
          </a:p>
          <a:p>
            <a:pPr algn="ctr"/>
            <a:r>
              <a:rPr sz="1300" b="0">
                <a:solidFill>
                  <a:srgbClr val="1F4E79"/>
                </a:solidFill>
                <a:latin typeface="Calibri"/>
              </a:rPr>
              <a:t>since last cursor</a:t>
            </a:r>
          </a:p>
        </p:txBody>
      </p:sp>
      <p:sp>
        <p:nvSpPr>
          <p:cNvPr id="5" name="Rounded Rectangle 4"/>
          <p:cNvSpPr/>
          <p:nvPr/>
        </p:nvSpPr>
        <p:spPr>
          <a:xfrm>
            <a:off x="3383280" y="1600200"/>
            <a:ext cx="2468880" cy="1078992"/>
          </a:xfrm>
          <a:prstGeom prst="roundRect">
            <a:avLst>
              <a:gd name="adj" fmla="val 12000"/>
            </a:avLst>
          </a:prstGeom>
          <a:solidFill>
            <a:srgbClr val="EBF3FA"/>
          </a:solidFill>
          <a:ln w="1778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2E75B6"/>
                </a:solidFill>
                <a:latin typeface="Calibri"/>
              </a:rPr>
              <a:t>Dedup</a:t>
            </a:r>
          </a:p>
          <a:p>
            <a:pPr algn="ctr"/>
            <a:r>
              <a:rPr sz="1300" b="0">
                <a:solidFill>
                  <a:srgbClr val="2E75B6"/>
                </a:solidFill>
                <a:latin typeface="Calibri"/>
              </a:rPr>
              <a:t>vs threat_intel</a:t>
            </a:r>
          </a:p>
          <a:p>
            <a:pPr algn="ctr"/>
            <a:r>
              <a:rPr sz="1300" b="0">
                <a:solidFill>
                  <a:srgbClr val="2E75B6"/>
                </a:solidFill>
                <a:latin typeface="Calibri"/>
              </a:rPr>
              <a:t>Postgres ledger</a:t>
            </a:r>
          </a:p>
        </p:txBody>
      </p:sp>
      <p:cxnSp>
        <p:nvCxnSpPr>
          <p:cNvPr id="6" name="Connector 5"/>
          <p:cNvCxnSpPr/>
          <p:nvPr/>
        </p:nvCxnSpPr>
        <p:spPr>
          <a:xfrm>
            <a:off x="3017520" y="2139696.0"/>
            <a:ext cx="365760" cy="0.0"/>
          </a:xfrm>
          <a:prstGeom prst="bentConnector3">
            <a:avLst/>
          </a:prstGeom>
          <a:ln w="2794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6217920" y="1600200"/>
            <a:ext cx="2468880" cy="1078992"/>
          </a:xfrm>
          <a:prstGeom prst="roundRect">
            <a:avLst>
              <a:gd name="adj" fmla="val 12000"/>
            </a:avLst>
          </a:prstGeom>
          <a:solidFill>
            <a:srgbClr val="EBF3FA"/>
          </a:solidFill>
          <a:ln w="17780">
            <a:solidFill>
              <a:srgbClr val="2E75B6"/>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2E75B6"/>
                </a:solidFill>
                <a:latin typeface="Calibri"/>
              </a:rPr>
              <a:t>Boost</a:t>
            </a:r>
          </a:p>
          <a:p>
            <a:pPr algn="ctr"/>
            <a:r>
              <a:rPr sz="1300" b="0">
                <a:solidFill>
                  <a:srgbClr val="2E75B6"/>
                </a:solidFill>
                <a:latin typeface="Calibri"/>
              </a:rPr>
              <a:t>+ environment evidence</a:t>
            </a:r>
          </a:p>
          <a:p>
            <a:pPr algn="ctr"/>
            <a:r>
              <a:rPr sz="1300" b="0">
                <a:solidFill>
                  <a:srgbClr val="2E75B6"/>
                </a:solidFill>
                <a:latin typeface="Calibri"/>
              </a:rPr>
              <a:t>local rules · alert history</a:t>
            </a:r>
          </a:p>
        </p:txBody>
      </p:sp>
      <p:cxnSp>
        <p:nvCxnSpPr>
          <p:cNvPr id="8" name="Connector 7"/>
          <p:cNvCxnSpPr/>
          <p:nvPr/>
        </p:nvCxnSpPr>
        <p:spPr>
          <a:xfrm>
            <a:off x="5852160" y="2139696.0"/>
            <a:ext cx="365760" cy="0.0"/>
          </a:xfrm>
          <a:prstGeom prst="bentConnector3">
            <a:avLst/>
          </a:prstGeom>
          <a:ln w="2794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9052560" y="1600200"/>
            <a:ext cx="2468880" cy="1078992"/>
          </a:xfrm>
          <a:prstGeom prst="roundRect">
            <a:avLst>
              <a:gd name="adj" fmla="val 12000"/>
            </a:avLst>
          </a:prstGeom>
          <a:solidFill>
            <a:srgbClr val="EBF3FA"/>
          </a:solidFill>
          <a:ln w="17780">
            <a:solidFill>
              <a:srgbClr val="1F4E79"/>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1F4E79"/>
                </a:solidFill>
                <a:latin typeface="Calibri"/>
              </a:rPr>
              <a:t>LLM Score</a:t>
            </a:r>
          </a:p>
          <a:p>
            <a:pPr algn="ctr"/>
            <a:r>
              <a:rPr sz="1300" b="0">
                <a:solidFill>
                  <a:srgbClr val="1F4E79"/>
                </a:solidFill>
                <a:latin typeface="Calibri"/>
              </a:rPr>
              <a:t>llama3.2 → relevance 0–10</a:t>
            </a:r>
          </a:p>
          <a:p>
            <a:pPr algn="ctr"/>
            <a:r>
              <a:rPr sz="1300" b="0">
                <a:solidFill>
                  <a:srgbClr val="1F4E79"/>
                </a:solidFill>
                <a:latin typeface="Calibri"/>
              </a:rPr>
              <a:t>final = min(base + boost, 10)</a:t>
            </a:r>
          </a:p>
        </p:txBody>
      </p:sp>
      <p:cxnSp>
        <p:nvCxnSpPr>
          <p:cNvPr id="10" name="Connector 9"/>
          <p:cNvCxnSpPr/>
          <p:nvPr/>
        </p:nvCxnSpPr>
        <p:spPr>
          <a:xfrm>
            <a:off x="8686800" y="2139696.0"/>
            <a:ext cx="365760" cy="0.0"/>
          </a:xfrm>
          <a:prstGeom prst="bentConnector3">
            <a:avLst/>
          </a:prstGeom>
          <a:ln w="2794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548640" y="3977639"/>
            <a:ext cx="3429000" cy="1097280"/>
          </a:xfrm>
          <a:prstGeom prst="roundRect">
            <a:avLst>
              <a:gd name="adj" fmla="val 12000"/>
            </a:avLst>
          </a:prstGeom>
          <a:solidFill>
            <a:srgbClr val="FFFFFF"/>
          </a:solidFill>
          <a:ln w="22860">
            <a:solidFill>
              <a:srgbClr val="2E7D5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2E7D5B"/>
                </a:solidFill>
                <a:latin typeface="Calibri"/>
              </a:rPr>
              <a:t>≥ 7   AUTO-INDEX</a:t>
            </a:r>
          </a:p>
          <a:p>
            <a:pPr algn="ctr"/>
            <a:r>
              <a:rPr sz="1350">
                <a:solidFill>
                  <a:srgbClr val="2D2D2D"/>
                </a:solidFill>
                <a:latin typeface="Calibri"/>
              </a:rPr>
              <a:t>indexed → Qdrant + Postgres</a:t>
            </a:r>
          </a:p>
        </p:txBody>
      </p:sp>
      <p:cxnSp>
        <p:nvCxnSpPr>
          <p:cNvPr id="12" name="Connector 11"/>
          <p:cNvCxnSpPr/>
          <p:nvPr/>
        </p:nvCxnSpPr>
        <p:spPr>
          <a:xfrm flipH="1">
            <a:off x="2263140.0" y="2679192"/>
            <a:ext cx="8023860.0" cy="1298447"/>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389120" y="3977639"/>
            <a:ext cx="3429000" cy="1097280"/>
          </a:xfrm>
          <a:prstGeom prst="roundRect">
            <a:avLst>
              <a:gd name="adj" fmla="val 12000"/>
            </a:avLst>
          </a:prstGeom>
          <a:solidFill>
            <a:srgbClr val="FFFFFF"/>
          </a:solidFill>
          <a:ln w="22860">
            <a:solidFill>
              <a:srgbClr val="C57A00"/>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C57A00"/>
                </a:solidFill>
                <a:latin typeface="Calibri"/>
              </a:rPr>
              <a:t>4–6   REVIEW QUEUE</a:t>
            </a:r>
          </a:p>
          <a:p>
            <a:pPr algn="ctr"/>
            <a:r>
              <a:rPr sz="1350">
                <a:solidFill>
                  <a:srgbClr val="2D2D2D"/>
                </a:solidFill>
                <a:latin typeface="Calibri"/>
              </a:rPr>
              <a:t>held OUT of RAG · human decides</a:t>
            </a:r>
          </a:p>
        </p:txBody>
      </p:sp>
      <p:cxnSp>
        <p:nvCxnSpPr>
          <p:cNvPr id="14" name="Connector 13"/>
          <p:cNvCxnSpPr/>
          <p:nvPr/>
        </p:nvCxnSpPr>
        <p:spPr>
          <a:xfrm flipH="1">
            <a:off x="6103620.0" y="2679192"/>
            <a:ext cx="4183380.0" cy="1298447"/>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229600" y="3977639"/>
            <a:ext cx="3429000" cy="1097280"/>
          </a:xfrm>
          <a:prstGeom prst="roundRect">
            <a:avLst>
              <a:gd name="adj" fmla="val 12000"/>
            </a:avLst>
          </a:prstGeom>
          <a:solidFill>
            <a:srgbClr val="FFFFFF"/>
          </a:solidFill>
          <a:ln w="22860">
            <a:solidFill>
              <a:srgbClr val="B0352F"/>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800" b="1">
                <a:solidFill>
                  <a:srgbClr val="B0352F"/>
                </a:solidFill>
                <a:latin typeface="Calibri"/>
              </a:rPr>
              <a:t>&lt; 4   DROP + AUDIT</a:t>
            </a:r>
          </a:p>
          <a:p>
            <a:pPr algn="ctr"/>
            <a:r>
              <a:rPr sz="1350">
                <a:solidFill>
                  <a:srgbClr val="2D2D2D"/>
                </a:solidFill>
                <a:latin typeface="Calibri"/>
              </a:rPr>
              <a:t>reasoning logged, never silent</a:t>
            </a:r>
          </a:p>
        </p:txBody>
      </p:sp>
      <p:cxnSp>
        <p:nvCxnSpPr>
          <p:cNvPr id="16" name="Connector 15"/>
          <p:cNvCxnSpPr/>
          <p:nvPr/>
        </p:nvCxnSpPr>
        <p:spPr>
          <a:xfrm flipH="1">
            <a:off x="9944100.0" y="2679192"/>
            <a:ext cx="342900.0" cy="1298447"/>
          </a:xfrm>
          <a:prstGeom prst="bentConnector3">
            <a:avLst/>
          </a:prstGeom>
          <a:ln w="25400">
            <a:solidFill>
              <a:srgbClr val="777777"/>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48640" y="5394960"/>
            <a:ext cx="11091672" cy="548640"/>
          </a:xfrm>
          <a:prstGeom prst="roundRect">
            <a:avLst>
              <a:gd name="adj" fmla="val 12000"/>
            </a:avLst>
          </a:prstGeom>
          <a:solidFill>
            <a:srgbClr val="FFF2CC"/>
          </a:solidFill>
          <a:ln w="12700">
            <a:solidFill>
              <a:srgbClr val="E6C800"/>
            </a:solidFill>
          </a:ln>
          <a:effectLst/>
        </p:spPr>
        <p:style>
          <a:lnRef idx="1">
            <a:schemeClr val="accent1"/>
          </a:lnRef>
          <a:fillRef idx="3">
            <a:schemeClr val="accent1"/>
          </a:fillRef>
          <a:effectRef idx="2">
            <a:schemeClr val="accent1"/>
          </a:effectRef>
          <a:fontRef idx="minor">
            <a:schemeClr val="lt1"/>
          </a:fontRef>
        </p:style>
        <p:txBody>
          <a:bodyPr rtlCol="0" anchor="ctr" wrap="square" lIns="54864" rIns="54864" tIns="27432" bIns="27432"/>
          <a:lstStyle/>
          <a:p>
            <a:pPr algn="ctr"/>
            <a:r>
              <a:rPr sz="1500" b="1">
                <a:solidFill>
                  <a:srgbClr val="7A5200"/>
                </a:solidFill>
                <a:latin typeface="Calibri"/>
              </a:rPr>
              <a:t>Every decision lands in the cve_decisions ledger — reversible, auditable, no silent RAG pollution</a:t>
            </a:r>
          </a:p>
        </p:txBody>
      </p:sp>
      <p:sp>
        <p:nvSpPr>
          <p:cNvPr id="18" name="TextBox 17"/>
          <p:cNvSpPr txBox="1"/>
          <p:nvPr/>
        </p:nvSpPr>
        <p:spPr>
          <a:xfrm>
            <a:off x="548640" y="6035040"/>
            <a:ext cx="11091672" cy="365760"/>
          </a:xfrm>
          <a:prstGeom prst="rect">
            <a:avLst/>
          </a:prstGeom>
          <a:noFill/>
        </p:spPr>
        <p:txBody>
          <a:bodyPr wrap="square" anchor="t">
            <a:spAutoFit/>
          </a:bodyPr>
          <a:lstStyle/>
          <a:p>
            <a:pPr algn="l">
              <a:lnSpc>
                <a:spcPct val="100000"/>
              </a:lnSpc>
            </a:pPr>
            <a:r>
              <a:rPr sz="1400" b="0" i="1">
                <a:solidFill>
                  <a:srgbClr val="777777"/>
                </a:solidFill>
                <a:latin typeface="Calibri"/>
              </a:rPr>
              <a:t>One bounded LLM step; on failure → conservative score 5 → review queue, never a silent drop.</a:t>
            </a:r>
          </a:p>
        </p:txBody>
      </p:sp>
      <p:sp>
        <p:nvSpPr>
          <p:cNvPr id="19" name="TextBox 18"/>
          <p:cNvSpPr txBox="1"/>
          <p:nvPr/>
        </p:nvSpPr>
        <p:spPr>
          <a:xfrm>
            <a:off x="548640" y="6419088"/>
            <a:ext cx="11091672" cy="329184"/>
          </a:xfrm>
          <a:prstGeom prst="rect">
            <a:avLst/>
          </a:prstGeom>
          <a:noFill/>
        </p:spPr>
        <p:txBody>
          <a:bodyPr wrap="square" anchor="t">
            <a:spAutoFit/>
          </a:bodyPr>
          <a:lstStyle/>
          <a:p>
            <a:pPr algn="l">
              <a:lnSpc>
                <a:spcPct val="100000"/>
              </a:lnSpc>
            </a:pPr>
            <a:r>
              <a:rPr sz="1200" b="0" i="0">
                <a:solidFill>
                  <a:srgbClr val="777777"/>
                </a:solidFill>
                <a:latin typeface="Calibri"/>
              </a:rPr>
              <a:t>Scheduled CVE ingestion agent — thesis §4.3; Postgres cve_decisions ledger + pending_review view</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F4E79"/>
        </a:solidFill>
        <a:effectLst/>
      </p:bgPr>
    </p:bg>
    <p:spTree>
      <p:nvGrpSpPr>
        <p:cNvPr id="1" name=""/>
        <p:cNvGrpSpPr/>
        <p:nvPr/>
      </p:nvGrpSpPr>
      <p:grpSpPr/>
      <p:sp>
        <p:nvSpPr>
          <p:cNvPr id="2" name="TextBox 1"/>
          <p:cNvSpPr txBox="1"/>
          <p:nvPr/>
        </p:nvSpPr>
        <p:spPr>
          <a:xfrm>
            <a:off x="548640" y="320040"/>
            <a:ext cx="8229600" cy="457200"/>
          </a:xfrm>
          <a:prstGeom prst="rect">
            <a:avLst/>
          </a:prstGeom>
          <a:noFill/>
        </p:spPr>
        <p:txBody>
          <a:bodyPr wrap="square" anchor="t">
            <a:spAutoFit/>
          </a:bodyPr>
          <a:lstStyle/>
          <a:p>
            <a:pPr algn="l">
              <a:lnSpc>
                <a:spcPct val="100000"/>
              </a:lnSpc>
            </a:pPr>
            <a:r>
              <a:rPr sz="2000" b="0" i="0">
                <a:solidFill>
                  <a:srgbClr val="A0BBDD"/>
                </a:solidFill>
                <a:latin typeface="Calibri"/>
              </a:rPr>
              <a:t>Conclusions</a:t>
            </a:r>
          </a:p>
        </p:txBody>
      </p:sp>
      <p:sp>
        <p:nvSpPr>
          <p:cNvPr id="3" name="Rectangle 2"/>
          <p:cNvSpPr/>
          <p:nvPr/>
        </p:nvSpPr>
        <p:spPr>
          <a:xfrm>
            <a:off x="548640" y="804672"/>
            <a:ext cx="11091672" cy="36576"/>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051560"/>
            <a:ext cx="11091672" cy="1143000"/>
          </a:xfrm>
          <a:prstGeom prst="rect">
            <a:avLst/>
          </a:prstGeom>
          <a:noFill/>
        </p:spPr>
        <p:txBody>
          <a:bodyPr wrap="square">
            <a:spAutoFit/>
          </a:bodyPr>
          <a:lstStyle/>
          <a:p>
            <a:pPr>
              <a:lnSpc>
                <a:spcPct val="110000"/>
              </a:lnSpc>
            </a:pPr>
            <a:r>
              <a:rPr sz="2000" b="1">
                <a:solidFill>
                  <a:srgbClr val="FFFFFF"/>
                </a:solidFill>
                <a:latin typeface="Calibri"/>
              </a:rPr>
              <a:t>1.  Unsupervised detection works on real telemetry: </a:t>
            </a:r>
            <a:r>
              <a:rPr sz="1900">
                <a:solidFill>
                  <a:srgbClr val="A0BBDD"/>
                </a:solidFill>
                <a:latin typeface="Calibri"/>
              </a:rPr>
              <a:t>the IF+AE ensemble reaches recall 93.6% with the fewest missed attacks (41), trained with zero labels on contaminated data.</a:t>
            </a:r>
          </a:p>
        </p:txBody>
      </p:sp>
      <p:sp>
        <p:nvSpPr>
          <p:cNvPr id="5" name="TextBox 4"/>
          <p:cNvSpPr txBox="1"/>
          <p:nvPr/>
        </p:nvSpPr>
        <p:spPr>
          <a:xfrm>
            <a:off x="548640" y="2258568"/>
            <a:ext cx="11091672" cy="1143000"/>
          </a:xfrm>
          <a:prstGeom prst="rect">
            <a:avLst/>
          </a:prstGeom>
          <a:noFill/>
        </p:spPr>
        <p:txBody>
          <a:bodyPr wrap="square">
            <a:spAutoFit/>
          </a:bodyPr>
          <a:lstStyle/>
          <a:p>
            <a:pPr>
              <a:lnSpc>
                <a:spcPct val="110000"/>
              </a:lnSpc>
            </a:pPr>
            <a:r>
              <a:rPr sz="2000" b="1">
                <a:solidFill>
                  <a:srgbClr val="FFFFFF"/>
                </a:solidFill>
                <a:latin typeface="Calibri"/>
              </a:rPr>
              <a:t>2.  Grounded explanation is measurable, not aspirational: </a:t>
            </a:r>
            <a:r>
              <a:rPr sz="1900">
                <a:solidFill>
                  <a:srgbClr val="A0BBDD"/>
                </a:solidFill>
                <a:latin typeface="Calibri"/>
              </a:rPr>
              <a:t>98.3% citation precision, refusal of fabricated threats, 0 over-refusals — the copilot earns analyst trust.</a:t>
            </a:r>
          </a:p>
        </p:txBody>
      </p:sp>
      <p:sp>
        <p:nvSpPr>
          <p:cNvPr id="6" name="TextBox 5"/>
          <p:cNvSpPr txBox="1"/>
          <p:nvPr/>
        </p:nvSpPr>
        <p:spPr>
          <a:xfrm>
            <a:off x="548640" y="3465576"/>
            <a:ext cx="11091672" cy="1143000"/>
          </a:xfrm>
          <a:prstGeom prst="rect">
            <a:avLst/>
          </a:prstGeom>
          <a:noFill/>
        </p:spPr>
        <p:txBody>
          <a:bodyPr wrap="square">
            <a:spAutoFit/>
          </a:bodyPr>
          <a:lstStyle/>
          <a:p>
            <a:pPr>
              <a:lnSpc>
                <a:spcPct val="110000"/>
              </a:lnSpc>
            </a:pPr>
            <a:r>
              <a:rPr sz="2000" b="1">
                <a:solidFill>
                  <a:srgbClr val="FFFFFF"/>
                </a:solidFill>
                <a:latin typeface="Calibri"/>
              </a:rPr>
              <a:t>3.  The knowledge base maintains itself: </a:t>
            </a:r>
            <a:r>
              <a:rPr sz="1900">
                <a:solidFill>
                  <a:srgbClr val="A0BBDD"/>
                </a:solidFill>
                <a:latin typeface="Calibri"/>
              </a:rPr>
              <a:t>a scheduled agent scores and routes new CVEs into the RAG index with a human review queue and full audit ledger in PostgreSQL.</a:t>
            </a:r>
          </a:p>
        </p:txBody>
      </p:sp>
      <p:sp>
        <p:nvSpPr>
          <p:cNvPr id="7" name="TextBox 6"/>
          <p:cNvSpPr txBox="1"/>
          <p:nvPr/>
        </p:nvSpPr>
        <p:spPr>
          <a:xfrm>
            <a:off x="548640" y="4800600"/>
            <a:ext cx="11091672" cy="777240"/>
          </a:xfrm>
          <a:prstGeom prst="rect">
            <a:avLst/>
          </a:prstGeom>
          <a:noFill/>
        </p:spPr>
        <p:txBody>
          <a:bodyPr wrap="square" anchor="t">
            <a:spAutoFit/>
          </a:bodyPr>
          <a:lstStyle/>
          <a:p>
            <a:pPr algn="l">
              <a:lnSpc>
                <a:spcPct val="100000"/>
              </a:lnSpc>
            </a:pPr>
            <a:r>
              <a:rPr sz="1500" b="0" i="1">
                <a:solidFill>
                  <a:srgbClr val="A0BBDD"/>
                </a:solidFill>
                <a:latin typeface="Calibri"/>
              </a:rPr>
              <a:t>Honest limits: ~2,200 training alerts; per-alert scoring (no UEBA yet); local LLM latency. Next: entity-level behaviour analytics, supervised comparison baseline, domain-tuned re-ranker.</a:t>
            </a:r>
          </a:p>
        </p:txBody>
      </p:sp>
      <p:sp>
        <p:nvSpPr>
          <p:cNvPr id="8" name="Rectangle 7"/>
          <p:cNvSpPr/>
          <p:nvPr/>
        </p:nvSpPr>
        <p:spPr>
          <a:xfrm>
            <a:off x="548640" y="5715000"/>
            <a:ext cx="2926080" cy="2743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8640" y="5897880"/>
            <a:ext cx="11091672" cy="640080"/>
          </a:xfrm>
          <a:prstGeom prst="rect">
            <a:avLst/>
          </a:prstGeom>
          <a:noFill/>
        </p:spPr>
        <p:txBody>
          <a:bodyPr wrap="square" anchor="t">
            <a:spAutoFit/>
          </a:bodyPr>
          <a:lstStyle/>
          <a:p>
            <a:pPr algn="l">
              <a:lnSpc>
                <a:spcPct val="100000"/>
              </a:lnSpc>
            </a:pPr>
            <a:r>
              <a:rPr sz="1500" b="0" i="0">
                <a:solidFill>
                  <a:srgbClr val="FFFFFF"/>
                </a:solidFill>
                <a:latin typeface="Calibri"/>
              </a:rPr>
              <a:t>github.com/Diana-Secarea/advanced-ai-siem  ·  diana.secarea1111@gmail.com  ·  feedback welcome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201168"/>
            <a:ext cx="11091672" cy="365760"/>
          </a:xfrm>
          <a:prstGeom prst="rect">
            <a:avLst/>
          </a:prstGeom>
          <a:noFill/>
        </p:spPr>
        <p:txBody>
          <a:bodyPr wrap="square" anchor="t">
            <a:spAutoFit/>
          </a:bodyPr>
          <a:lstStyle/>
          <a:p>
            <a:pPr algn="l">
              <a:lnSpc>
                <a:spcPct val="100000"/>
              </a:lnSpc>
            </a:pPr>
            <a:r>
              <a:rPr sz="1400" b="0" i="1">
                <a:solidFill>
                  <a:srgbClr val="777777"/>
                </a:solidFill>
                <a:latin typeface="Calibri"/>
              </a:rPr>
              <a:t>Appendix — References (selection cited in this deck)</a:t>
            </a:r>
          </a:p>
        </p:txBody>
      </p:sp>
      <p:sp>
        <p:nvSpPr>
          <p:cNvPr id="3" name="TextBox 2"/>
          <p:cNvSpPr txBox="1"/>
          <p:nvPr/>
        </p:nvSpPr>
        <p:spPr>
          <a:xfrm>
            <a:off x="548640" y="566928"/>
            <a:ext cx="11091672" cy="502920"/>
          </a:xfrm>
          <a:prstGeom prst="rect">
            <a:avLst/>
          </a:prstGeom>
          <a:noFill/>
        </p:spPr>
        <p:txBody>
          <a:bodyPr wrap="square" anchor="t">
            <a:spAutoFit/>
          </a:bodyPr>
          <a:lstStyle/>
          <a:p>
            <a:pPr algn="l">
              <a:lnSpc>
                <a:spcPct val="100000"/>
              </a:lnSpc>
            </a:pPr>
            <a:r>
              <a:rPr sz="2400" b="1" i="0">
                <a:solidFill>
                  <a:srgbClr val="1F4E79"/>
                </a:solidFill>
                <a:latin typeface="Calibri"/>
              </a:rPr>
              <a:t>References</a:t>
            </a:r>
          </a:p>
        </p:txBody>
      </p:sp>
      <p:sp>
        <p:nvSpPr>
          <p:cNvPr id="4" name="Rectangle 3"/>
          <p:cNvSpPr/>
          <p:nvPr/>
        </p:nvSpPr>
        <p:spPr>
          <a:xfrm>
            <a:off x="548640" y="1078992"/>
            <a:ext cx="11091672" cy="22860"/>
          </a:xfrm>
          <a:prstGeom prst="rect">
            <a:avLst/>
          </a:prstGeom>
          <a:solidFill>
            <a:srgbClr val="CC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80160"/>
            <a:ext cx="11091672" cy="5029200"/>
          </a:xfrm>
          <a:prstGeom prst="rect">
            <a:avLst/>
          </a:prstGeom>
          <a:noFill/>
        </p:spPr>
        <p:txBody>
          <a:bodyPr wrap="square">
            <a:spAutoFit/>
          </a:bodyPr>
          <a:lstStyle/>
          <a:p>
            <a:pPr>
              <a:spcAft>
                <a:spcPts val="900"/>
              </a:spcAft>
            </a:pPr>
            <a:r>
              <a:rPr sz="1350">
                <a:solidFill>
                  <a:srgbClr val="2D2D2D"/>
                </a:solidFill>
                <a:latin typeface="Calibri"/>
              </a:rPr>
              <a:t>[2] Wazuh Inc., “Wazuh Documentation”, https://documentation.wazuh.com/, 2024.</a:t>
            </a:r>
          </a:p>
          <a:p>
            <a:pPr>
              <a:spcAft>
                <a:spcPts val="900"/>
              </a:spcAft>
            </a:pPr>
            <a:r>
              <a:rPr sz="1350">
                <a:solidFill>
                  <a:srgbClr val="2D2D2D"/>
                </a:solidFill>
                <a:latin typeface="Calibri"/>
              </a:rPr>
              <a:t>[4] World Economic Forum, “The Global Risks Report 2024”, Geneva, 2024.</a:t>
            </a:r>
          </a:p>
          <a:p>
            <a:pPr>
              <a:spcAft>
                <a:spcPts val="900"/>
              </a:spcAft>
            </a:pPr>
            <a:r>
              <a:rPr sz="1350">
                <a:solidFill>
                  <a:srgbClr val="2D2D2D"/>
                </a:solidFill>
                <a:latin typeface="Calibri"/>
              </a:rPr>
              <a:t>[7] E. &amp; L. S. Okafor, “Unsupervised Learning Framework for Cyber Threat Detection, Anomaly Identification, and Alert Prioritization”, Applied Sciences, 2026.</a:t>
            </a:r>
          </a:p>
          <a:p>
            <a:pPr>
              <a:spcAft>
                <a:spcPts val="900"/>
              </a:spcAft>
            </a:pPr>
            <a:r>
              <a:rPr sz="1350">
                <a:solidFill>
                  <a:srgbClr val="2D2D2D"/>
                </a:solidFill>
                <a:latin typeface="Calibri"/>
              </a:rPr>
              <a:t>[20] F. T. Liu, K. M. Ting, Z.-H. Zhou, “Isolation Forest”, IEEE International Conference on Data Mining, 2008.</a:t>
            </a:r>
          </a:p>
          <a:p>
            <a:pPr>
              <a:spcAft>
                <a:spcPts val="900"/>
              </a:spcAft>
            </a:pPr>
            <a:r>
              <a:rPr sz="1350">
                <a:solidFill>
                  <a:srgbClr val="2D2D2D"/>
                </a:solidFill>
                <a:latin typeface="Calibri"/>
              </a:rPr>
              <a:t>[23] U. Michelucci, “An Introduction to Autoencoders”, arXiv:2201.03898, 2022.</a:t>
            </a:r>
          </a:p>
          <a:p>
            <a:pPr>
              <a:spcAft>
                <a:spcPts val="900"/>
              </a:spcAft>
            </a:pPr>
            <a:r>
              <a:rPr sz="1350">
                <a:solidFill>
                  <a:srgbClr val="2D2D2D"/>
                </a:solidFill>
                <a:latin typeface="Calibri"/>
              </a:rPr>
              <a:t>[25] P. Lewis et al., “Retrieval-Augmented Generation for Knowledge-Intensive NLP Tasks”, NeurIPS 2020.</a:t>
            </a:r>
          </a:p>
          <a:p>
            <a:pPr>
              <a:spcAft>
                <a:spcPts val="900"/>
              </a:spcAft>
            </a:pPr>
            <a:r>
              <a:rPr sz="1350">
                <a:solidFill>
                  <a:srgbClr val="2D2D2D"/>
                </a:solidFill>
                <a:latin typeface="Calibri"/>
              </a:rPr>
              <a:t>[27] Y. Gao et al., “Retrieval-Augmented Generation for Large Language Models: A Survey”, arXiv:2312.10997, 2023.</a:t>
            </a:r>
          </a:p>
          <a:p>
            <a:pPr>
              <a:spcAft>
                <a:spcPts val="900"/>
              </a:spcAft>
            </a:pPr>
            <a:r>
              <a:rPr sz="1350">
                <a:solidFill>
                  <a:srgbClr val="2D2D2D"/>
                </a:solidFill>
                <a:latin typeface="Calibri"/>
              </a:rPr>
              <a:t>[29] N. Reimers, I. Gurevych, “Sentence-BERT: Sentence Embeddings using Siamese BERT-Networks”, EMNLP 2019.</a:t>
            </a:r>
          </a:p>
          <a:p>
            <a:pPr>
              <a:spcAft>
                <a:spcPts val="900"/>
              </a:spcAft>
            </a:pPr>
            <a:r>
              <a:rPr sz="1350">
                <a:solidFill>
                  <a:srgbClr val="2D2D2D"/>
                </a:solidFill>
                <a:latin typeface="Calibri"/>
              </a:rPr>
              <a:t>[31] Qdrant Solutions GmbH, “Qdrant Documentation”, 2026.</a:t>
            </a:r>
          </a:p>
          <a:p>
            <a:pPr>
              <a:spcAft>
                <a:spcPts val="900"/>
              </a:spcAft>
            </a:pPr>
            <a:r>
              <a:rPr sz="1350">
                <a:solidFill>
                  <a:srgbClr val="2D2D2D"/>
                </a:solidFill>
                <a:latin typeface="Calibri"/>
              </a:rPr>
              <a:t>[32] D. M. Secărea, “AI-SIEM Threat Engine”, https://github.com/Diana-Secarea/advanced-ai-siem, 2026.</a:t>
            </a:r>
          </a:p>
        </p:txBody>
      </p:sp>
      <p:sp>
        <p:nvSpPr>
          <p:cNvPr id="6" name="TextBox 5"/>
          <p:cNvSpPr txBox="1"/>
          <p:nvPr/>
        </p:nvSpPr>
        <p:spPr>
          <a:xfrm>
            <a:off x="548640" y="6355080"/>
            <a:ext cx="11091672" cy="365760"/>
          </a:xfrm>
          <a:prstGeom prst="rect">
            <a:avLst/>
          </a:prstGeom>
          <a:noFill/>
        </p:spPr>
        <p:txBody>
          <a:bodyPr wrap="square" anchor="t">
            <a:spAutoFit/>
          </a:bodyPr>
          <a:lstStyle/>
          <a:p>
            <a:pPr algn="l">
              <a:lnSpc>
                <a:spcPct val="100000"/>
              </a:lnSpc>
            </a:pPr>
            <a:r>
              <a:rPr sz="1200" b="0" i="0">
                <a:solidFill>
                  <a:srgbClr val="777777"/>
                </a:solidFill>
                <a:latin typeface="Calibri"/>
              </a:rPr>
              <a:t>Full bibliography (32 entries): thesis pp. 44–46.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