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My thesis integrates two AI paradigms into the Wazuh SIEM: unsupervised anomaly detection and a knowledge-grounded language model. Everything is implemented, deployed and evaluated — and I will show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sentence: I extend Wazuh with two AI paradigms. Three concrete objectives: detect with an unsupervised ensemble, explain with a grounded local LLM, and keep the knowledge base current autonomously. Everything runs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talk follows the thesis structure: I analyzed the limits of rule-based SIEMs, discovered that two unsupervised models fail in complementary ways, proposed the AI Threat-Hunting Engine architecture, and evaluated it on real data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matters: most alerts are never investigated, signature detection cannot see novel attacks, and alerts carry no context. The research question: can unsupervised scoring plus grounded reasoning fix triage on a real deployment, not a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left half is standard Wazuh — agents, manager, rule engine. Everything above is my contribution: the ensemble scores, the RAG copilot explains with citations, the CVE agent keeps knowledge fresh. Stack is fully local and open source: scikit-learn, Ollama with llama3.2, Qdrant, PostgreSQL, Docker — no cloud API, no per-token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architecture picture cannot show: how training happens. Top lane, offline: months of raw alerts become 16 features; iterative trimming drops the worst-reconstructed tail — where attacks hide — and retrains, three rounds, zero labels. Bottom lane, live: every new alert goes through the same features, both models score it, scores fuse into a tier. About 12 milliseconds per alert, before any human looks 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result families. Detection: the ensemble misses only 41 attacks — the number that matters for a SOC — versus 62 and 208 for the single models, at 6.2% false positives, trained with zero labels. Generation: 98.3% citation precision, and when probed with a fake CVE and an invented APT group it refused every time — while never refusing a real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conclusions, each shown with evidence: detection works without labels, grounded explanation is measurable and passes, and the knowledge base maintains itself. I state the limits honestly — corpus size, per-alert scoring, LLM latency — and each maps to a concrete future-work item. The full system is public on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the browser: Populate Map, Test the Shield — 14 real attack families through the real Wazuh pipeline — click the CRITICAL alert, Investigate with AI, click a source chip to show the exact cited passage. Then take questions with this slide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0BBDD"/>
                </a:solidFill>
                <a:latin typeface="Calibri"/>
              </a:rPr>
              <a:t>BACHELOR THESIS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1" i="0">
                <a:solidFill>
                  <a:srgbClr val="FFFFFF"/>
                </a:solidFill>
                <a:latin typeface="Calibri"/>
              </a:rPr>
              <a:t>Architecture and Evaluation of a SIEM</a:t>
            </a:r>
          </a:p>
          <a:p>
            <a:pPr algn="l">
              <a:lnSpc>
                <a:spcPct val="108000"/>
              </a:lnSpc>
            </a:pPr>
            <a:r>
              <a:rPr sz="3300" b="1" i="0">
                <a:solidFill>
                  <a:srgbClr val="FFFFFF"/>
                </a:solidFill>
                <a:latin typeface="Calibri"/>
              </a:rPr>
              <a:t>Integrating Unsupervised Anomaly Detection</a:t>
            </a:r>
          </a:p>
          <a:p>
            <a:pPr algn="l">
              <a:lnSpc>
                <a:spcPct val="108000"/>
              </a:lnSpc>
            </a:pPr>
            <a:r>
              <a:rPr sz="3300" b="1" i="0">
                <a:solidFill>
                  <a:srgbClr val="FFFFFF"/>
                </a:solidFill>
                <a:latin typeface="Calibri"/>
              </a:rPr>
              <a:t>and Knowledge-Grounded Language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977639"/>
            <a:ext cx="201168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Secărea Diana Maria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8172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0BBDD"/>
                </a:solidFill>
                <a:latin typeface="Calibri"/>
              </a:rPr>
              <a:t>Coordinator: prof. univ. dr. Cătălin Boja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0BBDD"/>
                </a:solidFill>
                <a:latin typeface="Calibri"/>
              </a:rPr>
              <a:t>Bucharest University of Economic Studies · Faculty of Cybernetics, Statistics and Economic Informatics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0BBDD"/>
                </a:solidFill>
                <a:latin typeface="Calibri"/>
              </a:rPr>
              <a:t>Economic Informatics Program · Bucharest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16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F4E79"/>
                </a:solidFill>
                <a:latin typeface="Calibri"/>
              </a:rPr>
              <a:t>Objective — score every alert, explain every score, keep knowledge fresh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52144"/>
            <a:ext cx="1109167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F4E79"/>
                </a:solidFill>
                <a:latin typeface="Calibri"/>
              </a:rPr>
              <a:t>Extend the open-source Wazuh SIEM with two cooperating AI paradigms,</a:t>
            </a:r>
          </a:p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F4E79"/>
                </a:solidFill>
                <a:latin typeface="Calibri"/>
              </a:rPr>
              <a:t>implemented, deployed, and evaluated on real security telemetry.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778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2000">
                <a:solidFill>
                  <a:srgbClr val="2E75B6"/>
                </a:solidFill>
                <a:latin typeface="Calibri"/>
              </a:rPr>
              <a:t>▪  </a:t>
            </a:r>
            <a:r>
              <a:rPr sz="2000" b="1">
                <a:solidFill>
                  <a:srgbClr val="2D2D2D"/>
                </a:solidFill>
                <a:latin typeface="Calibri"/>
              </a:rPr>
              <a:t>Detect:</a:t>
            </a:r>
            <a:r>
              <a:rPr sz="2000">
                <a:solidFill>
                  <a:srgbClr val="2D2D2D"/>
                </a:solidFill>
                <a:latin typeface="Calibri"/>
              </a:rPr>
              <a:t> score every alert 0–100 with an unsupervised Isolation Forest + Autoencoder ensemble.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2000">
                <a:solidFill>
                  <a:srgbClr val="2E75B6"/>
                </a:solidFill>
                <a:latin typeface="Calibri"/>
              </a:rPr>
              <a:t>▪  </a:t>
            </a:r>
            <a:r>
              <a:rPr sz="2000" b="1">
                <a:solidFill>
                  <a:srgbClr val="2D2D2D"/>
                </a:solidFill>
                <a:latin typeface="Calibri"/>
              </a:rPr>
              <a:t>Explain:</a:t>
            </a:r>
            <a:r>
              <a:rPr sz="2000">
                <a:solidFill>
                  <a:srgbClr val="2D2D2D"/>
                </a:solidFill>
                <a:latin typeface="Calibri"/>
              </a:rPr>
              <a:t> a local LLM answers only from cited, retrieved threat intelligence.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2000">
                <a:solidFill>
                  <a:srgbClr val="2E75B6"/>
                </a:solidFill>
                <a:latin typeface="Calibri"/>
              </a:rPr>
              <a:t>▪  </a:t>
            </a:r>
            <a:r>
              <a:rPr sz="2000" b="1">
                <a:solidFill>
                  <a:srgbClr val="2D2D2D"/>
                </a:solidFill>
                <a:latin typeface="Calibri"/>
              </a:rPr>
              <a:t>Stay current:</a:t>
            </a:r>
            <a:r>
              <a:rPr sz="2000">
                <a:solidFill>
                  <a:srgbClr val="2D2D2D"/>
                </a:solidFill>
                <a:latin typeface="Calibri"/>
              </a:rPr>
              <a:t> a scheduled agent ingests new CVEs autonomously, with full audit.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5623560"/>
            <a:ext cx="5943600" cy="54864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6C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7A5200"/>
                </a:solidFill>
                <a:latin typeface="Calibri"/>
              </a:rPr>
              <a:t>Fully local — security data never leaves the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1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77777"/>
                </a:solidFill>
                <a:latin typeface="Calibri"/>
              </a:rPr>
              <a:t>Thesis §1 — objectives and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16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F4E79"/>
                </a:solidFill>
                <a:latin typeface="Calibri"/>
              </a:rPr>
              <a:t>Contents — what was analyzed, discovered, proposed, and evaluated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52144"/>
            <a:ext cx="1109167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600200"/>
            <a:ext cx="10149840" cy="96012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1778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2000" b="1">
                <a:solidFill>
                  <a:srgbClr val="2E75B6"/>
                </a:solidFill>
                <a:latin typeface="Calibri"/>
              </a:rPr>
              <a:t>Analyzed   </a:t>
            </a:r>
            <a:r>
              <a:rPr sz="1700">
                <a:solidFill>
                  <a:srgbClr val="2D2D2D"/>
                </a:solidFill>
                <a:latin typeface="Calibri"/>
              </a:rPr>
              <a:t>where rule-based SIEMs fail: alert fatigue, unknown attacks, missing context</a:t>
            </a:r>
            <a:r>
              <a:rPr sz="1300">
                <a:solidFill>
                  <a:srgbClr val="777777"/>
                </a:solidFill>
                <a:latin typeface="Calibri"/>
              </a:rPr>
              <a:t>   — thesis §2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743200"/>
            <a:ext cx="10149840" cy="96012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2000" b="1">
                <a:solidFill>
                  <a:srgbClr val="1F4E79"/>
                </a:solidFill>
                <a:latin typeface="Calibri"/>
              </a:rPr>
              <a:t>Discovered   </a:t>
            </a:r>
            <a:r>
              <a:rPr sz="1700">
                <a:solidFill>
                  <a:srgbClr val="2D2D2D"/>
                </a:solidFill>
                <a:latin typeface="Calibri"/>
              </a:rPr>
              <a:t>two unsupervised detectors fail differently — fusing them cuts missed attacks</a:t>
            </a:r>
            <a:r>
              <a:rPr sz="1300">
                <a:solidFill>
                  <a:srgbClr val="777777"/>
                </a:solidFill>
                <a:latin typeface="Calibri"/>
              </a:rPr>
              <a:t>   — thesis §3.2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886200"/>
            <a:ext cx="10149840" cy="96012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1778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2000" b="1">
                <a:solidFill>
                  <a:srgbClr val="2E7D5B"/>
                </a:solidFill>
                <a:latin typeface="Calibri"/>
              </a:rPr>
              <a:t>Proposed   </a:t>
            </a:r>
            <a:r>
              <a:rPr sz="1700">
                <a:solidFill>
                  <a:srgbClr val="2D2D2D"/>
                </a:solidFill>
                <a:latin typeface="Calibri"/>
              </a:rPr>
              <a:t>an AI Threat-Hunting Engine: ensemble scoring, RAG copilot, CVE agent</a:t>
            </a:r>
            <a:r>
              <a:rPr sz="1300">
                <a:solidFill>
                  <a:srgbClr val="777777"/>
                </a:solidFill>
                <a:latin typeface="Calibri"/>
              </a:rPr>
              <a:t>   — thesis §3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5029200"/>
            <a:ext cx="10149840" cy="96012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1778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2000" b="1">
                <a:solidFill>
                  <a:srgbClr val="2E75B6"/>
                </a:solidFill>
                <a:latin typeface="Calibri"/>
              </a:rPr>
              <a:t>Evaluated   </a:t>
            </a:r>
            <a:r>
              <a:rPr sz="1700">
                <a:solidFill>
                  <a:srgbClr val="2D2D2D"/>
                </a:solidFill>
                <a:latin typeface="Calibri"/>
              </a:rPr>
              <a:t>2,171 real alerts · 82 annotated queries · one live deployment</a:t>
            </a:r>
            <a:r>
              <a:rPr sz="1300">
                <a:solidFill>
                  <a:srgbClr val="777777"/>
                </a:solidFill>
                <a:latin typeface="Calibri"/>
              </a:rPr>
              <a:t>   — thesis §4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16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F4E79"/>
                </a:solidFill>
                <a:latin typeface="Calibri"/>
              </a:rPr>
              <a:t>Why — analysts drown in alerts while novel attacks pass undetected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52144"/>
            <a:ext cx="1109167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6492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2000">
                <a:solidFill>
                  <a:srgbClr val="2E75B6"/>
                </a:solidFill>
                <a:latin typeface="Calibri"/>
              </a:rPr>
              <a:t>▪  </a:t>
            </a:r>
            <a:r>
              <a:rPr sz="2000" b="1">
                <a:solidFill>
                  <a:srgbClr val="2D2D2D"/>
                </a:solidFill>
                <a:latin typeface="Calibri"/>
              </a:rPr>
              <a:t>Alert fatigue:</a:t>
            </a:r>
            <a:r>
              <a:rPr sz="2000">
                <a:solidFill>
                  <a:srgbClr val="2D2D2D"/>
                </a:solidFill>
                <a:latin typeface="Calibri"/>
              </a:rPr>
              <a:t> SOCs average ~4,490 alerts per day; about 67% are never investigated.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2000">
                <a:solidFill>
                  <a:srgbClr val="2E75B6"/>
                </a:solidFill>
                <a:latin typeface="Calibri"/>
              </a:rPr>
              <a:t>▪  </a:t>
            </a:r>
            <a:r>
              <a:rPr sz="2000" b="1">
                <a:solidFill>
                  <a:srgbClr val="2D2D2D"/>
                </a:solidFill>
                <a:latin typeface="Calibri"/>
              </a:rPr>
              <a:t>Blind to the unknown:</a:t>
            </a:r>
            <a:r>
              <a:rPr sz="2000">
                <a:solidFill>
                  <a:srgbClr val="2D2D2D"/>
                </a:solidFill>
                <a:latin typeface="Calibri"/>
              </a:rPr>
              <a:t> signature rules match only known patterns — zero-days pass silently.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2000">
                <a:solidFill>
                  <a:srgbClr val="2E75B6"/>
                </a:solidFill>
                <a:latin typeface="Calibri"/>
              </a:rPr>
              <a:t>▪  </a:t>
            </a:r>
            <a:r>
              <a:rPr sz="2000" b="1">
                <a:solidFill>
                  <a:srgbClr val="2D2D2D"/>
                </a:solidFill>
                <a:latin typeface="Calibri"/>
              </a:rPr>
              <a:t>No context:</a:t>
            </a:r>
            <a:r>
              <a:rPr sz="2000">
                <a:solidFill>
                  <a:srgbClr val="2D2D2D"/>
                </a:solidFill>
                <a:latin typeface="Calibri"/>
              </a:rPr>
              <a:t> each alert arrives bare; every investigation starts from zero.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600200"/>
            <a:ext cx="4160520" cy="283464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F4E79"/>
                </a:solidFill>
                <a:latin typeface="Calibri"/>
              </a:rPr>
              <a:t>Research question</a:t>
            </a:r>
          </a:p>
          <a:p>
            <a:pPr algn="ctr"/>
            <a:r>
              <a:rPr sz="1500" b="0">
                <a:solidFill>
                  <a:srgbClr val="1F4E79"/>
                </a:solidFill>
                <a:latin typeface="Calibri"/>
              </a:rPr>
              <a:t/>
            </a:r>
          </a:p>
          <a:p>
            <a:pPr algn="ctr"/>
            <a:r>
              <a:rPr sz="1500" b="0">
                <a:solidFill>
                  <a:srgbClr val="1F4E79"/>
                </a:solidFill>
                <a:latin typeface="Calibri"/>
              </a:rPr>
              <a:t>Can unsupervised scoring</a:t>
            </a:r>
          </a:p>
          <a:p>
            <a:pPr algn="ctr"/>
            <a:r>
              <a:rPr sz="1500" b="0">
                <a:solidFill>
                  <a:srgbClr val="1F4E79"/>
                </a:solidFill>
                <a:latin typeface="Calibri"/>
              </a:rPr>
              <a:t>+ grounded reasoning</a:t>
            </a:r>
          </a:p>
          <a:p>
            <a:pPr algn="ctr"/>
            <a:r>
              <a:rPr sz="1500" b="0">
                <a:solidFill>
                  <a:srgbClr val="1F4E79"/>
                </a:solidFill>
                <a:latin typeface="Calibri"/>
              </a:rPr>
              <a:t>cut triage time and earn</a:t>
            </a:r>
          </a:p>
          <a:p>
            <a:pPr algn="ctr"/>
            <a:r>
              <a:rPr sz="1500" b="0">
                <a:solidFill>
                  <a:srgbClr val="1F4E79"/>
                </a:solidFill>
                <a:latin typeface="Calibri"/>
              </a:rPr>
              <a:t>analyst trust — on a real,</a:t>
            </a:r>
          </a:p>
          <a:p>
            <a:pPr algn="ctr"/>
            <a:r>
              <a:rPr sz="1500" b="0">
                <a:solidFill>
                  <a:srgbClr val="1F4E79"/>
                </a:solidFill>
                <a:latin typeface="Calibri"/>
              </a:rPr>
              <a:t>running deployment?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5212080"/>
            <a:ext cx="9235440" cy="566928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6C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7A5200"/>
                </a:solidFill>
                <a:latin typeface="Calibri"/>
              </a:rPr>
              <a:t>How it helps: fewer missed attacks · faster triage · explanations analysts can verify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1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77777"/>
                </a:solidFill>
                <a:latin typeface="Calibri"/>
              </a:rPr>
              <a:t>Industry SOC statistics [7]; WEF Global Risks Report 2024 [4] — thesis §2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16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F4E79"/>
                </a:solidFill>
                <a:latin typeface="Calibri"/>
              </a:rPr>
              <a:t>How — architecture: three AI layers on top of standard Wazuh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52144"/>
            <a:ext cx="1109167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_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675120" cy="491271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463040"/>
            <a:ext cx="4114800" cy="96012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600" b="1">
                <a:solidFill>
                  <a:srgbClr val="1F4E79"/>
                </a:solidFill>
                <a:latin typeface="Calibri"/>
              </a:rPr>
              <a:t>1 · Anomaly ensemble</a:t>
            </a:r>
          </a:p>
          <a:p>
            <a:r>
              <a:rPr sz="1250">
                <a:solidFill>
                  <a:srgbClr val="2D2D2D"/>
                </a:solidFill>
                <a:latin typeface="Calibri"/>
              </a:rPr>
              <a:t>IF + Autoencoder score every alert, fused into confidence tiers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560320"/>
            <a:ext cx="4114800" cy="96012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1778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600" b="1">
                <a:solidFill>
                  <a:srgbClr val="2E75B6"/>
                </a:solidFill>
                <a:latin typeface="Calibri"/>
              </a:rPr>
              <a:t>2 · RAG copilot</a:t>
            </a:r>
          </a:p>
          <a:p>
            <a:r>
              <a:rPr sz="1250">
                <a:solidFill>
                  <a:srgbClr val="2D2D2D"/>
                </a:solidFill>
                <a:latin typeface="Calibri"/>
              </a:rPr>
              <a:t>local LLM grounded in MITRE, YARA, Sigma, CVEs — cited answers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3657600"/>
            <a:ext cx="4114800" cy="96012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1778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600" b="1">
                <a:solidFill>
                  <a:srgbClr val="2E7D5B"/>
                </a:solidFill>
                <a:latin typeface="Calibri"/>
              </a:rPr>
              <a:t>3 · CVE agent</a:t>
            </a:r>
          </a:p>
          <a:p>
            <a:r>
              <a:rPr sz="1250">
                <a:solidFill>
                  <a:srgbClr val="2D2D2D"/>
                </a:solidFill>
                <a:latin typeface="Calibri"/>
              </a:rPr>
              <a:t>fetches, scores, routes new CVEs; PostgreSQL audit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73659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77777"/>
                </a:solidFill>
                <a:latin typeface="Calibri"/>
              </a:rPr>
              <a:t>TECHNOLOGY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5047488"/>
            <a:ext cx="1234440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Wazuh 4.14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42247" y="5047488"/>
            <a:ext cx="1234440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Python 3.13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86415" y="5047488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scikit-learn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5486400"/>
            <a:ext cx="1691640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Ollama · llama3.2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99447" y="5486400"/>
            <a:ext cx="914400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Qdrant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5925312"/>
            <a:ext cx="1463040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PostgreSQL 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0847" y="5925312"/>
            <a:ext cx="777240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Flask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57815" y="5925312"/>
            <a:ext cx="914400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11091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77777"/>
                </a:solidFill>
                <a:latin typeface="Calibri"/>
              </a:rPr>
              <a:t>Figure 3.1.1 — thesis, p. 9. Endpoint &amp; manager layers = Wazuh; engine, storage, visualisation = this 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16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F4E79"/>
                </a:solidFill>
                <a:latin typeface="Calibri"/>
              </a:rPr>
              <a:t>How — the ML flow: train on raw alerts, score every new alert in ~12 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52144"/>
            <a:ext cx="1109167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4E79"/>
                </a:solidFill>
                <a:latin typeface="Calibri"/>
              </a:rPr>
              <a:t>TRAINING — offline, zero labels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2,171 real alerts</a:t>
            </a:r>
          </a:p>
          <a:p>
            <a:pPr algn="ctr"/>
            <a:r>
              <a:rPr sz="1200" b="0">
                <a:solidFill>
                  <a:srgbClr val="1F4E79"/>
                </a:solidFill>
                <a:latin typeface="Calibri"/>
              </a:rPr>
              <a:t>months of live 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82880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16 features</a:t>
            </a:r>
          </a:p>
          <a:p>
            <a:pPr algn="ctr"/>
            <a:r>
              <a:rPr sz="1200" b="0">
                <a:solidFill>
                  <a:srgbClr val="1F4E79"/>
                </a:solidFill>
                <a:latin typeface="Calibri"/>
              </a:rPr>
              <a:t>per alert, z-scaled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28800"/>
            <a:ext cx="2834640" cy="86868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Iterative trimming ×3</a:t>
            </a:r>
          </a:p>
          <a:p>
            <a:pPr algn="ctr"/>
            <a:r>
              <a:rPr sz="1200" b="0">
                <a:solidFill>
                  <a:srgbClr val="1F4E79"/>
                </a:solidFill>
                <a:latin typeface="Calibri"/>
              </a:rPr>
              <a:t>drop worst-reconstructed 25% → 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82880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IF + AE models</a:t>
            </a:r>
          </a:p>
          <a:p>
            <a:pPr algn="ctr"/>
            <a:r>
              <a:rPr sz="1200" b="0">
                <a:solidFill>
                  <a:srgbClr val="1F4E79"/>
                </a:solidFill>
                <a:latin typeface="Calibri"/>
              </a:rPr>
              <a:t>calibrated 0–100, saved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9504" y="2263140.0"/>
            <a:ext cx="393192" cy="0.0"/>
          </a:xfrm>
          <a:prstGeom prst="bentConnector3">
            <a:avLst/>
          </a:prstGeom>
          <a:ln w="2794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12664" y="2263140.0"/>
            <a:ext cx="393192" cy="0.0"/>
          </a:xfrm>
          <a:prstGeom prst="bentConnector3">
            <a:avLst/>
          </a:prstGeom>
          <a:ln w="2794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50224" y="2263140.0"/>
            <a:ext cx="393192" cy="0.0"/>
          </a:xfrm>
          <a:prstGeom prst="bentConnector3">
            <a:avLst/>
          </a:prstGeom>
          <a:ln w="2794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520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SCORING — live, per alert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D2D2D"/>
                </a:solidFill>
                <a:latin typeface="Calibri"/>
              </a:rPr>
              <a:t>New Wazuh alert</a:t>
            </a:r>
          </a:p>
          <a:p>
            <a:pPr algn="ctr"/>
            <a:r>
              <a:rPr sz="1100" b="0">
                <a:solidFill>
                  <a:srgbClr val="2D2D2D"/>
                </a:solidFill>
                <a:latin typeface="Calibri"/>
              </a:rPr>
              <a:t>from alerts.json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393192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D2D2D"/>
                </a:solidFill>
                <a:latin typeface="Calibri"/>
              </a:rPr>
              <a:t>Same 16 features</a:t>
            </a:r>
          </a:p>
          <a:p>
            <a:pPr algn="ctr"/>
            <a:r>
              <a:rPr sz="1100" b="0">
                <a:solidFill>
                  <a:srgbClr val="2D2D2D"/>
                </a:solidFill>
                <a:latin typeface="Calibri"/>
              </a:rPr>
              <a:t>identical extractor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3931920"/>
            <a:ext cx="21945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D2D2D"/>
                </a:solidFill>
                <a:latin typeface="Calibri"/>
              </a:rPr>
              <a:t>IF score · AE score</a:t>
            </a:r>
          </a:p>
          <a:p>
            <a:pPr algn="ctr"/>
            <a:r>
              <a:rPr sz="1100" b="0">
                <a:solidFill>
                  <a:srgbClr val="2D2D2D"/>
                </a:solidFill>
                <a:latin typeface="Calibri"/>
              </a:rPr>
              <a:t>two independent opinions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34656" y="3931920"/>
            <a:ext cx="15544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D2D2D"/>
                </a:solidFill>
                <a:latin typeface="Calibri"/>
              </a:rPr>
              <a:t>Fusion</a:t>
            </a:r>
          </a:p>
          <a:p>
            <a:pPr algn="ctr"/>
            <a:r>
              <a:rPr sz="1100" b="0">
                <a:solidFill>
                  <a:srgbClr val="2D2D2D"/>
                </a:solidFill>
                <a:latin typeface="Calibri"/>
              </a:rPr>
              <a:t>0.45·IF + 0.55·AE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45168" y="393192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D2D2D"/>
                </a:solidFill>
                <a:latin typeface="Calibri"/>
              </a:rPr>
              <a:t>Tier</a:t>
            </a:r>
          </a:p>
          <a:p>
            <a:pPr algn="ctr"/>
            <a:r>
              <a:rPr sz="1100" b="0">
                <a:solidFill>
                  <a:srgbClr val="2D2D2D"/>
                </a:solidFill>
                <a:latin typeface="Calibri"/>
              </a:rPr>
              <a:t>CRITICAL · HIGH · POSSIBLE · NORMAL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96896" y="4366260.0"/>
            <a:ext cx="182880" cy="0.0"/>
          </a:xfrm>
          <a:prstGeom prst="bentConnector3">
            <a:avLst/>
          </a:prstGeom>
          <a:ln w="27940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64608" y="4366260.0"/>
            <a:ext cx="182880" cy="0.0"/>
          </a:xfrm>
          <a:prstGeom prst="bentConnector3">
            <a:avLst/>
          </a:prstGeom>
          <a:ln w="27940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15200" y="4366260.0"/>
            <a:ext cx="182880" cy="0.0"/>
          </a:xfrm>
          <a:prstGeom prst="bentConnector3">
            <a:avLst/>
          </a:prstGeom>
          <a:ln w="27940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25712" y="4366260.0"/>
            <a:ext cx="182880" cy="0.0"/>
          </a:xfrm>
          <a:prstGeom prst="bentConnector3">
            <a:avLst/>
          </a:prstGeom>
          <a:ln w="27940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181344.0" y="2743200"/>
            <a:ext cx="4059936.0" cy="1143000"/>
          </a:xfrm>
          <a:prstGeom prst="bentConnector3">
            <a:avLst/>
          </a:prstGeom>
          <a:ln w="2794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463040" y="5349240"/>
            <a:ext cx="9235440" cy="566928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6C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7A5200"/>
                </a:solidFill>
                <a:latin typeface="Calibri"/>
              </a:rPr>
              <a:t>No labels anywhere: the model bootstraps its own clean set from contaminated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19088"/>
            <a:ext cx="11091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77777"/>
                </a:solidFill>
                <a:latin typeface="Calibri"/>
              </a:rPr>
              <a:t>Training: thesis §3.2, Tables 4.2.1–4.2.2 · Fusion and tiers: thesis §3.2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16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F4E79"/>
                </a:solidFill>
                <a:latin typeface="Calibri"/>
              </a:rPr>
              <a:t>Results — fewest missed attacks, and a copilot that cites instead of inventing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52144"/>
            <a:ext cx="1109167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fusio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120640" cy="38792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235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777777"/>
                </a:solidFill>
                <a:latin typeface="Calibri"/>
              </a:rPr>
              <a:t>Ensemble confusion matrix — 2,171 real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55448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2E75B6"/>
                </a:solidFill>
                <a:latin typeface="Calibri"/>
              </a:rPr>
              <a:t>▪  </a:t>
            </a:r>
            <a:r>
              <a:rPr sz="1700" b="1">
                <a:solidFill>
                  <a:srgbClr val="2D2D2D"/>
                </a:solidFill>
                <a:latin typeface="Calibri"/>
              </a:rPr>
              <a:t>Detection:</a:t>
            </a:r>
            <a:r>
              <a:rPr sz="1700">
                <a:solidFill>
                  <a:srgbClr val="2D2D2D"/>
                </a:solidFill>
                <a:latin typeface="Calibri"/>
              </a:rPr>
              <a:t> recall 93.6% with zero labels; false-positive rate down to 6.2%.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2E75B6"/>
                </a:solidFill>
                <a:latin typeface="Calibri"/>
              </a:rPr>
              <a:t>▪  </a:t>
            </a:r>
            <a:r>
              <a:rPr sz="1700" b="1">
                <a:solidFill>
                  <a:srgbClr val="2D2D2D"/>
                </a:solidFill>
                <a:latin typeface="Calibri"/>
              </a:rPr>
              <a:t>Fewest misses:</a:t>
            </a:r>
            <a:r>
              <a:rPr sz="1700">
                <a:solidFill>
                  <a:srgbClr val="2D2D2D"/>
                </a:solidFill>
                <a:latin typeface="Calibri"/>
              </a:rPr>
              <a:t> 41 attacks missed — versus 62 (IF alone) and 208 (AE alone).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2E75B6"/>
                </a:solidFill>
                <a:latin typeface="Calibri"/>
              </a:rPr>
              <a:t>▪  </a:t>
            </a:r>
            <a:r>
              <a:rPr sz="1700" b="1">
                <a:solidFill>
                  <a:srgbClr val="2D2D2D"/>
                </a:solidFill>
                <a:latin typeface="Calibri"/>
              </a:rPr>
              <a:t>Retrieval:</a:t>
            </a:r>
            <a:r>
              <a:rPr sz="1700">
                <a:solidFill>
                  <a:srgbClr val="2D2D2D"/>
                </a:solidFill>
                <a:latin typeface="Calibri"/>
              </a:rPr>
              <a:t> Hit-Rate 82.9%, MRR 0.695 across 82 annotated queries.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2E75B6"/>
                </a:solidFill>
                <a:latin typeface="Calibri"/>
              </a:rPr>
              <a:t>▪  </a:t>
            </a:r>
            <a:r>
              <a:rPr sz="1700" b="1">
                <a:solidFill>
                  <a:srgbClr val="2D2D2D"/>
                </a:solidFill>
                <a:latin typeface="Calibri"/>
              </a:rPr>
              <a:t>Grounding:</a:t>
            </a:r>
            <a:r>
              <a:rPr sz="1700">
                <a:solidFill>
                  <a:srgbClr val="2D2D2D"/>
                </a:solidFill>
                <a:latin typeface="Calibri"/>
              </a:rPr>
              <a:t> 98.3% citation precision — 117 of 119 citations verified correct.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2E75B6"/>
                </a:solidFill>
                <a:latin typeface="Calibri"/>
              </a:rPr>
              <a:t>▪  </a:t>
            </a:r>
            <a:r>
              <a:rPr sz="1700" b="1">
                <a:solidFill>
                  <a:srgbClr val="2D2D2D"/>
                </a:solidFill>
                <a:latin typeface="Calibri"/>
              </a:rPr>
              <a:t>No hallucinations:</a:t>
            </a:r>
            <a:r>
              <a:rPr sz="1700">
                <a:solidFill>
                  <a:srgbClr val="2D2D2D"/>
                </a:solidFill>
                <a:latin typeface="Calibri"/>
              </a:rPr>
              <a:t> refused all six fabricated-threat probes; zero wrongful refusals.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5715000"/>
            <a:ext cx="5486400" cy="50292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6C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7A5200"/>
                </a:solidFill>
                <a:latin typeface="Calibri"/>
              </a:rPr>
              <a:t>The copilot cites its evidence — and refuses to invent threats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91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77777"/>
                </a:solidFill>
                <a:latin typeface="Calibri"/>
              </a:rPr>
              <a:t>Figure 4.2.7, Table 4.2.4 (detection) · Figure 4.3.6, §4.3 refusal set (generation) — thesis §4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916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F4E79"/>
                </a:solidFill>
                <a:latin typeface="Calibri"/>
              </a:rPr>
              <a:t>Conclusions — the three claims hold; limits are stated, each one is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52144"/>
            <a:ext cx="1109167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4E79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2E75B6"/>
                </a:solidFill>
                <a:latin typeface="Calibri"/>
              </a:rPr>
              <a:t>▪  </a:t>
            </a:r>
            <a:r>
              <a:rPr sz="1800" b="1">
                <a:solidFill>
                  <a:srgbClr val="2D2D2D"/>
                </a:solidFill>
                <a:latin typeface="Calibri"/>
              </a:rPr>
              <a:t>Detection works:</a:t>
            </a:r>
            <a:r>
              <a:rPr sz="1800">
                <a:solidFill>
                  <a:srgbClr val="2D2D2D"/>
                </a:solidFill>
                <a:latin typeface="Calibri"/>
              </a:rPr>
              <a:t> unsupervised ensemble on real telemetry — no labelling required.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2E75B6"/>
                </a:solidFill>
                <a:latin typeface="Calibri"/>
              </a:rPr>
              <a:t>▪  </a:t>
            </a:r>
            <a:r>
              <a:rPr sz="1800" b="1">
                <a:solidFill>
                  <a:srgbClr val="2D2D2D"/>
                </a:solidFill>
                <a:latin typeface="Calibri"/>
              </a:rPr>
              <a:t>Explanation is measurable:</a:t>
            </a:r>
            <a:r>
              <a:rPr sz="1800">
                <a:solidFill>
                  <a:srgbClr val="2D2D2D"/>
                </a:solidFill>
                <a:latin typeface="Calibri"/>
              </a:rPr>
              <a:t> grounded, cited, and it passes the tests.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2E75B6"/>
                </a:solidFill>
                <a:latin typeface="Calibri"/>
              </a:rPr>
              <a:t>▪  </a:t>
            </a:r>
            <a:r>
              <a:rPr sz="1800" b="1">
                <a:solidFill>
                  <a:srgbClr val="2D2D2D"/>
                </a:solidFill>
                <a:latin typeface="Calibri"/>
              </a:rPr>
              <a:t>Knowledge stays current:</a:t>
            </a:r>
            <a:r>
              <a:rPr sz="1800">
                <a:solidFill>
                  <a:srgbClr val="2D2D2D"/>
                </a:solidFill>
                <a:latin typeface="Calibri"/>
              </a:rPr>
              <a:t> autonomous agent, human review only where uncertain.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7D5B"/>
                </a:solidFill>
                <a:latin typeface="Calibri"/>
              </a:rP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74519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2E7D5B"/>
                </a:solidFill>
                <a:latin typeface="Calibri"/>
              </a:rPr>
              <a:t>▪  </a:t>
            </a:r>
            <a:r>
              <a:rPr sz="1800" b="1">
                <a:solidFill>
                  <a:srgbClr val="2D2D2D"/>
                </a:solidFill>
                <a:latin typeface="Calibri"/>
              </a:rPr>
              <a:t>UEBA:</a:t>
            </a:r>
            <a:r>
              <a:rPr sz="1800">
                <a:solidFill>
                  <a:srgbClr val="2D2D2D"/>
                </a:solidFill>
                <a:latin typeface="Calibri"/>
              </a:rPr>
              <a:t> entity-level behaviour analytics across alerts.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2E7D5B"/>
                </a:solidFill>
                <a:latin typeface="Calibri"/>
              </a:rPr>
              <a:t>▪  </a:t>
            </a:r>
            <a:r>
              <a:rPr sz="1800" b="1">
                <a:solidFill>
                  <a:srgbClr val="2D2D2D"/>
                </a:solidFill>
                <a:latin typeface="Calibri"/>
              </a:rPr>
              <a:t>Baseline:</a:t>
            </a:r>
            <a:r>
              <a:rPr sz="1800">
                <a:solidFill>
                  <a:srgbClr val="2D2D2D"/>
                </a:solidFill>
                <a:latin typeface="Calibri"/>
              </a:rPr>
              <a:t> supervised comparison on hand-labelled data.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2E7D5B"/>
                </a:solidFill>
                <a:latin typeface="Calibri"/>
              </a:rPr>
              <a:t>▪  </a:t>
            </a:r>
            <a:r>
              <a:rPr sz="1800" b="1">
                <a:solidFill>
                  <a:srgbClr val="2D2D2D"/>
                </a:solidFill>
                <a:latin typeface="Calibri"/>
              </a:rPr>
              <a:t>Retrieval:</a:t>
            </a:r>
            <a:r>
              <a:rPr sz="1800">
                <a:solidFill>
                  <a:srgbClr val="2D2D2D"/>
                </a:solidFill>
                <a:latin typeface="Calibri"/>
              </a:rPr>
              <a:t> domain-tuned re-ranker for MITRE technique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5257800"/>
            <a:ext cx="7772400" cy="566928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6C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7A5200"/>
                </a:solidFill>
                <a:latin typeface="Calibri"/>
              </a:rPr>
              <a:t>Honest limits: ~2,200 training alerts · per-alert scoring · local-LLM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E75B6"/>
                </a:solidFill>
                <a:latin typeface="Calibri"/>
              </a:rPr>
              <a:t>github.com/Diana-Secarea/advanced-ai-siem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0" i="0">
                <a:solidFill>
                  <a:srgbClr val="A0BBDD"/>
                </a:solidFill>
                <a:latin typeface="Calibri"/>
              </a:rPr>
              <a:t>real attack  →  live detection  →  grounded, cited 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93208" y="3703320"/>
            <a:ext cx="201168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A0BBDD"/>
                </a:solidFill>
                <a:latin typeface="Calibri"/>
              </a:rPr>
              <a:t>Secărea Diana Maria  ·  diana.secarea1111@gmail.com</a:t>
            </a:r>
          </a:p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A0BBDD"/>
                </a:solidFill>
                <a:latin typeface="Calibri"/>
              </a:rPr>
              <a:t>github.com/Diana-Secarea/advanced-ai-siem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